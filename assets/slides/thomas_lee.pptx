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1" r:id="rId1"/>
    <p:sldMasterId id="2147483688" r:id="rId2"/>
  </p:sldMasterIdLst>
  <p:notesMasterIdLst>
    <p:notesMasterId r:id="rId15"/>
  </p:notesMasterIdLst>
  <p:handoutMasterIdLst>
    <p:handoutMasterId r:id="rId16"/>
  </p:handoutMasterIdLst>
  <p:sldIdLst>
    <p:sldId id="419" r:id="rId3"/>
    <p:sldId id="439" r:id="rId4"/>
    <p:sldId id="440" r:id="rId5"/>
    <p:sldId id="441" r:id="rId6"/>
    <p:sldId id="446" r:id="rId7"/>
    <p:sldId id="445" r:id="rId8"/>
    <p:sldId id="442" r:id="rId9"/>
    <p:sldId id="444" r:id="rId10"/>
    <p:sldId id="448" r:id="rId11"/>
    <p:sldId id="334" r:id="rId12"/>
    <p:sldId id="447" r:id="rId13"/>
    <p:sldId id="329" r:id="rId14"/>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ndall Field" initials="RF" lastIdx="24" clrIdx="0">
    <p:extLst>
      <p:ext uri="{19B8F6BF-5375-455C-9EA6-DF929625EA0E}">
        <p15:presenceInfo xmlns:p15="http://schemas.microsoft.com/office/powerpoint/2012/main" userId="S-1-5-21-1546182960-2953465968-2884207655-10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ED7D31"/>
    <a:srgbClr val="E6E6E6"/>
    <a:srgbClr val="FFF2CC"/>
    <a:srgbClr val="99FF66"/>
    <a:srgbClr val="FFE699"/>
    <a:srgbClr val="DEEBF7"/>
    <a:srgbClr val="172C51"/>
    <a:srgbClr val="E8E8E8"/>
    <a:srgbClr val="43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50" autoAdjust="0"/>
    <p:restoredTop sz="83882" autoAdjust="0"/>
  </p:normalViewPr>
  <p:slideViewPr>
    <p:cSldViewPr snapToGrid="0" snapToObjects="1">
      <p:cViewPr>
        <p:scale>
          <a:sx n="75" d="100"/>
          <a:sy n="75" d="100"/>
        </p:scale>
        <p:origin x="576" y="43"/>
      </p:cViewPr>
      <p:guideLst/>
    </p:cSldViewPr>
  </p:slideViewPr>
  <p:notesTextViewPr>
    <p:cViewPr>
      <p:scale>
        <a:sx n="1" d="1"/>
        <a:sy n="1" d="1"/>
      </p:scale>
      <p:origin x="0" y="0"/>
    </p:cViewPr>
  </p:notesTextViewPr>
  <p:sorterViewPr>
    <p:cViewPr>
      <p:scale>
        <a:sx n="100" d="100"/>
        <a:sy n="100" d="100"/>
      </p:scale>
      <p:origin x="0" y="-2707"/>
    </p:cViewPr>
  </p:sorterViewPr>
  <p:notesViewPr>
    <p:cSldViewPr snapToGrid="0" snapToObjects="1">
      <p:cViewPr varScale="1">
        <p:scale>
          <a:sx n="96" d="100"/>
          <a:sy n="96" d="100"/>
        </p:scale>
        <p:origin x="3688"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54177E-4A93-824B-AEE4-083A1A507E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B9E048F-BA84-6A41-86C2-A80E9236BA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C02F85-00DE-614B-8E54-1CE5897190FB}" type="datetimeFigureOut">
              <a:rPr lang="en-US" smtClean="0"/>
              <a:t>9/10/2026</a:t>
            </a:fld>
            <a:endParaRPr lang="en-US"/>
          </a:p>
        </p:txBody>
      </p:sp>
      <p:sp>
        <p:nvSpPr>
          <p:cNvPr id="4" name="Footer Placeholder 3">
            <a:extLst>
              <a:ext uri="{FF2B5EF4-FFF2-40B4-BE49-F238E27FC236}">
                <a16:creationId xmlns:a16="http://schemas.microsoft.com/office/drawing/2014/main" id="{1B791A66-0FA9-154E-A87E-D52F32F44C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321D522-B7BD-8A42-962A-4608D51CB9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714521-C967-AD4A-8DC7-3275A8188B9E}" type="slidenum">
              <a:rPr lang="en-US" smtClean="0"/>
              <a:t>‹#›</a:t>
            </a:fld>
            <a:endParaRPr lang="en-US"/>
          </a:p>
        </p:txBody>
      </p:sp>
    </p:spTree>
    <p:extLst>
      <p:ext uri="{BB962C8B-B14F-4D97-AF65-F5344CB8AC3E}">
        <p14:creationId xmlns:p14="http://schemas.microsoft.com/office/powerpoint/2010/main" val="22058042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95B75A-DED3-A543-970F-212A1A336242}"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91B2F5-3BCC-F14F-B21A-1FF46899AB94}" type="slidenum">
              <a:rPr lang="en-US" smtClean="0"/>
              <a:t>‹#›</a:t>
            </a:fld>
            <a:endParaRPr lang="en-US"/>
          </a:p>
        </p:txBody>
      </p:sp>
    </p:spTree>
    <p:extLst>
      <p:ext uri="{BB962C8B-B14F-4D97-AF65-F5344CB8AC3E}">
        <p14:creationId xmlns:p14="http://schemas.microsoft.com/office/powerpoint/2010/main" val="1160190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91B2F5-3BCC-F14F-B21A-1FF46899AB94}" type="slidenum">
              <a:rPr lang="en-US" smtClean="0"/>
              <a:t>2</a:t>
            </a:fld>
            <a:endParaRPr lang="en-US"/>
          </a:p>
        </p:txBody>
      </p:sp>
    </p:spTree>
    <p:extLst>
      <p:ext uri="{BB962C8B-B14F-4D97-AF65-F5344CB8AC3E}">
        <p14:creationId xmlns:p14="http://schemas.microsoft.com/office/powerpoint/2010/main" val="1594513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91B2F5-3BCC-F14F-B21A-1FF46899AB94}" type="slidenum">
              <a:rPr lang="en-US" smtClean="0"/>
              <a:t>4</a:t>
            </a:fld>
            <a:endParaRPr lang="en-US"/>
          </a:p>
        </p:txBody>
      </p:sp>
    </p:spTree>
    <p:extLst>
      <p:ext uri="{BB962C8B-B14F-4D97-AF65-F5344CB8AC3E}">
        <p14:creationId xmlns:p14="http://schemas.microsoft.com/office/powerpoint/2010/main" val="1891046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CC41-9B09-5BF9-7C91-88FFC0441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D1C9C-D508-FE8C-6331-A22EB99D5E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49E759-58D3-544E-43A9-76C9C50E46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44D943-6CBD-A337-F701-BA9338F20AE3}"/>
              </a:ext>
            </a:extLst>
          </p:cNvPr>
          <p:cNvSpPr>
            <a:spLocks noGrp="1"/>
          </p:cNvSpPr>
          <p:nvPr>
            <p:ph type="sldNum" sz="quarter" idx="5"/>
          </p:nvPr>
        </p:nvSpPr>
        <p:spPr/>
        <p:txBody>
          <a:bodyPr/>
          <a:lstStyle/>
          <a:p>
            <a:fld id="{1C91B2F5-3BCC-F14F-B21A-1FF46899AB94}" type="slidenum">
              <a:rPr lang="en-US" smtClean="0"/>
              <a:t>5</a:t>
            </a:fld>
            <a:endParaRPr lang="en-US"/>
          </a:p>
        </p:txBody>
      </p:sp>
    </p:spTree>
    <p:extLst>
      <p:ext uri="{BB962C8B-B14F-4D97-AF65-F5344CB8AC3E}">
        <p14:creationId xmlns:p14="http://schemas.microsoft.com/office/powerpoint/2010/main" val="1662374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EF32-F443-73A9-1988-0CBA064A6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2FFC1-F813-B3DC-96CC-6DDD83970F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8F8FCE-8B7F-2B8E-5E4C-DAFD5EA628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DD5AD6-99A7-F375-A8B0-0E333E555A4A}"/>
              </a:ext>
            </a:extLst>
          </p:cNvPr>
          <p:cNvSpPr>
            <a:spLocks noGrp="1"/>
          </p:cNvSpPr>
          <p:nvPr>
            <p:ph type="sldNum" sz="quarter" idx="5"/>
          </p:nvPr>
        </p:nvSpPr>
        <p:spPr/>
        <p:txBody>
          <a:bodyPr/>
          <a:lstStyle/>
          <a:p>
            <a:fld id="{1C91B2F5-3BCC-F14F-B21A-1FF46899AB94}" type="slidenum">
              <a:rPr lang="en-US" smtClean="0"/>
              <a:t>6</a:t>
            </a:fld>
            <a:endParaRPr lang="en-US"/>
          </a:p>
        </p:txBody>
      </p:sp>
    </p:spTree>
    <p:extLst>
      <p:ext uri="{BB962C8B-B14F-4D97-AF65-F5344CB8AC3E}">
        <p14:creationId xmlns:p14="http://schemas.microsoft.com/office/powerpoint/2010/main" val="1336259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91B2F5-3BCC-F14F-B21A-1FF46899AB94}" type="slidenum">
              <a:rPr lang="en-US" smtClean="0"/>
              <a:t>8</a:t>
            </a:fld>
            <a:endParaRPr lang="en-US"/>
          </a:p>
        </p:txBody>
      </p:sp>
    </p:spTree>
    <p:extLst>
      <p:ext uri="{BB962C8B-B14F-4D97-AF65-F5344CB8AC3E}">
        <p14:creationId xmlns:p14="http://schemas.microsoft.com/office/powerpoint/2010/main" val="2128187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91B2F5-3BCC-F14F-B21A-1FF46899AB94}" type="slidenum">
              <a:rPr lang="en-US" smtClean="0"/>
              <a:t>9</a:t>
            </a:fld>
            <a:endParaRPr lang="en-US"/>
          </a:p>
        </p:txBody>
      </p:sp>
    </p:spTree>
    <p:extLst>
      <p:ext uri="{BB962C8B-B14F-4D97-AF65-F5344CB8AC3E}">
        <p14:creationId xmlns:p14="http://schemas.microsoft.com/office/powerpoint/2010/main" val="1415697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9CE3F-5781-8ED1-8062-639845089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55B5D-A1C9-4B41-85C3-7A52E5E0F7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3101C7-A7D2-F597-22B4-AE7E13BF4E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E138C-6E8E-76FB-2961-D57DAF197E3F}"/>
              </a:ext>
            </a:extLst>
          </p:cNvPr>
          <p:cNvSpPr>
            <a:spLocks noGrp="1"/>
          </p:cNvSpPr>
          <p:nvPr>
            <p:ph type="sldNum" sz="quarter" idx="5"/>
          </p:nvPr>
        </p:nvSpPr>
        <p:spPr/>
        <p:txBody>
          <a:bodyPr/>
          <a:lstStyle/>
          <a:p>
            <a:fld id="{AFDFC1A8-DB4E-4054-BAE9-CE3F6F89F0C8}" type="slidenum">
              <a:rPr lang="en-US" smtClean="0"/>
              <a:t>10</a:t>
            </a:fld>
            <a:endParaRPr lang="en-US"/>
          </a:p>
        </p:txBody>
      </p:sp>
    </p:spTree>
    <p:extLst>
      <p:ext uri="{BB962C8B-B14F-4D97-AF65-F5344CB8AC3E}">
        <p14:creationId xmlns:p14="http://schemas.microsoft.com/office/powerpoint/2010/main" val="6103690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Master" Target="../slideMasters/slideMaster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33659" y="6412357"/>
            <a:ext cx="517324" cy="274339"/>
          </a:xfrm>
          <a:prstGeom prst="rect">
            <a:avLst/>
          </a:prstGeom>
        </p:spPr>
      </p:pic>
      <p:sp>
        <p:nvSpPr>
          <p:cNvPr id="8" name="Title 1">
            <a:extLst>
              <a:ext uri="{FF2B5EF4-FFF2-40B4-BE49-F238E27FC236}">
                <a16:creationId xmlns:a16="http://schemas.microsoft.com/office/drawing/2014/main" id="{01F72B5E-0845-3142-9DB1-10D6647B35DB}"/>
              </a:ext>
            </a:extLst>
          </p:cNvPr>
          <p:cNvSpPr>
            <a:spLocks noGrp="1"/>
          </p:cNvSpPr>
          <p:nvPr>
            <p:ph type="title"/>
          </p:nvPr>
        </p:nvSpPr>
        <p:spPr>
          <a:xfrm>
            <a:off x="457200" y="201743"/>
            <a:ext cx="11304270" cy="404545"/>
          </a:xfrm>
          <a:prstGeom prst="rect">
            <a:avLst/>
          </a:prstGeom>
        </p:spPr>
        <p:txBody>
          <a:bodyPr>
            <a:noAutofit/>
          </a:bodyPr>
          <a:lstStyle>
            <a:lvl1pPr>
              <a:defRPr sz="2400" b="1" cap="none" baseline="0">
                <a:solidFill>
                  <a:schemeClr val="tx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5A0AFFB8-6576-8A4C-9783-9DD157F532DD}"/>
              </a:ext>
            </a:extLst>
          </p:cNvPr>
          <p:cNvSpPr>
            <a:spLocks noGrp="1"/>
          </p:cNvSpPr>
          <p:nvPr>
            <p:ph idx="1"/>
          </p:nvPr>
        </p:nvSpPr>
        <p:spPr>
          <a:xfrm>
            <a:off x="457199" y="1143000"/>
            <a:ext cx="11304270" cy="4737100"/>
          </a:xfrm>
          <a:prstGeom prst="rect">
            <a:avLst/>
          </a:prstGeo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C2B3907A-5EEF-A34F-A26B-8198F8900922}"/>
              </a:ext>
            </a:extLst>
          </p:cNvPr>
          <p:cNvSpPr>
            <a:spLocks noGrp="1"/>
          </p:cNvSpPr>
          <p:nvPr>
            <p:ph type="body" sz="quarter" idx="10" hasCustomPrompt="1"/>
          </p:nvPr>
        </p:nvSpPr>
        <p:spPr>
          <a:xfrm>
            <a:off x="1280160" y="6411595"/>
            <a:ext cx="9153612" cy="331912"/>
          </a:xfrm>
          <a:prstGeom prst="rect">
            <a:avLst/>
          </a:prstGeom>
        </p:spPr>
        <p:txBody>
          <a:bodyPr anchor="b" anchorCtr="0"/>
          <a:lstStyle>
            <a:lvl1pPr marL="0" indent="0">
              <a:buNone/>
              <a:defRPr sz="900">
                <a:solidFill>
                  <a:schemeClr val="bg1">
                    <a:lumMod val="50000"/>
                  </a:schemeClr>
                </a:solidFill>
              </a:defRPr>
            </a:lvl1pPr>
          </a:lstStyle>
          <a:p>
            <a:pPr lvl="0"/>
            <a:r>
              <a:rPr lang="en-US" dirty="0"/>
              <a:t>Sources</a:t>
            </a:r>
          </a:p>
        </p:txBody>
      </p:sp>
      <p:pic>
        <p:nvPicPr>
          <p:cNvPr id="12" name="Picture 11">
            <a:extLst>
              <a:ext uri="{FF2B5EF4-FFF2-40B4-BE49-F238E27FC236}">
                <a16:creationId xmlns:a16="http://schemas.microsoft.com/office/drawing/2014/main" id="{FBFFFFA7-76B5-9643-8AEC-B52936E2DA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1415" y="6126163"/>
            <a:ext cx="1188720" cy="633013"/>
          </a:xfrm>
          <a:prstGeom prst="rect">
            <a:avLst/>
          </a:prstGeom>
        </p:spPr>
      </p:pic>
      <p:sp>
        <p:nvSpPr>
          <p:cNvPr id="13" name="TextBox 12">
            <a:extLst>
              <a:ext uri="{FF2B5EF4-FFF2-40B4-BE49-F238E27FC236}">
                <a16:creationId xmlns:a16="http://schemas.microsoft.com/office/drawing/2014/main" id="{D7F0CEF4-0158-9740-9B52-187D722D75A4}"/>
              </a:ext>
            </a:extLst>
          </p:cNvPr>
          <p:cNvSpPr txBox="1"/>
          <p:nvPr userDrawn="1"/>
        </p:nvSpPr>
        <p:spPr>
          <a:xfrm>
            <a:off x="10479024" y="6518910"/>
            <a:ext cx="939800" cy="230832"/>
          </a:xfrm>
          <a:prstGeom prst="rect">
            <a:avLst/>
          </a:prstGeom>
          <a:noFill/>
        </p:spPr>
        <p:txBody>
          <a:bodyPr wrap="square" rtlCol="0" anchor="b" anchorCtr="0">
            <a:spAutoFit/>
          </a:bodyPr>
          <a:lstStyle/>
          <a:p>
            <a:pPr algn="r"/>
            <a:fld id="{F06FB3C0-A5EA-F449-A01C-F014E50C606E}" type="slidenum">
              <a:rPr lang="en-US" sz="900" smtClean="0">
                <a:solidFill>
                  <a:srgbClr val="7F7F7F"/>
                </a:solidFill>
              </a:rPr>
              <a:pPr algn="r"/>
              <a:t>‹#›</a:t>
            </a:fld>
            <a:endParaRPr lang="en-US" sz="900" dirty="0">
              <a:solidFill>
                <a:srgbClr val="7F7F7F"/>
              </a:solidFill>
            </a:endParaRPr>
          </a:p>
        </p:txBody>
      </p:sp>
    </p:spTree>
    <p:extLst>
      <p:ext uri="{BB962C8B-B14F-4D97-AF65-F5344CB8AC3E}">
        <p14:creationId xmlns:p14="http://schemas.microsoft.com/office/powerpoint/2010/main" val="287869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33659" y="6412357"/>
            <a:ext cx="517324" cy="274339"/>
          </a:xfrm>
          <a:prstGeom prst="rect">
            <a:avLst/>
          </a:prstGeom>
        </p:spPr>
      </p:pic>
      <p:sp>
        <p:nvSpPr>
          <p:cNvPr id="8" name="Title 1">
            <a:extLst>
              <a:ext uri="{FF2B5EF4-FFF2-40B4-BE49-F238E27FC236}">
                <a16:creationId xmlns:a16="http://schemas.microsoft.com/office/drawing/2014/main" id="{01F72B5E-0845-3142-9DB1-10D6647B35DB}"/>
              </a:ext>
            </a:extLst>
          </p:cNvPr>
          <p:cNvSpPr>
            <a:spLocks noGrp="1"/>
          </p:cNvSpPr>
          <p:nvPr>
            <p:ph type="title"/>
          </p:nvPr>
        </p:nvSpPr>
        <p:spPr>
          <a:xfrm>
            <a:off x="457200" y="201743"/>
            <a:ext cx="11304270" cy="404545"/>
          </a:xfrm>
          <a:prstGeom prst="rect">
            <a:avLst/>
          </a:prstGeom>
        </p:spPr>
        <p:txBody>
          <a:bodyPr>
            <a:noAutofit/>
          </a:bodyPr>
          <a:lstStyle>
            <a:lvl1pPr>
              <a:defRPr sz="2400" b="1" cap="none" baseline="0">
                <a:solidFill>
                  <a:schemeClr val="tx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5A0AFFB8-6576-8A4C-9783-9DD157F532DD}"/>
              </a:ext>
            </a:extLst>
          </p:cNvPr>
          <p:cNvSpPr>
            <a:spLocks noGrp="1"/>
          </p:cNvSpPr>
          <p:nvPr>
            <p:ph idx="1"/>
          </p:nvPr>
        </p:nvSpPr>
        <p:spPr>
          <a:xfrm>
            <a:off x="457199" y="1143000"/>
            <a:ext cx="11304270" cy="4737100"/>
          </a:xfrm>
          <a:prstGeom prst="rect">
            <a:avLst/>
          </a:prstGeo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C2B3907A-5EEF-A34F-A26B-8198F8900922}"/>
              </a:ext>
            </a:extLst>
          </p:cNvPr>
          <p:cNvSpPr>
            <a:spLocks noGrp="1"/>
          </p:cNvSpPr>
          <p:nvPr>
            <p:ph type="body" sz="quarter" idx="10" hasCustomPrompt="1"/>
          </p:nvPr>
        </p:nvSpPr>
        <p:spPr>
          <a:xfrm>
            <a:off x="1280160" y="6411595"/>
            <a:ext cx="9153612" cy="331912"/>
          </a:xfrm>
          <a:prstGeom prst="rect">
            <a:avLst/>
          </a:prstGeom>
        </p:spPr>
        <p:txBody>
          <a:bodyPr anchor="b" anchorCtr="0"/>
          <a:lstStyle>
            <a:lvl1pPr marL="0" indent="0">
              <a:buNone/>
              <a:defRPr sz="900">
                <a:solidFill>
                  <a:schemeClr val="bg1">
                    <a:lumMod val="50000"/>
                  </a:schemeClr>
                </a:solidFill>
              </a:defRPr>
            </a:lvl1pPr>
          </a:lstStyle>
          <a:p>
            <a:pPr lvl="0"/>
            <a:r>
              <a:rPr lang="en-US" dirty="0"/>
              <a:t>Sources</a:t>
            </a:r>
          </a:p>
        </p:txBody>
      </p:sp>
      <p:pic>
        <p:nvPicPr>
          <p:cNvPr id="12" name="Picture 11">
            <a:extLst>
              <a:ext uri="{FF2B5EF4-FFF2-40B4-BE49-F238E27FC236}">
                <a16:creationId xmlns:a16="http://schemas.microsoft.com/office/drawing/2014/main" id="{FBFFFFA7-76B5-9643-8AEC-B52936E2DA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1415" y="6126163"/>
            <a:ext cx="1188720" cy="633013"/>
          </a:xfrm>
          <a:prstGeom prst="rect">
            <a:avLst/>
          </a:prstGeom>
        </p:spPr>
      </p:pic>
      <p:sp>
        <p:nvSpPr>
          <p:cNvPr id="13" name="TextBox 12">
            <a:extLst>
              <a:ext uri="{FF2B5EF4-FFF2-40B4-BE49-F238E27FC236}">
                <a16:creationId xmlns:a16="http://schemas.microsoft.com/office/drawing/2014/main" id="{D7F0CEF4-0158-9740-9B52-187D722D75A4}"/>
              </a:ext>
            </a:extLst>
          </p:cNvPr>
          <p:cNvSpPr txBox="1"/>
          <p:nvPr userDrawn="1"/>
        </p:nvSpPr>
        <p:spPr>
          <a:xfrm>
            <a:off x="10479024" y="6518910"/>
            <a:ext cx="939800" cy="230832"/>
          </a:xfrm>
          <a:prstGeom prst="rect">
            <a:avLst/>
          </a:prstGeom>
          <a:noFill/>
        </p:spPr>
        <p:txBody>
          <a:bodyPr wrap="square" rtlCol="0" anchor="b" anchorCtr="0">
            <a:spAutoFit/>
          </a:bodyPr>
          <a:lstStyle/>
          <a:p>
            <a:pPr algn="r"/>
            <a:fld id="{F06FB3C0-A5EA-F449-A01C-F014E50C606E}" type="slidenum">
              <a:rPr lang="en-US" sz="900" smtClean="0">
                <a:solidFill>
                  <a:srgbClr val="7F7F7F"/>
                </a:solidFill>
              </a:rPr>
              <a:pPr algn="r"/>
              <a:t>‹#›</a:t>
            </a:fld>
            <a:endParaRPr lang="en-US" sz="900" dirty="0">
              <a:solidFill>
                <a:srgbClr val="7F7F7F"/>
              </a:solidFill>
            </a:endParaRPr>
          </a:p>
        </p:txBody>
      </p:sp>
    </p:spTree>
    <p:extLst>
      <p:ext uri="{BB962C8B-B14F-4D97-AF65-F5344CB8AC3E}">
        <p14:creationId xmlns:p14="http://schemas.microsoft.com/office/powerpoint/2010/main" val="3461862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44B2321-BBCF-4EE1-BC6B-1D4469F62351}"/>
              </a:ext>
            </a:extLst>
          </p:cNvPr>
          <p:cNvSpPr>
            <a:spLocks noGrp="1"/>
          </p:cNvSpPr>
          <p:nvPr>
            <p:ph type="dt" sz="half" idx="10"/>
          </p:nvPr>
        </p:nvSpPr>
        <p:spPr/>
        <p:txBody>
          <a:bodyPr/>
          <a:lstStyle/>
          <a:p>
            <a:fld id="{66F95311-533F-458A-B5A5-EFA24F3542F3}" type="datetime1">
              <a:rPr lang="en-US" smtClean="0"/>
              <a:t>9/10/2026</a:t>
            </a:fld>
            <a:endParaRPr lang="en-US" dirty="0"/>
          </a:p>
        </p:txBody>
      </p:sp>
      <p:sp>
        <p:nvSpPr>
          <p:cNvPr id="5" name="Footer Placeholder 4">
            <a:extLst>
              <a:ext uri="{FF2B5EF4-FFF2-40B4-BE49-F238E27FC236}">
                <a16:creationId xmlns:a16="http://schemas.microsoft.com/office/drawing/2014/main" id="{AC975584-9D77-4B85-93C1-3E2599F727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DDEE29-A2A3-41F0-8078-8B2D439C0ACA}"/>
              </a:ext>
            </a:extLst>
          </p:cNvPr>
          <p:cNvSpPr>
            <a:spLocks noGrp="1"/>
          </p:cNvSpPr>
          <p:nvPr>
            <p:ph type="sldNum" sz="quarter" idx="12"/>
          </p:nvPr>
        </p:nvSpPr>
        <p:spPr/>
        <p:txBody>
          <a:bodyPr/>
          <a:lstStyle/>
          <a:p>
            <a:fld id="{4EDB0E62-2E6A-4D80-A426-E94CA1197D32}" type="slidenum">
              <a:rPr lang="en-US" smtClean="0"/>
              <a:t>‹#›</a:t>
            </a:fld>
            <a:endParaRPr lang="en-US" dirty="0"/>
          </a:p>
        </p:txBody>
      </p:sp>
      <p:sp>
        <p:nvSpPr>
          <p:cNvPr id="7" name="Rectangle 6">
            <a:extLst>
              <a:ext uri="{FF2B5EF4-FFF2-40B4-BE49-F238E27FC236}">
                <a16:creationId xmlns:a16="http://schemas.microsoft.com/office/drawing/2014/main" id="{1D43753A-F1C8-448F-A549-B1EB104BA72D}"/>
              </a:ext>
            </a:extLst>
          </p:cNvPr>
          <p:cNvSpPr/>
          <p:nvPr userDrawn="1"/>
        </p:nvSpPr>
        <p:spPr>
          <a:xfrm>
            <a:off x="-2" y="6356350"/>
            <a:ext cx="12192002" cy="5016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0CE1F29-F077-4AB5-B9D5-EE3E0C4D1B97}"/>
              </a:ext>
            </a:extLst>
          </p:cNvPr>
          <p:cNvSpPr/>
          <p:nvPr userDrawn="1"/>
        </p:nvSpPr>
        <p:spPr>
          <a:xfrm>
            <a:off x="125913" y="-2555"/>
            <a:ext cx="6582383" cy="17587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7937F0ED-B2FA-4086-8113-9ACBECF522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5913" y="6353719"/>
            <a:ext cx="802491" cy="427340"/>
          </a:xfrm>
          <a:prstGeom prst="rect">
            <a:avLst/>
          </a:prstGeom>
        </p:spPr>
      </p:pic>
      <p:pic>
        <p:nvPicPr>
          <p:cNvPr id="16" name="Picture 15">
            <a:extLst>
              <a:ext uri="{FF2B5EF4-FFF2-40B4-BE49-F238E27FC236}">
                <a16:creationId xmlns:a16="http://schemas.microsoft.com/office/drawing/2014/main" id="{064E4523-D5F5-4263-B967-D619436A09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52400" y="6471014"/>
            <a:ext cx="513687" cy="271227"/>
          </a:xfrm>
          <a:prstGeom prst="rect">
            <a:avLst/>
          </a:prstGeom>
        </p:spPr>
      </p:pic>
    </p:spTree>
    <p:extLst>
      <p:ext uri="{BB962C8B-B14F-4D97-AF65-F5344CB8AC3E}">
        <p14:creationId xmlns:p14="http://schemas.microsoft.com/office/powerpoint/2010/main" val="3881974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44B2321-BBCF-4EE1-BC6B-1D4469F62351}"/>
              </a:ext>
            </a:extLst>
          </p:cNvPr>
          <p:cNvSpPr>
            <a:spLocks noGrp="1"/>
          </p:cNvSpPr>
          <p:nvPr>
            <p:ph type="dt" sz="half" idx="10"/>
          </p:nvPr>
        </p:nvSpPr>
        <p:spPr/>
        <p:txBody>
          <a:bodyPr/>
          <a:lstStyle/>
          <a:p>
            <a:fld id="{A62FF6D4-7196-40AB-8746-9F767CA76F07}" type="datetime1">
              <a:rPr lang="en-US" smtClean="0"/>
              <a:t>9/10/2026</a:t>
            </a:fld>
            <a:endParaRPr lang="en-US" dirty="0"/>
          </a:p>
        </p:txBody>
      </p:sp>
      <p:sp>
        <p:nvSpPr>
          <p:cNvPr id="5" name="Footer Placeholder 4">
            <a:extLst>
              <a:ext uri="{FF2B5EF4-FFF2-40B4-BE49-F238E27FC236}">
                <a16:creationId xmlns:a16="http://schemas.microsoft.com/office/drawing/2014/main" id="{AC975584-9D77-4B85-93C1-3E2599F727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DDEE29-A2A3-41F0-8078-8B2D439C0ACA}"/>
              </a:ext>
            </a:extLst>
          </p:cNvPr>
          <p:cNvSpPr>
            <a:spLocks noGrp="1"/>
          </p:cNvSpPr>
          <p:nvPr>
            <p:ph type="sldNum" sz="quarter" idx="12"/>
          </p:nvPr>
        </p:nvSpPr>
        <p:spPr/>
        <p:txBody>
          <a:bodyPr/>
          <a:lstStyle/>
          <a:p>
            <a:fld id="{4EDB0E62-2E6A-4D80-A426-E94CA1197D32}" type="slidenum">
              <a:rPr lang="en-US" smtClean="0"/>
              <a:t>‹#›</a:t>
            </a:fld>
            <a:endParaRPr lang="en-US" dirty="0"/>
          </a:p>
        </p:txBody>
      </p:sp>
      <p:sp>
        <p:nvSpPr>
          <p:cNvPr id="7" name="Rectangle 6">
            <a:extLst>
              <a:ext uri="{FF2B5EF4-FFF2-40B4-BE49-F238E27FC236}">
                <a16:creationId xmlns:a16="http://schemas.microsoft.com/office/drawing/2014/main" id="{1D43753A-F1C8-448F-A549-B1EB104BA72D}"/>
              </a:ext>
            </a:extLst>
          </p:cNvPr>
          <p:cNvSpPr/>
          <p:nvPr userDrawn="1"/>
        </p:nvSpPr>
        <p:spPr>
          <a:xfrm>
            <a:off x="-2" y="6371170"/>
            <a:ext cx="12192002" cy="486829"/>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0CE1F29-F077-4AB5-B9D5-EE3E0C4D1B97}"/>
              </a:ext>
            </a:extLst>
          </p:cNvPr>
          <p:cNvSpPr/>
          <p:nvPr userDrawn="1"/>
        </p:nvSpPr>
        <p:spPr>
          <a:xfrm>
            <a:off x="125913" y="-2555"/>
            <a:ext cx="6582383" cy="17587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4F57297-E2BE-4DC1-8586-139CD9503882}"/>
              </a:ext>
            </a:extLst>
          </p:cNvPr>
          <p:cNvSpPr/>
          <p:nvPr userDrawn="1"/>
        </p:nvSpPr>
        <p:spPr>
          <a:xfrm>
            <a:off x="1542105" y="188508"/>
            <a:ext cx="10775808" cy="923330"/>
          </a:xfrm>
          <a:prstGeom prst="rect">
            <a:avLst/>
          </a:prstGeom>
        </p:spPr>
        <p:txBody>
          <a:bodyPr wrap="square">
            <a:spAutoFit/>
          </a:bodyPr>
          <a:lstStyle/>
          <a:p>
            <a:r>
              <a:rPr lang="en-US" sz="5400" dirty="0">
                <a:solidFill>
                  <a:srgbClr val="F6901E"/>
                </a:solidFill>
              </a:rPr>
              <a:t>Center Leads: Transportation</a:t>
            </a:r>
          </a:p>
        </p:txBody>
      </p:sp>
      <p:pic>
        <p:nvPicPr>
          <p:cNvPr id="15" name="Picture 14">
            <a:extLst>
              <a:ext uri="{FF2B5EF4-FFF2-40B4-BE49-F238E27FC236}">
                <a16:creationId xmlns:a16="http://schemas.microsoft.com/office/drawing/2014/main" id="{7937F0ED-B2FA-4086-8113-9ACBECF522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5913" y="6353719"/>
            <a:ext cx="802491" cy="427340"/>
          </a:xfrm>
          <a:prstGeom prst="rect">
            <a:avLst/>
          </a:prstGeom>
        </p:spPr>
      </p:pic>
      <p:pic>
        <p:nvPicPr>
          <p:cNvPr id="16" name="Picture 15">
            <a:extLst>
              <a:ext uri="{FF2B5EF4-FFF2-40B4-BE49-F238E27FC236}">
                <a16:creationId xmlns:a16="http://schemas.microsoft.com/office/drawing/2014/main" id="{064E4523-D5F5-4263-B967-D619436A09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52400" y="6471014"/>
            <a:ext cx="513687" cy="271227"/>
          </a:xfrm>
          <a:prstGeom prst="rect">
            <a:avLst/>
          </a:prstGeom>
        </p:spPr>
      </p:pic>
      <p:pic>
        <p:nvPicPr>
          <p:cNvPr id="17" name="Picture 16">
            <a:extLst>
              <a:ext uri="{FF2B5EF4-FFF2-40B4-BE49-F238E27FC236}">
                <a16:creationId xmlns:a16="http://schemas.microsoft.com/office/drawing/2014/main" id="{F834F374-EB03-4B0C-A41B-C7F1040DEDE3}"/>
              </a:ext>
            </a:extLst>
          </p:cNvPr>
          <p:cNvPicPr>
            <a:picLocks noChangeAspect="1"/>
          </p:cNvPicPr>
          <p:nvPr userDrawn="1"/>
        </p:nvPicPr>
        <p:blipFill>
          <a:blip r:embed="rId4"/>
          <a:stretch>
            <a:fillRect/>
          </a:stretch>
        </p:blipFill>
        <p:spPr>
          <a:xfrm>
            <a:off x="293326" y="280811"/>
            <a:ext cx="1012960" cy="1012960"/>
          </a:xfrm>
          <a:prstGeom prst="rect">
            <a:avLst/>
          </a:prstGeom>
        </p:spPr>
      </p:pic>
      <p:sp>
        <p:nvSpPr>
          <p:cNvPr id="18" name="TextBox 17">
            <a:extLst>
              <a:ext uri="{FF2B5EF4-FFF2-40B4-BE49-F238E27FC236}">
                <a16:creationId xmlns:a16="http://schemas.microsoft.com/office/drawing/2014/main" id="{444CAA91-82CD-43E7-9E6A-C1005F3BAE06}"/>
              </a:ext>
            </a:extLst>
          </p:cNvPr>
          <p:cNvSpPr txBox="1"/>
          <p:nvPr userDrawn="1"/>
        </p:nvSpPr>
        <p:spPr>
          <a:xfrm>
            <a:off x="1708897" y="1404593"/>
            <a:ext cx="4259870" cy="3170099"/>
          </a:xfrm>
          <a:prstGeom prst="rect">
            <a:avLst/>
          </a:prstGeom>
          <a:noFill/>
        </p:spPr>
        <p:txBody>
          <a:bodyPr wrap="square" rtlCol="0">
            <a:spAutoFit/>
          </a:bodyPr>
          <a:lstStyle/>
          <a:p>
            <a:r>
              <a:rPr lang="en-US" sz="1600" b="1" dirty="0"/>
              <a:t>Florian Allroggen</a:t>
            </a:r>
          </a:p>
          <a:p>
            <a:r>
              <a:rPr lang="en-US" sz="1600" dirty="0"/>
              <a:t>Research Scientist, </a:t>
            </a:r>
          </a:p>
          <a:p>
            <a:r>
              <a:rPr lang="en-US" sz="1600" dirty="0"/>
              <a:t>MIT Department of Aeronautics and Astronautics</a:t>
            </a:r>
          </a:p>
          <a:p>
            <a:endParaRPr lang="en-US" sz="1600" b="1" dirty="0"/>
          </a:p>
          <a:p>
            <a:endParaRPr lang="en-US" sz="1600" b="1" dirty="0"/>
          </a:p>
          <a:p>
            <a:r>
              <a:rPr lang="en-US" sz="1600" b="1" dirty="0"/>
              <a:t>Randall Field</a:t>
            </a:r>
          </a:p>
          <a:p>
            <a:r>
              <a:rPr lang="en-US" sz="1600" dirty="0"/>
              <a:t>Executive Director, </a:t>
            </a:r>
          </a:p>
          <a:p>
            <a:r>
              <a:rPr lang="en-US" sz="1600" dirty="0"/>
              <a:t>Future Energy Systems Center</a:t>
            </a:r>
          </a:p>
          <a:p>
            <a:endParaRPr lang="en-US" b="1" dirty="0"/>
          </a:p>
          <a:p>
            <a:endParaRPr lang="en-US" b="1" dirty="0"/>
          </a:p>
          <a:p>
            <a:endParaRPr lang="en-US" dirty="0"/>
          </a:p>
          <a:p>
            <a:endParaRPr lang="en-US" dirty="0"/>
          </a:p>
        </p:txBody>
      </p:sp>
      <p:pic>
        <p:nvPicPr>
          <p:cNvPr id="19" name="Picture 18">
            <a:extLst>
              <a:ext uri="{FF2B5EF4-FFF2-40B4-BE49-F238E27FC236}">
                <a16:creationId xmlns:a16="http://schemas.microsoft.com/office/drawing/2014/main" id="{FCC784B7-2E6F-4A70-802A-1A231874309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836" t="4259" r="1464" b="3384"/>
          <a:stretch/>
        </p:blipFill>
        <p:spPr>
          <a:xfrm>
            <a:off x="461173" y="3010619"/>
            <a:ext cx="1132956" cy="1143000"/>
          </a:xfrm>
          <a:prstGeom prst="rect">
            <a:avLst/>
          </a:prstGeom>
        </p:spPr>
      </p:pic>
      <p:sp>
        <p:nvSpPr>
          <p:cNvPr id="20" name="Rectangle 19">
            <a:extLst>
              <a:ext uri="{FF2B5EF4-FFF2-40B4-BE49-F238E27FC236}">
                <a16:creationId xmlns:a16="http://schemas.microsoft.com/office/drawing/2014/main" id="{A1DE60AA-E3AD-4059-997C-BD5FE6529509}"/>
              </a:ext>
            </a:extLst>
          </p:cNvPr>
          <p:cNvSpPr/>
          <p:nvPr userDrawn="1"/>
        </p:nvSpPr>
        <p:spPr>
          <a:xfrm>
            <a:off x="7340724" y="1404593"/>
            <a:ext cx="5008970" cy="4770537"/>
          </a:xfrm>
          <a:prstGeom prst="rect">
            <a:avLst/>
          </a:prstGeom>
        </p:spPr>
        <p:txBody>
          <a:bodyPr wrap="square">
            <a:spAutoFit/>
          </a:bodyPr>
          <a:lstStyle/>
          <a:p>
            <a:r>
              <a:rPr lang="en-US" sz="1600" b="1" dirty="0"/>
              <a:t>Steven Barrett</a:t>
            </a:r>
            <a:br>
              <a:rPr lang="en-US" sz="1600" b="1" dirty="0"/>
            </a:br>
            <a:r>
              <a:rPr lang="en-US" sz="1600" dirty="0"/>
              <a:t>Professor and Associate Department Head, </a:t>
            </a:r>
          </a:p>
          <a:p>
            <a:r>
              <a:rPr lang="en-US" sz="1600" dirty="0"/>
              <a:t>MIT Department of Aeronautics and Astronautics</a:t>
            </a:r>
          </a:p>
          <a:p>
            <a:endParaRPr lang="en-US" sz="1600" b="1" dirty="0"/>
          </a:p>
          <a:p>
            <a:br>
              <a:rPr lang="en-US" sz="1600" b="1" dirty="0"/>
            </a:br>
            <a:r>
              <a:rPr lang="en-US" sz="1600" b="1" dirty="0"/>
              <a:t>William H. Green </a:t>
            </a:r>
          </a:p>
          <a:p>
            <a:r>
              <a:rPr lang="en-US" sz="1600" dirty="0"/>
              <a:t>Hoyt C. Hottel Professor in Chemical Engineering,</a:t>
            </a:r>
          </a:p>
          <a:p>
            <a:r>
              <a:rPr lang="en-US" sz="1600" dirty="0"/>
              <a:t>MIT Department of Chemical Engineering</a:t>
            </a:r>
          </a:p>
          <a:p>
            <a:endParaRPr lang="en-US" sz="1600" b="1" dirty="0"/>
          </a:p>
          <a:p>
            <a:endParaRPr lang="en-US" sz="1600" b="1" dirty="0"/>
          </a:p>
          <a:p>
            <a:r>
              <a:rPr lang="en-US" sz="1600" b="1" dirty="0"/>
              <a:t>Kris Prather</a:t>
            </a:r>
          </a:p>
          <a:p>
            <a:r>
              <a:rPr lang="en-US" sz="1600" dirty="0"/>
              <a:t>Arthur D. Little Professor of Chemical Engineering, MIT Department of Chemical Engineering</a:t>
            </a:r>
          </a:p>
          <a:p>
            <a:endParaRPr lang="en-US" sz="1600" b="1" dirty="0"/>
          </a:p>
          <a:p>
            <a:endParaRPr lang="en-US" sz="1600" b="1" dirty="0"/>
          </a:p>
          <a:p>
            <a:r>
              <a:rPr lang="en-US" sz="1600" b="1" dirty="0"/>
              <a:t>Jinhua Zhao</a:t>
            </a:r>
          </a:p>
          <a:p>
            <a:r>
              <a:rPr lang="en-US" sz="1600" dirty="0"/>
              <a:t>Associate Professor, JTL Mobility lab and Transit Lab, </a:t>
            </a:r>
          </a:p>
          <a:p>
            <a:r>
              <a:rPr lang="en-US" sz="1600" dirty="0"/>
              <a:t>MIT Department of Urban Studies and Transportation Planning</a:t>
            </a:r>
          </a:p>
        </p:txBody>
      </p:sp>
      <p:sp>
        <p:nvSpPr>
          <p:cNvPr id="21" name="Rectangle 20">
            <a:extLst>
              <a:ext uri="{FF2B5EF4-FFF2-40B4-BE49-F238E27FC236}">
                <a16:creationId xmlns:a16="http://schemas.microsoft.com/office/drawing/2014/main" id="{DB723ADF-CF46-48B5-B455-6F8F8E5E14C5}"/>
              </a:ext>
            </a:extLst>
          </p:cNvPr>
          <p:cNvSpPr/>
          <p:nvPr userDrawn="1"/>
        </p:nvSpPr>
        <p:spPr>
          <a:xfrm>
            <a:off x="2536177" y="1028889"/>
            <a:ext cx="1045223" cy="369332"/>
          </a:xfrm>
          <a:prstGeom prst="rect">
            <a:avLst/>
          </a:prstGeom>
        </p:spPr>
        <p:txBody>
          <a:bodyPr wrap="none">
            <a:spAutoFit/>
          </a:bodyPr>
          <a:lstStyle/>
          <a:p>
            <a:r>
              <a:rPr lang="en-US" b="1" u="sng" dirty="0">
                <a:solidFill>
                  <a:srgbClr val="4472C4"/>
                </a:solidFill>
              </a:rPr>
              <a:t>Research</a:t>
            </a:r>
          </a:p>
        </p:txBody>
      </p:sp>
      <p:sp>
        <p:nvSpPr>
          <p:cNvPr id="22" name="Rectangle 21">
            <a:extLst>
              <a:ext uri="{FF2B5EF4-FFF2-40B4-BE49-F238E27FC236}">
                <a16:creationId xmlns:a16="http://schemas.microsoft.com/office/drawing/2014/main" id="{843F30A2-DC9A-4139-8C35-BBA641AE04FB}"/>
              </a:ext>
            </a:extLst>
          </p:cNvPr>
          <p:cNvSpPr/>
          <p:nvPr userDrawn="1"/>
        </p:nvSpPr>
        <p:spPr>
          <a:xfrm>
            <a:off x="8721305" y="1031716"/>
            <a:ext cx="862865" cy="369332"/>
          </a:xfrm>
          <a:prstGeom prst="rect">
            <a:avLst/>
          </a:prstGeom>
        </p:spPr>
        <p:txBody>
          <a:bodyPr wrap="none">
            <a:spAutoFit/>
          </a:bodyPr>
          <a:lstStyle/>
          <a:p>
            <a:r>
              <a:rPr lang="en-US" b="1" u="sng" dirty="0">
                <a:solidFill>
                  <a:srgbClr val="4472C4"/>
                </a:solidFill>
              </a:rPr>
              <a:t>Faculty</a:t>
            </a:r>
          </a:p>
        </p:txBody>
      </p:sp>
      <p:pic>
        <p:nvPicPr>
          <p:cNvPr id="23" name="Picture 22">
            <a:extLst>
              <a:ext uri="{FF2B5EF4-FFF2-40B4-BE49-F238E27FC236}">
                <a16:creationId xmlns:a16="http://schemas.microsoft.com/office/drawing/2014/main" id="{DCF25BED-6839-4C37-BA00-070E13F0676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0997" r="6245"/>
          <a:stretch/>
        </p:blipFill>
        <p:spPr>
          <a:xfrm>
            <a:off x="6139949" y="1466227"/>
            <a:ext cx="1136691" cy="1143000"/>
          </a:xfrm>
          <a:prstGeom prst="rect">
            <a:avLst/>
          </a:prstGeom>
        </p:spPr>
      </p:pic>
      <p:pic>
        <p:nvPicPr>
          <p:cNvPr id="24" name="Picture 23" descr="JZ3285s">
            <a:extLst>
              <a:ext uri="{FF2B5EF4-FFF2-40B4-BE49-F238E27FC236}">
                <a16:creationId xmlns:a16="http://schemas.microsoft.com/office/drawing/2014/main" id="{4D657BCE-6E30-4EFD-9CCF-4144C0BFCF12}"/>
              </a:ext>
            </a:extLst>
          </p:cNvPr>
          <p:cNvPicPr/>
          <p:nvPr userDrawn="1"/>
        </p:nvPicPr>
        <p:blipFill rotWithShape="1">
          <a:blip r:embed="rId7">
            <a:extLst>
              <a:ext uri="{28A0092B-C50C-407E-A947-70E740481C1C}">
                <a14:useLocalDpi xmlns:a14="http://schemas.microsoft.com/office/drawing/2010/main" val="0"/>
              </a:ext>
            </a:extLst>
          </a:blip>
          <a:srcRect l="20029" t="7848" r="20548" b="53621"/>
          <a:stretch/>
        </p:blipFill>
        <p:spPr bwMode="auto">
          <a:xfrm>
            <a:off x="6139950" y="5183616"/>
            <a:ext cx="1143000" cy="1143000"/>
          </a:xfrm>
          <a:prstGeom prst="rect">
            <a:avLst/>
          </a:prstGeom>
          <a:noFill/>
          <a:ln>
            <a:noFill/>
          </a:ln>
        </p:spPr>
      </p:pic>
      <p:pic>
        <p:nvPicPr>
          <p:cNvPr id="25" name="Picture 24">
            <a:extLst>
              <a:ext uri="{FF2B5EF4-FFF2-40B4-BE49-F238E27FC236}">
                <a16:creationId xmlns:a16="http://schemas.microsoft.com/office/drawing/2014/main" id="{7170DC60-5872-4876-9394-97FE15EB8DF5}"/>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76043" y="1491749"/>
            <a:ext cx="1161672" cy="1160704"/>
          </a:xfrm>
          <a:prstGeom prst="rect">
            <a:avLst/>
          </a:prstGeom>
        </p:spPr>
      </p:pic>
      <p:pic>
        <p:nvPicPr>
          <p:cNvPr id="26" name="Picture 25">
            <a:extLst>
              <a:ext uri="{FF2B5EF4-FFF2-40B4-BE49-F238E27FC236}">
                <a16:creationId xmlns:a16="http://schemas.microsoft.com/office/drawing/2014/main" id="{410BAB4D-3278-42A9-B723-EAAA29C51EA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0997" r="6245"/>
          <a:stretch/>
        </p:blipFill>
        <p:spPr>
          <a:xfrm>
            <a:off x="6139949" y="3952592"/>
            <a:ext cx="1136691" cy="1143000"/>
          </a:xfrm>
          <a:prstGeom prst="rect">
            <a:avLst/>
          </a:prstGeom>
        </p:spPr>
      </p:pic>
      <p:pic>
        <p:nvPicPr>
          <p:cNvPr id="27" name="Picture 26">
            <a:extLst>
              <a:ext uri="{FF2B5EF4-FFF2-40B4-BE49-F238E27FC236}">
                <a16:creationId xmlns:a16="http://schemas.microsoft.com/office/drawing/2014/main" id="{8B994768-EA26-483C-83DC-4F6CFD3DB58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0997" r="6245"/>
          <a:stretch/>
        </p:blipFill>
        <p:spPr>
          <a:xfrm>
            <a:off x="6146259" y="2713827"/>
            <a:ext cx="1136691" cy="1143000"/>
          </a:xfrm>
          <a:prstGeom prst="rect">
            <a:avLst/>
          </a:prstGeom>
        </p:spPr>
      </p:pic>
    </p:spTree>
    <p:extLst>
      <p:ext uri="{BB962C8B-B14F-4D97-AF65-F5344CB8AC3E}">
        <p14:creationId xmlns:p14="http://schemas.microsoft.com/office/powerpoint/2010/main" val="37396574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82389-46F3-4CB6-9E61-D8AA2315C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4A5705-8775-42AA-B367-C4F011199D3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6B6853-B322-4AA0-8FBE-1A7692334FB5}"/>
              </a:ext>
            </a:extLst>
          </p:cNvPr>
          <p:cNvSpPr>
            <a:spLocks noGrp="1"/>
          </p:cNvSpPr>
          <p:nvPr>
            <p:ph type="dt" sz="half" idx="10"/>
          </p:nvPr>
        </p:nvSpPr>
        <p:spPr/>
        <p:txBody>
          <a:bodyPr/>
          <a:lstStyle/>
          <a:p>
            <a:fld id="{CEC5CE65-A2AD-4378-A5EB-EDD15A61F94D}" type="datetime1">
              <a:rPr lang="en-US" smtClean="0"/>
              <a:t>9/10/2026</a:t>
            </a:fld>
            <a:endParaRPr lang="en-US" dirty="0"/>
          </a:p>
        </p:txBody>
      </p:sp>
      <p:sp>
        <p:nvSpPr>
          <p:cNvPr id="5" name="Footer Placeholder 4">
            <a:extLst>
              <a:ext uri="{FF2B5EF4-FFF2-40B4-BE49-F238E27FC236}">
                <a16:creationId xmlns:a16="http://schemas.microsoft.com/office/drawing/2014/main" id="{A83B62FD-856B-4AF8-BFF1-80093C3AE6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B3FA03-6E9A-4814-8B3F-27029B9F4D66}"/>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3795257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5080-BD2F-454C-BB72-6511B2D782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9A54B-51A0-4400-967A-A37C1EEC01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1C300D8-A23C-4A52-8A27-D281199A046B}"/>
              </a:ext>
            </a:extLst>
          </p:cNvPr>
          <p:cNvSpPr>
            <a:spLocks noGrp="1"/>
          </p:cNvSpPr>
          <p:nvPr>
            <p:ph type="dt" sz="half" idx="10"/>
          </p:nvPr>
        </p:nvSpPr>
        <p:spPr/>
        <p:txBody>
          <a:bodyPr/>
          <a:lstStyle/>
          <a:p>
            <a:fld id="{F06CB5D0-BF42-4290-B492-42316DB5B152}" type="datetime1">
              <a:rPr lang="en-US" smtClean="0"/>
              <a:t>9/10/2026</a:t>
            </a:fld>
            <a:endParaRPr lang="en-US" dirty="0"/>
          </a:p>
        </p:txBody>
      </p:sp>
      <p:sp>
        <p:nvSpPr>
          <p:cNvPr id="5" name="Footer Placeholder 4">
            <a:extLst>
              <a:ext uri="{FF2B5EF4-FFF2-40B4-BE49-F238E27FC236}">
                <a16:creationId xmlns:a16="http://schemas.microsoft.com/office/drawing/2014/main" id="{0E7A4852-39B9-4021-9F68-3082E8C880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5973661-4F53-4C54-A979-3FFC20982BBC}"/>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3291379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EA28C-9D30-43D0-9DD6-19E357FFEF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6DCC62-EF48-4DD4-88E1-8B049599F63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FA7677-4B4E-465A-95FB-C551422C0A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C9BB11-167B-4E47-BF48-A82757F3662E}"/>
              </a:ext>
            </a:extLst>
          </p:cNvPr>
          <p:cNvSpPr>
            <a:spLocks noGrp="1"/>
          </p:cNvSpPr>
          <p:nvPr>
            <p:ph type="dt" sz="half" idx="10"/>
          </p:nvPr>
        </p:nvSpPr>
        <p:spPr/>
        <p:txBody>
          <a:bodyPr/>
          <a:lstStyle/>
          <a:p>
            <a:fld id="{363CD5F7-5C03-474B-9D0B-AEA3982E7378}" type="datetime1">
              <a:rPr lang="en-US" smtClean="0"/>
              <a:t>9/10/2026</a:t>
            </a:fld>
            <a:endParaRPr lang="en-US" dirty="0"/>
          </a:p>
        </p:txBody>
      </p:sp>
      <p:sp>
        <p:nvSpPr>
          <p:cNvPr id="6" name="Footer Placeholder 5">
            <a:extLst>
              <a:ext uri="{FF2B5EF4-FFF2-40B4-BE49-F238E27FC236}">
                <a16:creationId xmlns:a16="http://schemas.microsoft.com/office/drawing/2014/main" id="{6B37CD07-6721-4D5B-93F9-495C42863C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99B4F4-B60B-499E-9E1C-E1598B743D5A}"/>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8160846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48FD-D886-4521-9395-4F9C7F6E9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F5485B-E0E6-4ADC-A773-E5B7E367B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BD7406D-7986-4E04-BAFC-E1B547ED964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6DFF48-8F2E-4807-B78A-F412673C0C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B7B0DF6-9BEF-4E3B-9A9C-1DCAF8A7B9F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93081-F32E-4763-ABA1-AB915F1B7493}"/>
              </a:ext>
            </a:extLst>
          </p:cNvPr>
          <p:cNvSpPr>
            <a:spLocks noGrp="1"/>
          </p:cNvSpPr>
          <p:nvPr>
            <p:ph type="dt" sz="half" idx="10"/>
          </p:nvPr>
        </p:nvSpPr>
        <p:spPr/>
        <p:txBody>
          <a:bodyPr/>
          <a:lstStyle/>
          <a:p>
            <a:fld id="{66F6DA76-00E6-4561-BAD6-4EC78C54E8D6}" type="datetime1">
              <a:rPr lang="en-US" smtClean="0"/>
              <a:t>9/10/2026</a:t>
            </a:fld>
            <a:endParaRPr lang="en-US" dirty="0"/>
          </a:p>
        </p:txBody>
      </p:sp>
      <p:sp>
        <p:nvSpPr>
          <p:cNvPr id="8" name="Footer Placeholder 7">
            <a:extLst>
              <a:ext uri="{FF2B5EF4-FFF2-40B4-BE49-F238E27FC236}">
                <a16:creationId xmlns:a16="http://schemas.microsoft.com/office/drawing/2014/main" id="{CE677338-7918-4F0C-B7F1-56E0E0DF6EA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084018A-2797-4D30-B196-78B176857002}"/>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1996363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651-20C4-4FA6-8283-06D5460D2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5629B-CB1A-4CFE-AE62-31DC02AF891C}"/>
              </a:ext>
            </a:extLst>
          </p:cNvPr>
          <p:cNvSpPr>
            <a:spLocks noGrp="1"/>
          </p:cNvSpPr>
          <p:nvPr>
            <p:ph type="dt" sz="half" idx="10"/>
          </p:nvPr>
        </p:nvSpPr>
        <p:spPr/>
        <p:txBody>
          <a:bodyPr/>
          <a:lstStyle/>
          <a:p>
            <a:fld id="{4015EA4E-B5CD-48FF-9127-4C4AB8BF4597}" type="datetime1">
              <a:rPr lang="en-US" smtClean="0"/>
              <a:t>9/10/2026</a:t>
            </a:fld>
            <a:endParaRPr lang="en-US" dirty="0"/>
          </a:p>
        </p:txBody>
      </p:sp>
      <p:sp>
        <p:nvSpPr>
          <p:cNvPr id="4" name="Footer Placeholder 3">
            <a:extLst>
              <a:ext uri="{FF2B5EF4-FFF2-40B4-BE49-F238E27FC236}">
                <a16:creationId xmlns:a16="http://schemas.microsoft.com/office/drawing/2014/main" id="{85F51D17-7E67-4B1F-8C55-C7DBBC9605E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B4714CB-2F52-45E6-A086-05531848A36E}"/>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1500632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446A38-7AE2-4843-BB57-2FB144DF6A17}"/>
              </a:ext>
            </a:extLst>
          </p:cNvPr>
          <p:cNvSpPr>
            <a:spLocks noGrp="1"/>
          </p:cNvSpPr>
          <p:nvPr>
            <p:ph type="dt" sz="half" idx="10"/>
          </p:nvPr>
        </p:nvSpPr>
        <p:spPr/>
        <p:txBody>
          <a:bodyPr/>
          <a:lstStyle/>
          <a:p>
            <a:fld id="{11E3CFA3-9687-41B2-B362-678EC51B3838}" type="datetime1">
              <a:rPr lang="en-US" smtClean="0"/>
              <a:t>9/10/2026</a:t>
            </a:fld>
            <a:endParaRPr lang="en-US" dirty="0"/>
          </a:p>
        </p:txBody>
      </p:sp>
      <p:sp>
        <p:nvSpPr>
          <p:cNvPr id="3" name="Footer Placeholder 2">
            <a:extLst>
              <a:ext uri="{FF2B5EF4-FFF2-40B4-BE49-F238E27FC236}">
                <a16:creationId xmlns:a16="http://schemas.microsoft.com/office/drawing/2014/main" id="{FEC19645-C8B9-4723-B2BC-370B123139A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9505DD2-7DA4-4299-BFFA-4C1BD291E3E6}"/>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162908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2D0F7-497F-4EC5-BD5D-D5819F25C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9E69FA-531C-4CCD-B98D-0D55444D1C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FAF704-9891-4E3E-8E1D-C3EB7A488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CC8FBB2-B6FF-49CB-803D-99A413F3A3F3}"/>
              </a:ext>
            </a:extLst>
          </p:cNvPr>
          <p:cNvSpPr>
            <a:spLocks noGrp="1"/>
          </p:cNvSpPr>
          <p:nvPr>
            <p:ph type="dt" sz="half" idx="10"/>
          </p:nvPr>
        </p:nvSpPr>
        <p:spPr/>
        <p:txBody>
          <a:bodyPr/>
          <a:lstStyle/>
          <a:p>
            <a:fld id="{B306C800-2012-4A5D-A31B-AF1532871639}" type="datetime1">
              <a:rPr lang="en-US" smtClean="0"/>
              <a:t>9/10/2026</a:t>
            </a:fld>
            <a:endParaRPr lang="en-US" dirty="0"/>
          </a:p>
        </p:txBody>
      </p:sp>
      <p:sp>
        <p:nvSpPr>
          <p:cNvPr id="6" name="Footer Placeholder 5">
            <a:extLst>
              <a:ext uri="{FF2B5EF4-FFF2-40B4-BE49-F238E27FC236}">
                <a16:creationId xmlns:a16="http://schemas.microsoft.com/office/drawing/2014/main" id="{D752BDAA-7C83-4526-B9A5-5A64A5CA323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BEBC60B-228E-4175-AF9D-856748591E1C}"/>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18895343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21C9-3648-4F31-A615-523A9DC60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995C94-2F24-48E3-849A-51E00FF75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6CB26D3-9D8F-4305-9EC3-BFC9EAD7D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7FFB7E-504C-492E-9AAA-3BFA1083D764}"/>
              </a:ext>
            </a:extLst>
          </p:cNvPr>
          <p:cNvSpPr>
            <a:spLocks noGrp="1"/>
          </p:cNvSpPr>
          <p:nvPr>
            <p:ph type="dt" sz="half" idx="10"/>
          </p:nvPr>
        </p:nvSpPr>
        <p:spPr/>
        <p:txBody>
          <a:bodyPr/>
          <a:lstStyle/>
          <a:p>
            <a:fld id="{DEB3DEBF-A6F1-4A3D-8D7C-770937B1B004}" type="datetime1">
              <a:rPr lang="en-US" smtClean="0"/>
              <a:t>9/10/2026</a:t>
            </a:fld>
            <a:endParaRPr lang="en-US" dirty="0"/>
          </a:p>
        </p:txBody>
      </p:sp>
      <p:sp>
        <p:nvSpPr>
          <p:cNvPr id="6" name="Footer Placeholder 5">
            <a:extLst>
              <a:ext uri="{FF2B5EF4-FFF2-40B4-BE49-F238E27FC236}">
                <a16:creationId xmlns:a16="http://schemas.microsoft.com/office/drawing/2014/main" id="{58F6C2AA-5F09-4130-AD5D-D253B5ED92B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4BDBA9E-E27B-43D8-BFBE-FED9220FF341}"/>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2649869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DEF34-1D36-4FAF-889B-517AF36980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6F05B7-3B2F-4357-AC6A-72CEB7B1282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8F3E1-C89C-459F-99F8-32E95E44983F}"/>
              </a:ext>
            </a:extLst>
          </p:cNvPr>
          <p:cNvSpPr>
            <a:spLocks noGrp="1"/>
          </p:cNvSpPr>
          <p:nvPr>
            <p:ph type="dt" sz="half" idx="10"/>
          </p:nvPr>
        </p:nvSpPr>
        <p:spPr/>
        <p:txBody>
          <a:bodyPr/>
          <a:lstStyle/>
          <a:p>
            <a:fld id="{27964D97-4342-4271-B02E-3DDAEB90DAA5}" type="datetime1">
              <a:rPr lang="en-US" smtClean="0"/>
              <a:t>9/10/2026</a:t>
            </a:fld>
            <a:endParaRPr lang="en-US" dirty="0"/>
          </a:p>
        </p:txBody>
      </p:sp>
      <p:sp>
        <p:nvSpPr>
          <p:cNvPr id="5" name="Footer Placeholder 4">
            <a:extLst>
              <a:ext uri="{FF2B5EF4-FFF2-40B4-BE49-F238E27FC236}">
                <a16:creationId xmlns:a16="http://schemas.microsoft.com/office/drawing/2014/main" id="{9C84BA20-A846-43CD-9091-A59928C17BC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761E12-4734-4A7B-8E78-4E9123005889}"/>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3595440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D6F9D8-E2C9-456A-9DAC-41B77C50B7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44077E-E959-48BF-89CD-0194448B126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C4993F-3106-43E3-9F3B-73E71D0CEBB5}"/>
              </a:ext>
            </a:extLst>
          </p:cNvPr>
          <p:cNvSpPr>
            <a:spLocks noGrp="1"/>
          </p:cNvSpPr>
          <p:nvPr>
            <p:ph type="dt" sz="half" idx="10"/>
          </p:nvPr>
        </p:nvSpPr>
        <p:spPr/>
        <p:txBody>
          <a:bodyPr/>
          <a:lstStyle/>
          <a:p>
            <a:fld id="{EA966BF5-C4E3-4D43-AE76-8718C63B2108}" type="datetime1">
              <a:rPr lang="en-US" smtClean="0"/>
              <a:t>9/10/2026</a:t>
            </a:fld>
            <a:endParaRPr lang="en-US" dirty="0"/>
          </a:p>
        </p:txBody>
      </p:sp>
      <p:sp>
        <p:nvSpPr>
          <p:cNvPr id="5" name="Footer Placeholder 4">
            <a:extLst>
              <a:ext uri="{FF2B5EF4-FFF2-40B4-BE49-F238E27FC236}">
                <a16:creationId xmlns:a16="http://schemas.microsoft.com/office/drawing/2014/main" id="{5E924CD8-1E03-4C0B-A761-9C84FCE9E58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283373B-4F97-458B-B5CB-2E2F54DCB512}"/>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9236219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mpact">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p:cNvSpPr/>
          <p:nvPr userDrawn="1"/>
        </p:nvSpPr>
        <p:spPr>
          <a:xfrm>
            <a:off x="3" y="0"/>
            <a:ext cx="12191999" cy="6858000"/>
          </a:xfrm>
          <a:prstGeom prst="rect">
            <a:avLst/>
          </a:prstGeom>
          <a:solidFill>
            <a:schemeClr val="accent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9" name="Picture 8" descr="earth-at-night-1149733.jpg"/>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37299" y="6415387"/>
            <a:ext cx="513687" cy="271227"/>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0127" y="6138780"/>
            <a:ext cx="1132764" cy="603216"/>
          </a:xfrm>
          <a:prstGeom prst="rect">
            <a:avLst/>
          </a:prstGeom>
        </p:spPr>
      </p:pic>
    </p:spTree>
    <p:extLst>
      <p:ext uri="{BB962C8B-B14F-4D97-AF65-F5344CB8AC3E}">
        <p14:creationId xmlns:p14="http://schemas.microsoft.com/office/powerpoint/2010/main" val="2299895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lide with Background">
    <p:bg>
      <p:bgPr>
        <a:solidFill>
          <a:srgbClr val="2A2A2A"/>
        </a:solidFill>
        <a:effectLst/>
      </p:bgPr>
    </p:bg>
    <p:spTree>
      <p:nvGrpSpPr>
        <p:cNvPr id="1" name=""/>
        <p:cNvGrpSpPr/>
        <p:nvPr/>
      </p:nvGrpSpPr>
      <p:grpSpPr>
        <a:xfrm>
          <a:off x="0" y="0"/>
          <a:ext cx="0" cy="0"/>
          <a:chOff x="0" y="0"/>
          <a:chExt cx="0" cy="0"/>
        </a:xfrm>
      </p:grpSpPr>
      <p:pic>
        <p:nvPicPr>
          <p:cNvPr id="8" name="Picture 7" descr="earth-at-night-1149733.jpg">
            <a:extLst>
              <a:ext uri="{FF2B5EF4-FFF2-40B4-BE49-F238E27FC236}">
                <a16:creationId xmlns:a16="http://schemas.microsoft.com/office/drawing/2014/main" id="{09E7C56F-6B08-9D4D-94AE-899332795231}"/>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t="10344" b="14655"/>
          <a:stretch/>
        </p:blipFill>
        <p:spPr>
          <a:xfrm>
            <a:off x="0" y="-1"/>
            <a:ext cx="12192000" cy="6858001"/>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37298" y="6415385"/>
            <a:ext cx="513687" cy="27122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37160" y="6126480"/>
            <a:ext cx="1184819" cy="630936"/>
          </a:xfrm>
          <a:prstGeom prst="rect">
            <a:avLst/>
          </a:prstGeom>
        </p:spPr>
      </p:pic>
      <p:sp>
        <p:nvSpPr>
          <p:cNvPr id="7" name="TextBox 6">
            <a:extLst>
              <a:ext uri="{FF2B5EF4-FFF2-40B4-BE49-F238E27FC236}">
                <a16:creationId xmlns:a16="http://schemas.microsoft.com/office/drawing/2014/main" id="{6D8F8CA3-BC96-AE43-8477-5B948E149C5A}"/>
              </a:ext>
            </a:extLst>
          </p:cNvPr>
          <p:cNvSpPr txBox="1"/>
          <p:nvPr userDrawn="1"/>
        </p:nvSpPr>
        <p:spPr>
          <a:xfrm>
            <a:off x="10479024" y="6518910"/>
            <a:ext cx="939800" cy="230832"/>
          </a:xfrm>
          <a:prstGeom prst="rect">
            <a:avLst/>
          </a:prstGeom>
          <a:noFill/>
        </p:spPr>
        <p:txBody>
          <a:bodyPr wrap="square" rtlCol="0" anchor="b" anchorCtr="0">
            <a:spAutoFit/>
          </a:bodyPr>
          <a:lstStyle/>
          <a:p>
            <a:pPr algn="r"/>
            <a:fld id="{F06FB3C0-A5EA-F449-A01C-F014E50C606E}" type="slidenum">
              <a:rPr lang="en-US" sz="900" smtClean="0">
                <a:solidFill>
                  <a:schemeClr val="bg1"/>
                </a:solidFill>
              </a:rPr>
              <a:pPr algn="r"/>
              <a:t>‹#›</a:t>
            </a:fld>
            <a:endParaRPr lang="en-US" sz="900" dirty="0">
              <a:solidFill>
                <a:schemeClr val="bg1"/>
              </a:solidFill>
            </a:endParaRPr>
          </a:p>
        </p:txBody>
      </p:sp>
      <p:sp>
        <p:nvSpPr>
          <p:cNvPr id="14" name="Rectangle 13">
            <a:extLst>
              <a:ext uri="{FF2B5EF4-FFF2-40B4-BE49-F238E27FC236}">
                <a16:creationId xmlns:a16="http://schemas.microsoft.com/office/drawing/2014/main" id="{1CBF599C-4D8A-6245-82D4-207B0EAD65F2}"/>
              </a:ext>
            </a:extLst>
          </p:cNvPr>
          <p:cNvSpPr/>
          <p:nvPr userDrawn="1"/>
        </p:nvSpPr>
        <p:spPr>
          <a:xfrm>
            <a:off x="5884784" y="3140568"/>
            <a:ext cx="393192" cy="4571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0" name="Text Placeholder 5">
            <a:extLst>
              <a:ext uri="{FF2B5EF4-FFF2-40B4-BE49-F238E27FC236}">
                <a16:creationId xmlns:a16="http://schemas.microsoft.com/office/drawing/2014/main" id="{553FD04A-276A-134D-A345-C805A3850431}"/>
              </a:ext>
            </a:extLst>
          </p:cNvPr>
          <p:cNvSpPr>
            <a:spLocks noGrp="1"/>
          </p:cNvSpPr>
          <p:nvPr>
            <p:ph type="body" sz="quarter" idx="12" hasCustomPrompt="1"/>
          </p:nvPr>
        </p:nvSpPr>
        <p:spPr>
          <a:xfrm>
            <a:off x="1282890" y="6411595"/>
            <a:ext cx="9189720" cy="331912"/>
          </a:xfrm>
          <a:prstGeom prst="rect">
            <a:avLst/>
          </a:prstGeom>
        </p:spPr>
        <p:txBody>
          <a:bodyPr anchor="b" anchorCtr="0"/>
          <a:lstStyle>
            <a:lvl1pPr marL="0" indent="0">
              <a:buNone/>
              <a:defRPr sz="900">
                <a:solidFill>
                  <a:schemeClr val="bg1"/>
                </a:solidFill>
              </a:defRPr>
            </a:lvl1pPr>
          </a:lstStyle>
          <a:p>
            <a:pPr lvl="0"/>
            <a:r>
              <a:rPr lang="en-US" dirty="0"/>
              <a:t>Sources</a:t>
            </a:r>
          </a:p>
        </p:txBody>
      </p:sp>
      <p:sp>
        <p:nvSpPr>
          <p:cNvPr id="12" name="Text Placeholder 24">
            <a:extLst>
              <a:ext uri="{FF2B5EF4-FFF2-40B4-BE49-F238E27FC236}">
                <a16:creationId xmlns:a16="http://schemas.microsoft.com/office/drawing/2014/main" id="{26047E0E-E696-C948-9485-C5617023DD0D}"/>
              </a:ext>
            </a:extLst>
          </p:cNvPr>
          <p:cNvSpPr>
            <a:spLocks noGrp="1"/>
          </p:cNvSpPr>
          <p:nvPr>
            <p:ph type="body" sz="quarter" idx="10" hasCustomPrompt="1"/>
          </p:nvPr>
        </p:nvSpPr>
        <p:spPr>
          <a:xfrm>
            <a:off x="1" y="3949113"/>
            <a:ext cx="12191998" cy="393192"/>
          </a:xfrm>
          <a:prstGeom prst="rect">
            <a:avLst/>
          </a:prstGeom>
        </p:spPr>
        <p:txBody>
          <a:bodyPr lIns="0" tIns="0" rIns="0" bIns="0" anchor="t" anchorCtr="0">
            <a:noAutofit/>
          </a:bodyPr>
          <a:lstStyle>
            <a:lvl1pPr marL="0" indent="0" algn="ctr">
              <a:buNone/>
              <a:defRPr sz="1800">
                <a:solidFill>
                  <a:schemeClr val="bg1"/>
                </a:solidFill>
              </a:defRPr>
            </a:lvl1pPr>
          </a:lstStyle>
          <a:p>
            <a:pPr lvl="0"/>
            <a:r>
              <a:rPr lang="en-US" dirty="0"/>
              <a:t>Event Name</a:t>
            </a:r>
          </a:p>
        </p:txBody>
      </p:sp>
      <p:sp>
        <p:nvSpPr>
          <p:cNvPr id="13" name="Text Placeholder 27">
            <a:extLst>
              <a:ext uri="{FF2B5EF4-FFF2-40B4-BE49-F238E27FC236}">
                <a16:creationId xmlns:a16="http://schemas.microsoft.com/office/drawing/2014/main" id="{5246B857-A90F-DE4E-B81A-E1AFFD8E6372}"/>
              </a:ext>
            </a:extLst>
          </p:cNvPr>
          <p:cNvSpPr>
            <a:spLocks noGrp="1"/>
          </p:cNvSpPr>
          <p:nvPr>
            <p:ph type="body" sz="quarter" idx="11" hasCustomPrompt="1"/>
          </p:nvPr>
        </p:nvSpPr>
        <p:spPr>
          <a:xfrm>
            <a:off x="1" y="4338271"/>
            <a:ext cx="12191998" cy="392133"/>
          </a:xfrm>
          <a:prstGeom prst="rect">
            <a:avLst/>
          </a:prstGeom>
        </p:spPr>
        <p:txBody>
          <a:bodyPr lIns="0" tIns="0" rIns="0" bIns="0" anchor="t" anchorCtr="0"/>
          <a:lstStyle>
            <a:lvl1pPr marL="0" indent="0" algn="ctr">
              <a:buNone/>
              <a:defRPr sz="1800">
                <a:solidFill>
                  <a:schemeClr val="bg1"/>
                </a:solidFill>
              </a:defRPr>
            </a:lvl1pPr>
          </a:lstStyle>
          <a:p>
            <a:pPr lvl="0"/>
            <a:r>
              <a:rPr lang="en-US" dirty="0"/>
              <a:t>Date</a:t>
            </a:r>
          </a:p>
        </p:txBody>
      </p:sp>
      <p:sp>
        <p:nvSpPr>
          <p:cNvPr id="19" name="Subtitle 2">
            <a:extLst>
              <a:ext uri="{FF2B5EF4-FFF2-40B4-BE49-F238E27FC236}">
                <a16:creationId xmlns:a16="http://schemas.microsoft.com/office/drawing/2014/main" id="{E6C0EF61-DEB4-D844-8333-A42353B1FCF8}"/>
              </a:ext>
            </a:extLst>
          </p:cNvPr>
          <p:cNvSpPr>
            <a:spLocks noGrp="1"/>
          </p:cNvSpPr>
          <p:nvPr>
            <p:ph type="subTitle" idx="1" hasCustomPrompt="1"/>
          </p:nvPr>
        </p:nvSpPr>
        <p:spPr>
          <a:xfrm>
            <a:off x="0" y="3462977"/>
            <a:ext cx="12191999" cy="393192"/>
          </a:xfrm>
          <a:prstGeom prst="rect">
            <a:avLst/>
          </a:prstGeom>
        </p:spPr>
        <p:txBody>
          <a:bodyPr lIns="0" tIns="0" rIns="0" bIns="0" anchor="t" anchorCtr="0">
            <a:noAutofit/>
          </a:bodyPr>
          <a:lstStyle>
            <a:lvl1pPr marL="0" indent="0" algn="ctr">
              <a:buNone/>
              <a:defRPr sz="2400">
                <a:solidFill>
                  <a:schemeClr val="bg1"/>
                </a:solidFill>
              </a:defRPr>
            </a:lvl1pPr>
            <a:lvl2pPr marL="342892" indent="0" algn="ctr">
              <a:buNone/>
              <a:defRPr>
                <a:solidFill>
                  <a:schemeClr val="tx1">
                    <a:tint val="75000"/>
                  </a:schemeClr>
                </a:solidFill>
              </a:defRPr>
            </a:lvl2pPr>
            <a:lvl3pPr marL="685783" indent="0" algn="ctr">
              <a:buNone/>
              <a:defRPr>
                <a:solidFill>
                  <a:schemeClr val="tx1">
                    <a:tint val="75000"/>
                  </a:schemeClr>
                </a:solidFill>
              </a:defRPr>
            </a:lvl3pPr>
            <a:lvl4pPr marL="1028675"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8" indent="0" algn="ctr">
              <a:buNone/>
              <a:defRPr>
                <a:solidFill>
                  <a:schemeClr val="tx1">
                    <a:tint val="75000"/>
                  </a:schemeClr>
                </a:solidFill>
              </a:defRPr>
            </a:lvl7pPr>
            <a:lvl8pPr marL="2400240" indent="0" algn="ctr">
              <a:buNone/>
              <a:defRPr>
                <a:solidFill>
                  <a:schemeClr val="tx1">
                    <a:tint val="75000"/>
                  </a:schemeClr>
                </a:solidFill>
              </a:defRPr>
            </a:lvl8pPr>
            <a:lvl9pPr marL="2743132" indent="0" algn="ctr">
              <a:buNone/>
              <a:defRPr>
                <a:solidFill>
                  <a:schemeClr val="tx1">
                    <a:tint val="75000"/>
                  </a:schemeClr>
                </a:solidFill>
              </a:defRPr>
            </a:lvl9pPr>
          </a:lstStyle>
          <a:p>
            <a:r>
              <a:rPr lang="en-US" dirty="0"/>
              <a:t>Speaker Name</a:t>
            </a:r>
          </a:p>
        </p:txBody>
      </p:sp>
      <p:sp>
        <p:nvSpPr>
          <p:cNvPr id="21" name="Title 1">
            <a:extLst>
              <a:ext uri="{FF2B5EF4-FFF2-40B4-BE49-F238E27FC236}">
                <a16:creationId xmlns:a16="http://schemas.microsoft.com/office/drawing/2014/main" id="{677EFD14-E3DF-8748-8BD8-C0F3C71E71CB}"/>
              </a:ext>
            </a:extLst>
          </p:cNvPr>
          <p:cNvSpPr>
            <a:spLocks noGrp="1"/>
          </p:cNvSpPr>
          <p:nvPr>
            <p:ph type="ctrTitle" hasCustomPrompt="1"/>
          </p:nvPr>
        </p:nvSpPr>
        <p:spPr>
          <a:xfrm>
            <a:off x="0" y="2401844"/>
            <a:ext cx="12192000" cy="393192"/>
          </a:xfrm>
          <a:prstGeom prst="rect">
            <a:avLst/>
          </a:prstGeom>
        </p:spPr>
        <p:txBody>
          <a:bodyPr lIns="0" tIns="0" rIns="0" bIns="0" anchor="b" anchorCtr="0"/>
          <a:lstStyle>
            <a:lvl1pPr>
              <a:defRPr sz="2800" b="1" cap="none" baseline="0">
                <a:solidFill>
                  <a:schemeClr val="bg1"/>
                </a:solidFill>
              </a:defRPr>
            </a:lvl1pPr>
          </a:lstStyle>
          <a:p>
            <a:r>
              <a:rPr lang="en-US" dirty="0"/>
              <a:t>Presentation Title</a:t>
            </a:r>
          </a:p>
        </p:txBody>
      </p:sp>
    </p:spTree>
    <p:extLst>
      <p:ext uri="{BB962C8B-B14F-4D97-AF65-F5344CB8AC3E}">
        <p14:creationId xmlns:p14="http://schemas.microsoft.com/office/powerpoint/2010/main" val="14333521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A18B4-2EE2-4151-A70A-507D8671B0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352FD5-4347-4BA7-7B18-12A102ECD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DB68FE-6F89-57F1-80CB-7BA154091F93}"/>
              </a:ext>
            </a:extLst>
          </p:cNvPr>
          <p:cNvSpPr>
            <a:spLocks noGrp="1"/>
          </p:cNvSpPr>
          <p:nvPr>
            <p:ph type="dt" sz="half" idx="10"/>
          </p:nvPr>
        </p:nvSpPr>
        <p:spPr/>
        <p:txBody>
          <a:bodyPr/>
          <a:lstStyle/>
          <a:p>
            <a:fld id="{F330B558-B7A5-47A2-9CF1-CAA72D368E3C}" type="datetimeFigureOut">
              <a:rPr lang="en-US" smtClean="0"/>
              <a:t>9/10/2026</a:t>
            </a:fld>
            <a:endParaRPr lang="en-US"/>
          </a:p>
        </p:txBody>
      </p:sp>
      <p:sp>
        <p:nvSpPr>
          <p:cNvPr id="5" name="Footer Placeholder 4">
            <a:extLst>
              <a:ext uri="{FF2B5EF4-FFF2-40B4-BE49-F238E27FC236}">
                <a16:creationId xmlns:a16="http://schemas.microsoft.com/office/drawing/2014/main" id="{63AE311E-2823-5870-D5CD-0E59EDAD35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C328E-6A66-460D-FA28-1C928F7C9B23}"/>
              </a:ext>
            </a:extLst>
          </p:cNvPr>
          <p:cNvSpPr>
            <a:spLocks noGrp="1"/>
          </p:cNvSpPr>
          <p:nvPr>
            <p:ph type="sldNum" sz="quarter" idx="12"/>
          </p:nvPr>
        </p:nvSpPr>
        <p:spPr/>
        <p:txBody>
          <a:bodyPr/>
          <a:lstStyle/>
          <a:p>
            <a:fld id="{97109732-644A-4241-A5E3-DA4423FAC92F}" type="slidenum">
              <a:rPr lang="en-US" smtClean="0"/>
              <a:t>‹#›</a:t>
            </a:fld>
            <a:endParaRPr lang="en-US"/>
          </a:p>
        </p:txBody>
      </p:sp>
    </p:spTree>
    <p:extLst>
      <p:ext uri="{BB962C8B-B14F-4D97-AF65-F5344CB8AC3E}">
        <p14:creationId xmlns:p14="http://schemas.microsoft.com/office/powerpoint/2010/main" val="1952863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33659" y="6412357"/>
            <a:ext cx="517324" cy="274339"/>
          </a:xfrm>
          <a:prstGeom prst="rect">
            <a:avLst/>
          </a:prstGeom>
        </p:spPr>
      </p:pic>
      <p:sp>
        <p:nvSpPr>
          <p:cNvPr id="8" name="Title 1">
            <a:extLst>
              <a:ext uri="{FF2B5EF4-FFF2-40B4-BE49-F238E27FC236}">
                <a16:creationId xmlns:a16="http://schemas.microsoft.com/office/drawing/2014/main" id="{01F72B5E-0845-3142-9DB1-10D6647B35DB}"/>
              </a:ext>
            </a:extLst>
          </p:cNvPr>
          <p:cNvSpPr>
            <a:spLocks noGrp="1"/>
          </p:cNvSpPr>
          <p:nvPr>
            <p:ph type="title"/>
          </p:nvPr>
        </p:nvSpPr>
        <p:spPr>
          <a:xfrm>
            <a:off x="457200" y="201743"/>
            <a:ext cx="11304270" cy="404545"/>
          </a:xfrm>
          <a:prstGeom prst="rect">
            <a:avLst/>
          </a:prstGeom>
        </p:spPr>
        <p:txBody>
          <a:bodyPr>
            <a:noAutofit/>
          </a:bodyPr>
          <a:lstStyle>
            <a:lvl1pPr>
              <a:defRPr sz="2400" b="1" cap="none" baseline="0">
                <a:solidFill>
                  <a:schemeClr val="tx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5A0AFFB8-6576-8A4C-9783-9DD157F532DD}"/>
              </a:ext>
            </a:extLst>
          </p:cNvPr>
          <p:cNvSpPr>
            <a:spLocks noGrp="1"/>
          </p:cNvSpPr>
          <p:nvPr>
            <p:ph idx="1"/>
          </p:nvPr>
        </p:nvSpPr>
        <p:spPr>
          <a:xfrm>
            <a:off x="457199" y="1143000"/>
            <a:ext cx="11304270" cy="4737100"/>
          </a:xfrm>
          <a:prstGeom prst="rect">
            <a:avLst/>
          </a:prstGeo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C2B3907A-5EEF-A34F-A26B-8198F8900922}"/>
              </a:ext>
            </a:extLst>
          </p:cNvPr>
          <p:cNvSpPr>
            <a:spLocks noGrp="1"/>
          </p:cNvSpPr>
          <p:nvPr>
            <p:ph type="body" sz="quarter" idx="10" hasCustomPrompt="1"/>
          </p:nvPr>
        </p:nvSpPr>
        <p:spPr>
          <a:xfrm>
            <a:off x="1280160" y="6411595"/>
            <a:ext cx="9153612" cy="331912"/>
          </a:xfrm>
          <a:prstGeom prst="rect">
            <a:avLst/>
          </a:prstGeom>
        </p:spPr>
        <p:txBody>
          <a:bodyPr anchor="b" anchorCtr="0"/>
          <a:lstStyle>
            <a:lvl1pPr marL="0" indent="0">
              <a:buNone/>
              <a:defRPr sz="900">
                <a:solidFill>
                  <a:schemeClr val="bg1">
                    <a:lumMod val="50000"/>
                  </a:schemeClr>
                </a:solidFill>
              </a:defRPr>
            </a:lvl1pPr>
          </a:lstStyle>
          <a:p>
            <a:pPr lvl="0"/>
            <a:r>
              <a:rPr lang="en-US" dirty="0"/>
              <a:t>Sources</a:t>
            </a:r>
          </a:p>
        </p:txBody>
      </p:sp>
      <p:pic>
        <p:nvPicPr>
          <p:cNvPr id="12" name="Picture 11">
            <a:extLst>
              <a:ext uri="{FF2B5EF4-FFF2-40B4-BE49-F238E27FC236}">
                <a16:creationId xmlns:a16="http://schemas.microsoft.com/office/drawing/2014/main" id="{FBFFFFA7-76B5-9643-8AEC-B52936E2DA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1415" y="6126163"/>
            <a:ext cx="1188720" cy="633013"/>
          </a:xfrm>
          <a:prstGeom prst="rect">
            <a:avLst/>
          </a:prstGeom>
        </p:spPr>
      </p:pic>
      <p:sp>
        <p:nvSpPr>
          <p:cNvPr id="13" name="TextBox 12">
            <a:extLst>
              <a:ext uri="{FF2B5EF4-FFF2-40B4-BE49-F238E27FC236}">
                <a16:creationId xmlns:a16="http://schemas.microsoft.com/office/drawing/2014/main" id="{D7F0CEF4-0158-9740-9B52-187D722D75A4}"/>
              </a:ext>
            </a:extLst>
          </p:cNvPr>
          <p:cNvSpPr txBox="1"/>
          <p:nvPr userDrawn="1"/>
        </p:nvSpPr>
        <p:spPr>
          <a:xfrm>
            <a:off x="10479024" y="6518910"/>
            <a:ext cx="939800" cy="230832"/>
          </a:xfrm>
          <a:prstGeom prst="rect">
            <a:avLst/>
          </a:prstGeom>
          <a:noFill/>
        </p:spPr>
        <p:txBody>
          <a:bodyPr wrap="square" rtlCol="0" anchor="b" anchorCtr="0">
            <a:spAutoFit/>
          </a:bodyPr>
          <a:lstStyle/>
          <a:p>
            <a:pPr algn="r"/>
            <a:fld id="{F06FB3C0-A5EA-F449-A01C-F014E50C606E}" type="slidenum">
              <a:rPr lang="en-US" sz="900" smtClean="0">
                <a:solidFill>
                  <a:srgbClr val="7F7F7F"/>
                </a:solidFill>
              </a:rPr>
              <a:pPr algn="r"/>
              <a:t>‹#›</a:t>
            </a:fld>
            <a:endParaRPr lang="en-US" sz="900" dirty="0">
              <a:solidFill>
                <a:srgbClr val="7F7F7F"/>
              </a:solidFill>
            </a:endParaRPr>
          </a:p>
        </p:txBody>
      </p:sp>
    </p:spTree>
    <p:extLst>
      <p:ext uri="{BB962C8B-B14F-4D97-AF65-F5344CB8AC3E}">
        <p14:creationId xmlns:p14="http://schemas.microsoft.com/office/powerpoint/2010/main" val="3300495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533659" y="6412357"/>
            <a:ext cx="517324" cy="274339"/>
          </a:xfrm>
          <a:prstGeom prst="rect">
            <a:avLst/>
          </a:prstGeom>
        </p:spPr>
      </p:pic>
      <p:sp>
        <p:nvSpPr>
          <p:cNvPr id="8" name="Title 1">
            <a:extLst>
              <a:ext uri="{FF2B5EF4-FFF2-40B4-BE49-F238E27FC236}">
                <a16:creationId xmlns:a16="http://schemas.microsoft.com/office/drawing/2014/main" id="{01F72B5E-0845-3142-9DB1-10D6647B35DB}"/>
              </a:ext>
            </a:extLst>
          </p:cNvPr>
          <p:cNvSpPr>
            <a:spLocks noGrp="1"/>
          </p:cNvSpPr>
          <p:nvPr>
            <p:ph type="title"/>
          </p:nvPr>
        </p:nvSpPr>
        <p:spPr>
          <a:xfrm>
            <a:off x="457200" y="201743"/>
            <a:ext cx="11304270" cy="404545"/>
          </a:xfrm>
          <a:prstGeom prst="rect">
            <a:avLst/>
          </a:prstGeom>
        </p:spPr>
        <p:txBody>
          <a:bodyPr>
            <a:noAutofit/>
          </a:bodyPr>
          <a:lstStyle>
            <a:lvl1pPr>
              <a:defRPr sz="2400" b="1" cap="none" baseline="0">
                <a:solidFill>
                  <a:schemeClr val="tx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5A0AFFB8-6576-8A4C-9783-9DD157F532DD}"/>
              </a:ext>
            </a:extLst>
          </p:cNvPr>
          <p:cNvSpPr>
            <a:spLocks noGrp="1"/>
          </p:cNvSpPr>
          <p:nvPr>
            <p:ph idx="1"/>
          </p:nvPr>
        </p:nvSpPr>
        <p:spPr>
          <a:xfrm>
            <a:off x="457199" y="1143000"/>
            <a:ext cx="11304270" cy="4737100"/>
          </a:xfrm>
          <a:prstGeom prst="rect">
            <a:avLst/>
          </a:prstGeo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C2B3907A-5EEF-A34F-A26B-8198F8900922}"/>
              </a:ext>
            </a:extLst>
          </p:cNvPr>
          <p:cNvSpPr>
            <a:spLocks noGrp="1"/>
          </p:cNvSpPr>
          <p:nvPr>
            <p:ph type="body" sz="quarter" idx="10" hasCustomPrompt="1"/>
          </p:nvPr>
        </p:nvSpPr>
        <p:spPr>
          <a:xfrm>
            <a:off x="1280160" y="6411595"/>
            <a:ext cx="9153612" cy="331912"/>
          </a:xfrm>
          <a:prstGeom prst="rect">
            <a:avLst/>
          </a:prstGeom>
        </p:spPr>
        <p:txBody>
          <a:bodyPr anchor="b" anchorCtr="0"/>
          <a:lstStyle>
            <a:lvl1pPr marL="0" indent="0">
              <a:buNone/>
              <a:defRPr sz="900">
                <a:solidFill>
                  <a:schemeClr val="bg1">
                    <a:lumMod val="50000"/>
                  </a:schemeClr>
                </a:solidFill>
              </a:defRPr>
            </a:lvl1pPr>
          </a:lstStyle>
          <a:p>
            <a:pPr lvl="0"/>
            <a:r>
              <a:rPr lang="en-US" dirty="0"/>
              <a:t>Sources</a:t>
            </a:r>
          </a:p>
        </p:txBody>
      </p:sp>
      <p:pic>
        <p:nvPicPr>
          <p:cNvPr id="12" name="Picture 11">
            <a:extLst>
              <a:ext uri="{FF2B5EF4-FFF2-40B4-BE49-F238E27FC236}">
                <a16:creationId xmlns:a16="http://schemas.microsoft.com/office/drawing/2014/main" id="{FBFFFFA7-76B5-9643-8AEC-B52936E2DA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1415" y="6126163"/>
            <a:ext cx="1188720" cy="633013"/>
          </a:xfrm>
          <a:prstGeom prst="rect">
            <a:avLst/>
          </a:prstGeom>
        </p:spPr>
      </p:pic>
      <p:sp>
        <p:nvSpPr>
          <p:cNvPr id="13" name="TextBox 12">
            <a:extLst>
              <a:ext uri="{FF2B5EF4-FFF2-40B4-BE49-F238E27FC236}">
                <a16:creationId xmlns:a16="http://schemas.microsoft.com/office/drawing/2014/main" id="{D7F0CEF4-0158-9740-9B52-187D722D75A4}"/>
              </a:ext>
            </a:extLst>
          </p:cNvPr>
          <p:cNvSpPr txBox="1"/>
          <p:nvPr userDrawn="1"/>
        </p:nvSpPr>
        <p:spPr>
          <a:xfrm>
            <a:off x="10479024" y="6518910"/>
            <a:ext cx="939800" cy="230832"/>
          </a:xfrm>
          <a:prstGeom prst="rect">
            <a:avLst/>
          </a:prstGeom>
          <a:noFill/>
        </p:spPr>
        <p:txBody>
          <a:bodyPr wrap="square" rtlCol="0" anchor="b" anchorCtr="0">
            <a:spAutoFit/>
          </a:bodyPr>
          <a:lstStyle/>
          <a:p>
            <a:pPr algn="r"/>
            <a:fld id="{F06FB3C0-A5EA-F449-A01C-F014E50C606E}" type="slidenum">
              <a:rPr lang="en-US" sz="900" smtClean="0">
                <a:solidFill>
                  <a:srgbClr val="7F7F7F"/>
                </a:solidFill>
              </a:rPr>
              <a:pPr algn="r"/>
              <a:t>‹#›</a:t>
            </a:fld>
            <a:endParaRPr lang="en-US" sz="900" dirty="0">
              <a:solidFill>
                <a:srgbClr val="7F7F7F"/>
              </a:solidFill>
            </a:endParaRPr>
          </a:p>
        </p:txBody>
      </p:sp>
    </p:spTree>
    <p:extLst>
      <p:ext uri="{BB962C8B-B14F-4D97-AF65-F5344CB8AC3E}">
        <p14:creationId xmlns:p14="http://schemas.microsoft.com/office/powerpoint/2010/main" val="1438658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44B2321-BBCF-4EE1-BC6B-1D4469F62351}"/>
              </a:ext>
            </a:extLst>
          </p:cNvPr>
          <p:cNvSpPr>
            <a:spLocks noGrp="1"/>
          </p:cNvSpPr>
          <p:nvPr>
            <p:ph type="dt" sz="half" idx="10"/>
          </p:nvPr>
        </p:nvSpPr>
        <p:spPr/>
        <p:txBody>
          <a:bodyPr/>
          <a:lstStyle/>
          <a:p>
            <a:fld id="{B209167A-AF2B-4CC2-A36E-72533CDEC574}" type="datetime1">
              <a:rPr lang="en-US" smtClean="0"/>
              <a:t>9/10/2026</a:t>
            </a:fld>
            <a:endParaRPr lang="en-US" dirty="0"/>
          </a:p>
        </p:txBody>
      </p:sp>
      <p:sp>
        <p:nvSpPr>
          <p:cNvPr id="5" name="Footer Placeholder 4">
            <a:extLst>
              <a:ext uri="{FF2B5EF4-FFF2-40B4-BE49-F238E27FC236}">
                <a16:creationId xmlns:a16="http://schemas.microsoft.com/office/drawing/2014/main" id="{AC975584-9D77-4B85-93C1-3E2599F727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DDEE29-A2A3-41F0-8078-8B2D439C0ACA}"/>
              </a:ext>
            </a:extLst>
          </p:cNvPr>
          <p:cNvSpPr>
            <a:spLocks noGrp="1"/>
          </p:cNvSpPr>
          <p:nvPr>
            <p:ph type="sldNum" sz="quarter" idx="12"/>
          </p:nvPr>
        </p:nvSpPr>
        <p:spPr/>
        <p:txBody>
          <a:bodyPr/>
          <a:lstStyle/>
          <a:p>
            <a:fld id="{4EDB0E62-2E6A-4D80-A426-E94CA1197D32}" type="slidenum">
              <a:rPr lang="en-US" smtClean="0"/>
              <a:t>‹#›</a:t>
            </a:fld>
            <a:endParaRPr lang="en-US" dirty="0"/>
          </a:p>
        </p:txBody>
      </p:sp>
      <p:sp>
        <p:nvSpPr>
          <p:cNvPr id="7" name="Rectangle 6">
            <a:extLst>
              <a:ext uri="{FF2B5EF4-FFF2-40B4-BE49-F238E27FC236}">
                <a16:creationId xmlns:a16="http://schemas.microsoft.com/office/drawing/2014/main" id="{1D43753A-F1C8-448F-A549-B1EB104BA72D}"/>
              </a:ext>
            </a:extLst>
          </p:cNvPr>
          <p:cNvSpPr/>
          <p:nvPr userDrawn="1"/>
        </p:nvSpPr>
        <p:spPr>
          <a:xfrm>
            <a:off x="-2" y="6356350"/>
            <a:ext cx="12192002" cy="5016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0CE1F29-F077-4AB5-B9D5-EE3E0C4D1B97}"/>
              </a:ext>
            </a:extLst>
          </p:cNvPr>
          <p:cNvSpPr/>
          <p:nvPr userDrawn="1"/>
        </p:nvSpPr>
        <p:spPr>
          <a:xfrm>
            <a:off x="125913" y="-2555"/>
            <a:ext cx="6582383" cy="17587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7937F0ED-B2FA-4086-8113-9ACBECF522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5913" y="6353719"/>
            <a:ext cx="802491" cy="427340"/>
          </a:xfrm>
          <a:prstGeom prst="rect">
            <a:avLst/>
          </a:prstGeom>
        </p:spPr>
      </p:pic>
      <p:pic>
        <p:nvPicPr>
          <p:cNvPr id="16" name="Picture 15">
            <a:extLst>
              <a:ext uri="{FF2B5EF4-FFF2-40B4-BE49-F238E27FC236}">
                <a16:creationId xmlns:a16="http://schemas.microsoft.com/office/drawing/2014/main" id="{064E4523-D5F5-4263-B967-D619436A09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52400" y="6471014"/>
            <a:ext cx="513687" cy="271227"/>
          </a:xfrm>
          <a:prstGeom prst="rect">
            <a:avLst/>
          </a:prstGeom>
        </p:spPr>
      </p:pic>
    </p:spTree>
    <p:extLst>
      <p:ext uri="{BB962C8B-B14F-4D97-AF65-F5344CB8AC3E}">
        <p14:creationId xmlns:p14="http://schemas.microsoft.com/office/powerpoint/2010/main" val="191335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44B2321-BBCF-4EE1-BC6B-1D4469F62351}"/>
              </a:ext>
            </a:extLst>
          </p:cNvPr>
          <p:cNvSpPr>
            <a:spLocks noGrp="1"/>
          </p:cNvSpPr>
          <p:nvPr>
            <p:ph type="dt" sz="half" idx="10"/>
          </p:nvPr>
        </p:nvSpPr>
        <p:spPr/>
        <p:txBody>
          <a:bodyPr/>
          <a:lstStyle/>
          <a:p>
            <a:fld id="{431E8757-C2E6-4254-A93C-EEB6230B329B}" type="datetime1">
              <a:rPr lang="en-US" smtClean="0"/>
              <a:t>9/10/2026</a:t>
            </a:fld>
            <a:endParaRPr lang="en-US" dirty="0"/>
          </a:p>
        </p:txBody>
      </p:sp>
      <p:sp>
        <p:nvSpPr>
          <p:cNvPr id="5" name="Footer Placeholder 4">
            <a:extLst>
              <a:ext uri="{FF2B5EF4-FFF2-40B4-BE49-F238E27FC236}">
                <a16:creationId xmlns:a16="http://schemas.microsoft.com/office/drawing/2014/main" id="{AC975584-9D77-4B85-93C1-3E2599F727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DDEE29-A2A3-41F0-8078-8B2D439C0ACA}"/>
              </a:ext>
            </a:extLst>
          </p:cNvPr>
          <p:cNvSpPr>
            <a:spLocks noGrp="1"/>
          </p:cNvSpPr>
          <p:nvPr>
            <p:ph type="sldNum" sz="quarter" idx="12"/>
          </p:nvPr>
        </p:nvSpPr>
        <p:spPr/>
        <p:txBody>
          <a:bodyPr/>
          <a:lstStyle/>
          <a:p>
            <a:fld id="{4EDB0E62-2E6A-4D80-A426-E94CA1197D32}" type="slidenum">
              <a:rPr lang="en-US" smtClean="0"/>
              <a:t>‹#›</a:t>
            </a:fld>
            <a:endParaRPr lang="en-US" dirty="0"/>
          </a:p>
        </p:txBody>
      </p:sp>
      <p:sp>
        <p:nvSpPr>
          <p:cNvPr id="7" name="Rectangle 6">
            <a:extLst>
              <a:ext uri="{FF2B5EF4-FFF2-40B4-BE49-F238E27FC236}">
                <a16:creationId xmlns:a16="http://schemas.microsoft.com/office/drawing/2014/main" id="{1D43753A-F1C8-448F-A549-B1EB104BA72D}"/>
              </a:ext>
            </a:extLst>
          </p:cNvPr>
          <p:cNvSpPr/>
          <p:nvPr userDrawn="1"/>
        </p:nvSpPr>
        <p:spPr>
          <a:xfrm>
            <a:off x="-2" y="6371170"/>
            <a:ext cx="12192002" cy="486829"/>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0CE1F29-F077-4AB5-B9D5-EE3E0C4D1B97}"/>
              </a:ext>
            </a:extLst>
          </p:cNvPr>
          <p:cNvSpPr/>
          <p:nvPr userDrawn="1"/>
        </p:nvSpPr>
        <p:spPr>
          <a:xfrm>
            <a:off x="125913" y="-2555"/>
            <a:ext cx="6582383" cy="17587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4F57297-E2BE-4DC1-8586-139CD9503882}"/>
              </a:ext>
            </a:extLst>
          </p:cNvPr>
          <p:cNvSpPr/>
          <p:nvPr userDrawn="1"/>
        </p:nvSpPr>
        <p:spPr>
          <a:xfrm>
            <a:off x="1542105" y="188508"/>
            <a:ext cx="10775808" cy="923330"/>
          </a:xfrm>
          <a:prstGeom prst="rect">
            <a:avLst/>
          </a:prstGeom>
        </p:spPr>
        <p:txBody>
          <a:bodyPr wrap="square">
            <a:spAutoFit/>
          </a:bodyPr>
          <a:lstStyle/>
          <a:p>
            <a:r>
              <a:rPr lang="en-US" sz="5400" dirty="0">
                <a:solidFill>
                  <a:srgbClr val="F6901E"/>
                </a:solidFill>
              </a:rPr>
              <a:t>Center Leads: Transportation</a:t>
            </a:r>
          </a:p>
        </p:txBody>
      </p:sp>
      <p:pic>
        <p:nvPicPr>
          <p:cNvPr id="15" name="Picture 14">
            <a:extLst>
              <a:ext uri="{FF2B5EF4-FFF2-40B4-BE49-F238E27FC236}">
                <a16:creationId xmlns:a16="http://schemas.microsoft.com/office/drawing/2014/main" id="{7937F0ED-B2FA-4086-8113-9ACBECF522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5913" y="6353719"/>
            <a:ext cx="802491" cy="427340"/>
          </a:xfrm>
          <a:prstGeom prst="rect">
            <a:avLst/>
          </a:prstGeom>
        </p:spPr>
      </p:pic>
      <p:pic>
        <p:nvPicPr>
          <p:cNvPr id="16" name="Picture 15">
            <a:extLst>
              <a:ext uri="{FF2B5EF4-FFF2-40B4-BE49-F238E27FC236}">
                <a16:creationId xmlns:a16="http://schemas.microsoft.com/office/drawing/2014/main" id="{064E4523-D5F5-4263-B967-D619436A09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52400" y="6471014"/>
            <a:ext cx="513687" cy="271227"/>
          </a:xfrm>
          <a:prstGeom prst="rect">
            <a:avLst/>
          </a:prstGeom>
        </p:spPr>
      </p:pic>
      <p:pic>
        <p:nvPicPr>
          <p:cNvPr id="17" name="Picture 16">
            <a:extLst>
              <a:ext uri="{FF2B5EF4-FFF2-40B4-BE49-F238E27FC236}">
                <a16:creationId xmlns:a16="http://schemas.microsoft.com/office/drawing/2014/main" id="{F834F374-EB03-4B0C-A41B-C7F1040DEDE3}"/>
              </a:ext>
            </a:extLst>
          </p:cNvPr>
          <p:cNvPicPr>
            <a:picLocks noChangeAspect="1"/>
          </p:cNvPicPr>
          <p:nvPr userDrawn="1"/>
        </p:nvPicPr>
        <p:blipFill>
          <a:blip r:embed="rId4"/>
          <a:stretch>
            <a:fillRect/>
          </a:stretch>
        </p:blipFill>
        <p:spPr>
          <a:xfrm>
            <a:off x="293326" y="280811"/>
            <a:ext cx="1012960" cy="1012960"/>
          </a:xfrm>
          <a:prstGeom prst="rect">
            <a:avLst/>
          </a:prstGeom>
        </p:spPr>
      </p:pic>
      <p:sp>
        <p:nvSpPr>
          <p:cNvPr id="18" name="TextBox 17">
            <a:extLst>
              <a:ext uri="{FF2B5EF4-FFF2-40B4-BE49-F238E27FC236}">
                <a16:creationId xmlns:a16="http://schemas.microsoft.com/office/drawing/2014/main" id="{444CAA91-82CD-43E7-9E6A-C1005F3BAE06}"/>
              </a:ext>
            </a:extLst>
          </p:cNvPr>
          <p:cNvSpPr txBox="1"/>
          <p:nvPr userDrawn="1"/>
        </p:nvSpPr>
        <p:spPr>
          <a:xfrm>
            <a:off x="1708897" y="1404593"/>
            <a:ext cx="4259870" cy="3170099"/>
          </a:xfrm>
          <a:prstGeom prst="rect">
            <a:avLst/>
          </a:prstGeom>
          <a:noFill/>
        </p:spPr>
        <p:txBody>
          <a:bodyPr wrap="square" rtlCol="0">
            <a:spAutoFit/>
          </a:bodyPr>
          <a:lstStyle/>
          <a:p>
            <a:r>
              <a:rPr lang="en-US" sz="1600" b="1" dirty="0"/>
              <a:t>Florian Allroggen</a:t>
            </a:r>
          </a:p>
          <a:p>
            <a:r>
              <a:rPr lang="en-US" sz="1600" dirty="0"/>
              <a:t>Research Scientist, </a:t>
            </a:r>
          </a:p>
          <a:p>
            <a:r>
              <a:rPr lang="en-US" sz="1600" dirty="0"/>
              <a:t>MIT Department of Aeronautics and Astronautics</a:t>
            </a:r>
          </a:p>
          <a:p>
            <a:endParaRPr lang="en-US" sz="1600" b="1" dirty="0"/>
          </a:p>
          <a:p>
            <a:endParaRPr lang="en-US" sz="1600" b="1" dirty="0"/>
          </a:p>
          <a:p>
            <a:r>
              <a:rPr lang="en-US" sz="1600" b="1" dirty="0"/>
              <a:t>Randall Field</a:t>
            </a:r>
          </a:p>
          <a:p>
            <a:r>
              <a:rPr lang="en-US" sz="1600" dirty="0"/>
              <a:t>Executive Director, </a:t>
            </a:r>
          </a:p>
          <a:p>
            <a:r>
              <a:rPr lang="en-US" sz="1600" dirty="0"/>
              <a:t>Future Energy Systems Center</a:t>
            </a:r>
          </a:p>
          <a:p>
            <a:endParaRPr lang="en-US" b="1" dirty="0"/>
          </a:p>
          <a:p>
            <a:endParaRPr lang="en-US" b="1" dirty="0"/>
          </a:p>
          <a:p>
            <a:endParaRPr lang="en-US" dirty="0"/>
          </a:p>
          <a:p>
            <a:endParaRPr lang="en-US" dirty="0"/>
          </a:p>
        </p:txBody>
      </p:sp>
      <p:pic>
        <p:nvPicPr>
          <p:cNvPr id="19" name="Picture 18">
            <a:extLst>
              <a:ext uri="{FF2B5EF4-FFF2-40B4-BE49-F238E27FC236}">
                <a16:creationId xmlns:a16="http://schemas.microsoft.com/office/drawing/2014/main" id="{FCC784B7-2E6F-4A70-802A-1A231874309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836" t="4259" r="1464" b="3384"/>
          <a:stretch/>
        </p:blipFill>
        <p:spPr>
          <a:xfrm>
            <a:off x="461173" y="3010619"/>
            <a:ext cx="1132956" cy="1143000"/>
          </a:xfrm>
          <a:prstGeom prst="rect">
            <a:avLst/>
          </a:prstGeom>
        </p:spPr>
      </p:pic>
      <p:sp>
        <p:nvSpPr>
          <p:cNvPr id="20" name="Rectangle 19">
            <a:extLst>
              <a:ext uri="{FF2B5EF4-FFF2-40B4-BE49-F238E27FC236}">
                <a16:creationId xmlns:a16="http://schemas.microsoft.com/office/drawing/2014/main" id="{A1DE60AA-E3AD-4059-997C-BD5FE6529509}"/>
              </a:ext>
            </a:extLst>
          </p:cNvPr>
          <p:cNvSpPr/>
          <p:nvPr userDrawn="1"/>
        </p:nvSpPr>
        <p:spPr>
          <a:xfrm>
            <a:off x="7340724" y="1404593"/>
            <a:ext cx="5008970" cy="4770537"/>
          </a:xfrm>
          <a:prstGeom prst="rect">
            <a:avLst/>
          </a:prstGeom>
        </p:spPr>
        <p:txBody>
          <a:bodyPr wrap="square">
            <a:spAutoFit/>
          </a:bodyPr>
          <a:lstStyle/>
          <a:p>
            <a:r>
              <a:rPr lang="en-US" sz="1600" b="1" dirty="0"/>
              <a:t>Steven Barrett</a:t>
            </a:r>
            <a:br>
              <a:rPr lang="en-US" sz="1600" b="1" dirty="0"/>
            </a:br>
            <a:r>
              <a:rPr lang="en-US" sz="1600" dirty="0"/>
              <a:t>Professor and Associate Department Head, </a:t>
            </a:r>
          </a:p>
          <a:p>
            <a:r>
              <a:rPr lang="en-US" sz="1600" dirty="0"/>
              <a:t>MIT Department of Aeronautics and Astronautics</a:t>
            </a:r>
          </a:p>
          <a:p>
            <a:endParaRPr lang="en-US" sz="1600" b="1" dirty="0"/>
          </a:p>
          <a:p>
            <a:br>
              <a:rPr lang="en-US" sz="1600" b="1" dirty="0"/>
            </a:br>
            <a:r>
              <a:rPr lang="en-US" sz="1600" b="1" dirty="0"/>
              <a:t>William H. Green </a:t>
            </a:r>
          </a:p>
          <a:p>
            <a:r>
              <a:rPr lang="en-US" sz="1600" dirty="0"/>
              <a:t>Hoyt C. Hottel Professor in Chemical Engineering,</a:t>
            </a:r>
          </a:p>
          <a:p>
            <a:r>
              <a:rPr lang="en-US" sz="1600" dirty="0"/>
              <a:t>MIT Department of Chemical Engineering</a:t>
            </a:r>
          </a:p>
          <a:p>
            <a:endParaRPr lang="en-US" sz="1600" b="1" dirty="0"/>
          </a:p>
          <a:p>
            <a:endParaRPr lang="en-US" sz="1600" b="1" dirty="0"/>
          </a:p>
          <a:p>
            <a:r>
              <a:rPr lang="en-US" sz="1600" b="1" dirty="0"/>
              <a:t>Kris Prather</a:t>
            </a:r>
          </a:p>
          <a:p>
            <a:r>
              <a:rPr lang="en-US" sz="1600" dirty="0"/>
              <a:t>Arthur D. Little Professor of Chemical Engineering, MIT Department of Chemical Engineering</a:t>
            </a:r>
          </a:p>
          <a:p>
            <a:endParaRPr lang="en-US" sz="1600" b="1" dirty="0"/>
          </a:p>
          <a:p>
            <a:endParaRPr lang="en-US" sz="1600" b="1" dirty="0"/>
          </a:p>
          <a:p>
            <a:r>
              <a:rPr lang="en-US" sz="1600" b="1" dirty="0"/>
              <a:t>Jinhua Zhao</a:t>
            </a:r>
          </a:p>
          <a:p>
            <a:r>
              <a:rPr lang="en-US" sz="1600" dirty="0"/>
              <a:t>Associate Professor, JTL Mobility lab and Transit Lab, </a:t>
            </a:r>
          </a:p>
          <a:p>
            <a:r>
              <a:rPr lang="en-US" sz="1600" dirty="0"/>
              <a:t>MIT Department of Urban Studies and Transportation Planning</a:t>
            </a:r>
          </a:p>
        </p:txBody>
      </p:sp>
      <p:sp>
        <p:nvSpPr>
          <p:cNvPr id="21" name="Rectangle 20">
            <a:extLst>
              <a:ext uri="{FF2B5EF4-FFF2-40B4-BE49-F238E27FC236}">
                <a16:creationId xmlns:a16="http://schemas.microsoft.com/office/drawing/2014/main" id="{DB723ADF-CF46-48B5-B455-6F8F8E5E14C5}"/>
              </a:ext>
            </a:extLst>
          </p:cNvPr>
          <p:cNvSpPr/>
          <p:nvPr userDrawn="1"/>
        </p:nvSpPr>
        <p:spPr>
          <a:xfrm>
            <a:off x="2536177" y="1028889"/>
            <a:ext cx="1045223" cy="369332"/>
          </a:xfrm>
          <a:prstGeom prst="rect">
            <a:avLst/>
          </a:prstGeom>
        </p:spPr>
        <p:txBody>
          <a:bodyPr wrap="none">
            <a:spAutoFit/>
          </a:bodyPr>
          <a:lstStyle/>
          <a:p>
            <a:r>
              <a:rPr lang="en-US" b="1" u="sng" dirty="0">
                <a:solidFill>
                  <a:srgbClr val="4472C4"/>
                </a:solidFill>
              </a:rPr>
              <a:t>Research</a:t>
            </a:r>
          </a:p>
        </p:txBody>
      </p:sp>
      <p:sp>
        <p:nvSpPr>
          <p:cNvPr id="22" name="Rectangle 21">
            <a:extLst>
              <a:ext uri="{FF2B5EF4-FFF2-40B4-BE49-F238E27FC236}">
                <a16:creationId xmlns:a16="http://schemas.microsoft.com/office/drawing/2014/main" id="{843F30A2-DC9A-4139-8C35-BBA641AE04FB}"/>
              </a:ext>
            </a:extLst>
          </p:cNvPr>
          <p:cNvSpPr/>
          <p:nvPr userDrawn="1"/>
        </p:nvSpPr>
        <p:spPr>
          <a:xfrm>
            <a:off x="8721305" y="1031716"/>
            <a:ext cx="862865" cy="369332"/>
          </a:xfrm>
          <a:prstGeom prst="rect">
            <a:avLst/>
          </a:prstGeom>
        </p:spPr>
        <p:txBody>
          <a:bodyPr wrap="none">
            <a:spAutoFit/>
          </a:bodyPr>
          <a:lstStyle/>
          <a:p>
            <a:r>
              <a:rPr lang="en-US" b="1" u="sng" dirty="0">
                <a:solidFill>
                  <a:srgbClr val="4472C4"/>
                </a:solidFill>
              </a:rPr>
              <a:t>Faculty</a:t>
            </a:r>
          </a:p>
        </p:txBody>
      </p:sp>
      <p:pic>
        <p:nvPicPr>
          <p:cNvPr id="23" name="Picture 22">
            <a:extLst>
              <a:ext uri="{FF2B5EF4-FFF2-40B4-BE49-F238E27FC236}">
                <a16:creationId xmlns:a16="http://schemas.microsoft.com/office/drawing/2014/main" id="{DCF25BED-6839-4C37-BA00-070E13F0676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0997" r="6245"/>
          <a:stretch/>
        </p:blipFill>
        <p:spPr>
          <a:xfrm>
            <a:off x="6139949" y="1466227"/>
            <a:ext cx="1136691" cy="1143000"/>
          </a:xfrm>
          <a:prstGeom prst="rect">
            <a:avLst/>
          </a:prstGeom>
        </p:spPr>
      </p:pic>
      <p:pic>
        <p:nvPicPr>
          <p:cNvPr id="24" name="Picture 23" descr="JZ3285s">
            <a:extLst>
              <a:ext uri="{FF2B5EF4-FFF2-40B4-BE49-F238E27FC236}">
                <a16:creationId xmlns:a16="http://schemas.microsoft.com/office/drawing/2014/main" id="{4D657BCE-6E30-4EFD-9CCF-4144C0BFCF12}"/>
              </a:ext>
            </a:extLst>
          </p:cNvPr>
          <p:cNvPicPr/>
          <p:nvPr userDrawn="1"/>
        </p:nvPicPr>
        <p:blipFill rotWithShape="1">
          <a:blip r:embed="rId7">
            <a:extLst>
              <a:ext uri="{28A0092B-C50C-407E-A947-70E740481C1C}">
                <a14:useLocalDpi xmlns:a14="http://schemas.microsoft.com/office/drawing/2010/main" val="0"/>
              </a:ext>
            </a:extLst>
          </a:blip>
          <a:srcRect l="20029" t="7848" r="20548" b="53621"/>
          <a:stretch/>
        </p:blipFill>
        <p:spPr bwMode="auto">
          <a:xfrm>
            <a:off x="6139950" y="5183616"/>
            <a:ext cx="1143000" cy="1143000"/>
          </a:xfrm>
          <a:prstGeom prst="rect">
            <a:avLst/>
          </a:prstGeom>
          <a:noFill/>
          <a:ln>
            <a:noFill/>
          </a:ln>
        </p:spPr>
      </p:pic>
      <p:pic>
        <p:nvPicPr>
          <p:cNvPr id="25" name="Picture 24">
            <a:extLst>
              <a:ext uri="{FF2B5EF4-FFF2-40B4-BE49-F238E27FC236}">
                <a16:creationId xmlns:a16="http://schemas.microsoft.com/office/drawing/2014/main" id="{7170DC60-5872-4876-9394-97FE15EB8DF5}"/>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76043" y="1491749"/>
            <a:ext cx="1161672" cy="1160704"/>
          </a:xfrm>
          <a:prstGeom prst="rect">
            <a:avLst/>
          </a:prstGeom>
        </p:spPr>
      </p:pic>
      <p:pic>
        <p:nvPicPr>
          <p:cNvPr id="26" name="Picture 25">
            <a:extLst>
              <a:ext uri="{FF2B5EF4-FFF2-40B4-BE49-F238E27FC236}">
                <a16:creationId xmlns:a16="http://schemas.microsoft.com/office/drawing/2014/main" id="{410BAB4D-3278-42A9-B723-EAAA29C51EAC}"/>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0997" r="6245"/>
          <a:stretch/>
        </p:blipFill>
        <p:spPr>
          <a:xfrm>
            <a:off x="6139949" y="3952592"/>
            <a:ext cx="1136691" cy="1143000"/>
          </a:xfrm>
          <a:prstGeom prst="rect">
            <a:avLst/>
          </a:prstGeom>
        </p:spPr>
      </p:pic>
      <p:pic>
        <p:nvPicPr>
          <p:cNvPr id="27" name="Picture 26">
            <a:extLst>
              <a:ext uri="{FF2B5EF4-FFF2-40B4-BE49-F238E27FC236}">
                <a16:creationId xmlns:a16="http://schemas.microsoft.com/office/drawing/2014/main" id="{8B994768-EA26-483C-83DC-4F6CFD3DB58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0997" r="6245"/>
          <a:stretch/>
        </p:blipFill>
        <p:spPr>
          <a:xfrm>
            <a:off x="6146259" y="2713827"/>
            <a:ext cx="1136691" cy="1143000"/>
          </a:xfrm>
          <a:prstGeom prst="rect">
            <a:avLst/>
          </a:prstGeom>
        </p:spPr>
      </p:pic>
    </p:spTree>
    <p:extLst>
      <p:ext uri="{BB962C8B-B14F-4D97-AF65-F5344CB8AC3E}">
        <p14:creationId xmlns:p14="http://schemas.microsoft.com/office/powerpoint/2010/main" val="1263504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82389-46F3-4CB6-9E61-D8AA2315C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4A5705-8775-42AA-B367-C4F011199D3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6B6853-B322-4AA0-8FBE-1A7692334FB5}"/>
              </a:ext>
            </a:extLst>
          </p:cNvPr>
          <p:cNvSpPr>
            <a:spLocks noGrp="1"/>
          </p:cNvSpPr>
          <p:nvPr>
            <p:ph type="dt" sz="half" idx="10"/>
          </p:nvPr>
        </p:nvSpPr>
        <p:spPr/>
        <p:txBody>
          <a:bodyPr/>
          <a:lstStyle/>
          <a:p>
            <a:fld id="{3377E052-FD13-4B7A-9412-9EC7B35DDDEF}" type="datetime1">
              <a:rPr lang="en-US" smtClean="0"/>
              <a:t>9/10/2026</a:t>
            </a:fld>
            <a:endParaRPr lang="en-US" dirty="0"/>
          </a:p>
        </p:txBody>
      </p:sp>
      <p:sp>
        <p:nvSpPr>
          <p:cNvPr id="5" name="Footer Placeholder 4">
            <a:extLst>
              <a:ext uri="{FF2B5EF4-FFF2-40B4-BE49-F238E27FC236}">
                <a16:creationId xmlns:a16="http://schemas.microsoft.com/office/drawing/2014/main" id="{A83B62FD-856B-4AF8-BFF1-80093C3AE6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B3FA03-6E9A-4814-8B3F-27029B9F4D66}"/>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3215805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5080-BD2F-454C-BB72-6511B2D782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9A54B-51A0-4400-967A-A37C1EEC01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1C300D8-A23C-4A52-8A27-D281199A046B}"/>
              </a:ext>
            </a:extLst>
          </p:cNvPr>
          <p:cNvSpPr>
            <a:spLocks noGrp="1"/>
          </p:cNvSpPr>
          <p:nvPr>
            <p:ph type="dt" sz="half" idx="10"/>
          </p:nvPr>
        </p:nvSpPr>
        <p:spPr/>
        <p:txBody>
          <a:bodyPr/>
          <a:lstStyle/>
          <a:p>
            <a:fld id="{77C64577-B98C-46BB-BEDD-25BC4D334F7F}" type="datetime1">
              <a:rPr lang="en-US" smtClean="0"/>
              <a:t>9/10/2026</a:t>
            </a:fld>
            <a:endParaRPr lang="en-US" dirty="0"/>
          </a:p>
        </p:txBody>
      </p:sp>
      <p:sp>
        <p:nvSpPr>
          <p:cNvPr id="5" name="Footer Placeholder 4">
            <a:extLst>
              <a:ext uri="{FF2B5EF4-FFF2-40B4-BE49-F238E27FC236}">
                <a16:creationId xmlns:a16="http://schemas.microsoft.com/office/drawing/2014/main" id="{0E7A4852-39B9-4021-9F68-3082E8C880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5973661-4F53-4C54-A979-3FFC20982BBC}"/>
              </a:ext>
            </a:extLst>
          </p:cNvPr>
          <p:cNvSpPr>
            <a:spLocks noGrp="1"/>
          </p:cNvSpPr>
          <p:nvPr>
            <p:ph type="sldNum" sz="quarter" idx="12"/>
          </p:nvPr>
        </p:nvSpPr>
        <p:spPr/>
        <p:txBody>
          <a:bodyPr/>
          <a:lstStyle>
            <a:lvl1pPr>
              <a:defRPr baseline="0">
                <a:solidFill>
                  <a:schemeClr val="bg1"/>
                </a:solidFill>
              </a:defRPr>
            </a:lvl1pPr>
          </a:lstStyle>
          <a:p>
            <a:fld id="{4EDB0E62-2E6A-4D80-A426-E94CA1197D32}" type="slidenum">
              <a:rPr lang="en-US" smtClean="0"/>
              <a:pPr/>
              <a:t>‹#›</a:t>
            </a:fld>
            <a:endParaRPr lang="en-US" dirty="0"/>
          </a:p>
        </p:txBody>
      </p:sp>
    </p:spTree>
    <p:extLst>
      <p:ext uri="{BB962C8B-B14F-4D97-AF65-F5344CB8AC3E}">
        <p14:creationId xmlns:p14="http://schemas.microsoft.com/office/powerpoint/2010/main" val="26725742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EA28C-9D30-43D0-9DD6-19E357FFEF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6DCC62-EF48-4DD4-88E1-8B049599F63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FA7677-4B4E-465A-95FB-C551422C0A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C9BB11-167B-4E47-BF48-A82757F3662E}"/>
              </a:ext>
            </a:extLst>
          </p:cNvPr>
          <p:cNvSpPr>
            <a:spLocks noGrp="1"/>
          </p:cNvSpPr>
          <p:nvPr>
            <p:ph type="dt" sz="half" idx="10"/>
          </p:nvPr>
        </p:nvSpPr>
        <p:spPr/>
        <p:txBody>
          <a:bodyPr/>
          <a:lstStyle/>
          <a:p>
            <a:fld id="{2769429B-0DE6-4146-A79C-9A77302D4705}" type="datetime1">
              <a:rPr lang="en-US" smtClean="0"/>
              <a:t>9/10/2026</a:t>
            </a:fld>
            <a:endParaRPr lang="en-US" dirty="0"/>
          </a:p>
        </p:txBody>
      </p:sp>
      <p:sp>
        <p:nvSpPr>
          <p:cNvPr id="6" name="Footer Placeholder 5">
            <a:extLst>
              <a:ext uri="{FF2B5EF4-FFF2-40B4-BE49-F238E27FC236}">
                <a16:creationId xmlns:a16="http://schemas.microsoft.com/office/drawing/2014/main" id="{6B37CD07-6721-4D5B-93F9-495C42863C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99B4F4-B60B-499E-9E1C-E1598B743D5A}"/>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2289746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48FD-D886-4521-9395-4F9C7F6E9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F5485B-E0E6-4ADC-A773-E5B7E367B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BD7406D-7986-4E04-BAFC-E1B547ED964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6DFF48-8F2E-4807-B78A-F412673C0C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B7B0DF6-9BEF-4E3B-9A9C-1DCAF8A7B9F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93081-F32E-4763-ABA1-AB915F1B7493}"/>
              </a:ext>
            </a:extLst>
          </p:cNvPr>
          <p:cNvSpPr>
            <a:spLocks noGrp="1"/>
          </p:cNvSpPr>
          <p:nvPr>
            <p:ph type="dt" sz="half" idx="10"/>
          </p:nvPr>
        </p:nvSpPr>
        <p:spPr/>
        <p:txBody>
          <a:bodyPr/>
          <a:lstStyle/>
          <a:p>
            <a:fld id="{27CDA173-5F2C-4D59-B5D9-598B69F3EE98}" type="datetime1">
              <a:rPr lang="en-US" smtClean="0"/>
              <a:t>9/10/2026</a:t>
            </a:fld>
            <a:endParaRPr lang="en-US" dirty="0"/>
          </a:p>
        </p:txBody>
      </p:sp>
      <p:sp>
        <p:nvSpPr>
          <p:cNvPr id="8" name="Footer Placeholder 7">
            <a:extLst>
              <a:ext uri="{FF2B5EF4-FFF2-40B4-BE49-F238E27FC236}">
                <a16:creationId xmlns:a16="http://schemas.microsoft.com/office/drawing/2014/main" id="{CE677338-7918-4F0C-B7F1-56E0E0DF6EA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084018A-2797-4D30-B196-78B176857002}"/>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1885833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1651-20C4-4FA6-8283-06D5460D2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5629B-CB1A-4CFE-AE62-31DC02AF891C}"/>
              </a:ext>
            </a:extLst>
          </p:cNvPr>
          <p:cNvSpPr>
            <a:spLocks noGrp="1"/>
          </p:cNvSpPr>
          <p:nvPr>
            <p:ph type="dt" sz="half" idx="10"/>
          </p:nvPr>
        </p:nvSpPr>
        <p:spPr/>
        <p:txBody>
          <a:bodyPr/>
          <a:lstStyle/>
          <a:p>
            <a:fld id="{6880C696-0CE7-4687-9890-D2CD6BB9313D}" type="datetime1">
              <a:rPr lang="en-US" smtClean="0"/>
              <a:t>9/10/2026</a:t>
            </a:fld>
            <a:endParaRPr lang="en-US" dirty="0"/>
          </a:p>
        </p:txBody>
      </p:sp>
      <p:sp>
        <p:nvSpPr>
          <p:cNvPr id="4" name="Footer Placeholder 3">
            <a:extLst>
              <a:ext uri="{FF2B5EF4-FFF2-40B4-BE49-F238E27FC236}">
                <a16:creationId xmlns:a16="http://schemas.microsoft.com/office/drawing/2014/main" id="{85F51D17-7E67-4B1F-8C55-C7DBBC9605E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B4714CB-2F52-45E6-A086-05531848A36E}"/>
              </a:ext>
            </a:extLst>
          </p:cNvPr>
          <p:cNvSpPr>
            <a:spLocks noGrp="1"/>
          </p:cNvSpPr>
          <p:nvPr>
            <p:ph type="sldNum" sz="quarter" idx="12"/>
          </p:nvPr>
        </p:nvSpPr>
        <p:spPr/>
        <p:txBody>
          <a:bodyPr/>
          <a:lstStyle>
            <a:lvl1pPr>
              <a:defRPr baseline="0">
                <a:solidFill>
                  <a:schemeClr val="bg1"/>
                </a:solidFill>
              </a:defRPr>
            </a:lvl1pPr>
          </a:lstStyle>
          <a:p>
            <a:fld id="{4EDB0E62-2E6A-4D80-A426-E94CA1197D32}" type="slidenum">
              <a:rPr lang="en-US" smtClean="0"/>
              <a:pPr/>
              <a:t>‹#›</a:t>
            </a:fld>
            <a:endParaRPr lang="en-US" dirty="0"/>
          </a:p>
        </p:txBody>
      </p:sp>
    </p:spTree>
    <p:extLst>
      <p:ext uri="{BB962C8B-B14F-4D97-AF65-F5344CB8AC3E}">
        <p14:creationId xmlns:p14="http://schemas.microsoft.com/office/powerpoint/2010/main" val="2541466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446A38-7AE2-4843-BB57-2FB144DF6A17}"/>
              </a:ext>
            </a:extLst>
          </p:cNvPr>
          <p:cNvSpPr>
            <a:spLocks noGrp="1"/>
          </p:cNvSpPr>
          <p:nvPr>
            <p:ph type="dt" sz="half" idx="10"/>
          </p:nvPr>
        </p:nvSpPr>
        <p:spPr/>
        <p:txBody>
          <a:bodyPr/>
          <a:lstStyle/>
          <a:p>
            <a:fld id="{FB597C38-F768-4B26-876F-8CA34E47AE4A}" type="datetime1">
              <a:rPr lang="en-US" smtClean="0"/>
              <a:t>9/10/2026</a:t>
            </a:fld>
            <a:endParaRPr lang="en-US" dirty="0"/>
          </a:p>
        </p:txBody>
      </p:sp>
      <p:sp>
        <p:nvSpPr>
          <p:cNvPr id="3" name="Footer Placeholder 2">
            <a:extLst>
              <a:ext uri="{FF2B5EF4-FFF2-40B4-BE49-F238E27FC236}">
                <a16:creationId xmlns:a16="http://schemas.microsoft.com/office/drawing/2014/main" id="{FEC19645-C8B9-4723-B2BC-370B123139A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9505DD2-7DA4-4299-BFFA-4C1BD291E3E6}"/>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4337727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2D0F7-497F-4EC5-BD5D-D5819F25C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9E69FA-531C-4CCD-B98D-0D55444D1C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FAF704-9891-4E3E-8E1D-C3EB7A488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CC8FBB2-B6FF-49CB-803D-99A413F3A3F3}"/>
              </a:ext>
            </a:extLst>
          </p:cNvPr>
          <p:cNvSpPr>
            <a:spLocks noGrp="1"/>
          </p:cNvSpPr>
          <p:nvPr>
            <p:ph type="dt" sz="half" idx="10"/>
          </p:nvPr>
        </p:nvSpPr>
        <p:spPr/>
        <p:txBody>
          <a:bodyPr/>
          <a:lstStyle/>
          <a:p>
            <a:fld id="{C268E6D0-27C6-476A-BF55-5D4391473AA9}" type="datetime1">
              <a:rPr lang="en-US" smtClean="0"/>
              <a:t>9/10/2026</a:t>
            </a:fld>
            <a:endParaRPr lang="en-US" dirty="0"/>
          </a:p>
        </p:txBody>
      </p:sp>
      <p:sp>
        <p:nvSpPr>
          <p:cNvPr id="6" name="Footer Placeholder 5">
            <a:extLst>
              <a:ext uri="{FF2B5EF4-FFF2-40B4-BE49-F238E27FC236}">
                <a16:creationId xmlns:a16="http://schemas.microsoft.com/office/drawing/2014/main" id="{D752BDAA-7C83-4526-B9A5-5A64A5CA323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BEBC60B-228E-4175-AF9D-856748591E1C}"/>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3440642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21C9-3648-4F31-A615-523A9DC60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995C94-2F24-48E3-849A-51E00FF75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6CB26D3-9D8F-4305-9EC3-BFC9EAD7D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7FFB7E-504C-492E-9AAA-3BFA1083D764}"/>
              </a:ext>
            </a:extLst>
          </p:cNvPr>
          <p:cNvSpPr>
            <a:spLocks noGrp="1"/>
          </p:cNvSpPr>
          <p:nvPr>
            <p:ph type="dt" sz="half" idx="10"/>
          </p:nvPr>
        </p:nvSpPr>
        <p:spPr/>
        <p:txBody>
          <a:bodyPr/>
          <a:lstStyle/>
          <a:p>
            <a:fld id="{97174874-502E-4726-B222-565DE68A6596}" type="datetime1">
              <a:rPr lang="en-US" smtClean="0"/>
              <a:t>9/10/2026</a:t>
            </a:fld>
            <a:endParaRPr lang="en-US" dirty="0"/>
          </a:p>
        </p:txBody>
      </p:sp>
      <p:sp>
        <p:nvSpPr>
          <p:cNvPr id="6" name="Footer Placeholder 5">
            <a:extLst>
              <a:ext uri="{FF2B5EF4-FFF2-40B4-BE49-F238E27FC236}">
                <a16:creationId xmlns:a16="http://schemas.microsoft.com/office/drawing/2014/main" id="{58F6C2AA-5F09-4130-AD5D-D253B5ED92B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4BDBA9E-E27B-43D8-BFBE-FED9220FF341}"/>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3106282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DEF34-1D36-4FAF-889B-517AF36980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6F05B7-3B2F-4357-AC6A-72CEB7B1282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8F3E1-C89C-459F-99F8-32E95E44983F}"/>
              </a:ext>
            </a:extLst>
          </p:cNvPr>
          <p:cNvSpPr>
            <a:spLocks noGrp="1"/>
          </p:cNvSpPr>
          <p:nvPr>
            <p:ph type="dt" sz="half" idx="10"/>
          </p:nvPr>
        </p:nvSpPr>
        <p:spPr/>
        <p:txBody>
          <a:bodyPr/>
          <a:lstStyle/>
          <a:p>
            <a:fld id="{4F419127-70B8-4A9C-9238-CB6F061EF890}" type="datetime1">
              <a:rPr lang="en-US" smtClean="0"/>
              <a:t>9/10/2026</a:t>
            </a:fld>
            <a:endParaRPr lang="en-US" dirty="0"/>
          </a:p>
        </p:txBody>
      </p:sp>
      <p:sp>
        <p:nvSpPr>
          <p:cNvPr id="5" name="Footer Placeholder 4">
            <a:extLst>
              <a:ext uri="{FF2B5EF4-FFF2-40B4-BE49-F238E27FC236}">
                <a16:creationId xmlns:a16="http://schemas.microsoft.com/office/drawing/2014/main" id="{9C84BA20-A846-43CD-9091-A59928C17BC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761E12-4734-4A7B-8E78-4E9123005889}"/>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2713355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D6F9D8-E2C9-456A-9DAC-41B77C50B7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44077E-E959-48BF-89CD-0194448B126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C4993F-3106-43E3-9F3B-73E71D0CEBB5}"/>
              </a:ext>
            </a:extLst>
          </p:cNvPr>
          <p:cNvSpPr>
            <a:spLocks noGrp="1"/>
          </p:cNvSpPr>
          <p:nvPr>
            <p:ph type="dt" sz="half" idx="10"/>
          </p:nvPr>
        </p:nvSpPr>
        <p:spPr/>
        <p:txBody>
          <a:bodyPr/>
          <a:lstStyle/>
          <a:p>
            <a:fld id="{94CB79C8-D615-41A9-AF02-BD7823797BE9}" type="datetime1">
              <a:rPr lang="en-US" smtClean="0"/>
              <a:t>9/10/2026</a:t>
            </a:fld>
            <a:endParaRPr lang="en-US" dirty="0"/>
          </a:p>
        </p:txBody>
      </p:sp>
      <p:sp>
        <p:nvSpPr>
          <p:cNvPr id="5" name="Footer Placeholder 4">
            <a:extLst>
              <a:ext uri="{FF2B5EF4-FFF2-40B4-BE49-F238E27FC236}">
                <a16:creationId xmlns:a16="http://schemas.microsoft.com/office/drawing/2014/main" id="{5E924CD8-1E03-4C0B-A761-9C84FCE9E58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283373B-4F97-458B-B5CB-2E2F54DCB512}"/>
              </a:ext>
            </a:extLst>
          </p:cNvPr>
          <p:cNvSpPr>
            <a:spLocks noGrp="1"/>
          </p:cNvSpPr>
          <p:nvPr>
            <p:ph type="sldNum" sz="quarter" idx="12"/>
          </p:nvPr>
        </p:nvSpPr>
        <p:spPr/>
        <p:txBody>
          <a:bodyPr/>
          <a:lstStyle/>
          <a:p>
            <a:fld id="{4EDB0E62-2E6A-4D80-A426-E94CA1197D32}" type="slidenum">
              <a:rPr lang="en-US" smtClean="0"/>
              <a:t>‹#›</a:t>
            </a:fld>
            <a:endParaRPr lang="en-US" dirty="0"/>
          </a:p>
        </p:txBody>
      </p:sp>
    </p:spTree>
    <p:extLst>
      <p:ext uri="{BB962C8B-B14F-4D97-AF65-F5344CB8AC3E}">
        <p14:creationId xmlns:p14="http://schemas.microsoft.com/office/powerpoint/2010/main" val="1756851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Impact">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p:cNvSpPr/>
          <p:nvPr userDrawn="1"/>
        </p:nvSpPr>
        <p:spPr>
          <a:xfrm>
            <a:off x="3" y="0"/>
            <a:ext cx="12191999" cy="6858000"/>
          </a:xfrm>
          <a:prstGeom prst="rect">
            <a:avLst/>
          </a:prstGeom>
          <a:solidFill>
            <a:schemeClr val="accent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9" name="Picture 8" descr="earth-at-night-1149733.jpg"/>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37299" y="6415387"/>
            <a:ext cx="513687" cy="271227"/>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0127" y="6138780"/>
            <a:ext cx="1132764" cy="603216"/>
          </a:xfrm>
          <a:prstGeom prst="rect">
            <a:avLst/>
          </a:prstGeom>
        </p:spPr>
      </p:pic>
    </p:spTree>
    <p:extLst>
      <p:ext uri="{BB962C8B-B14F-4D97-AF65-F5344CB8AC3E}">
        <p14:creationId xmlns:p14="http://schemas.microsoft.com/office/powerpoint/2010/main" val="1261263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Slide with Background">
    <p:bg>
      <p:bgPr>
        <a:solidFill>
          <a:srgbClr val="2A2A2A"/>
        </a:solidFill>
        <a:effectLst/>
      </p:bgPr>
    </p:bg>
    <p:spTree>
      <p:nvGrpSpPr>
        <p:cNvPr id="1" name=""/>
        <p:cNvGrpSpPr/>
        <p:nvPr/>
      </p:nvGrpSpPr>
      <p:grpSpPr>
        <a:xfrm>
          <a:off x="0" y="0"/>
          <a:ext cx="0" cy="0"/>
          <a:chOff x="0" y="0"/>
          <a:chExt cx="0" cy="0"/>
        </a:xfrm>
      </p:grpSpPr>
      <p:pic>
        <p:nvPicPr>
          <p:cNvPr id="8" name="Picture 7" descr="earth-at-night-1149733.jpg">
            <a:extLst>
              <a:ext uri="{FF2B5EF4-FFF2-40B4-BE49-F238E27FC236}">
                <a16:creationId xmlns:a16="http://schemas.microsoft.com/office/drawing/2014/main" id="{09E7C56F-6B08-9D4D-94AE-899332795231}"/>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t="10344" b="14655"/>
          <a:stretch/>
        </p:blipFill>
        <p:spPr>
          <a:xfrm>
            <a:off x="0" y="-1"/>
            <a:ext cx="12192000" cy="6858001"/>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37298" y="6415385"/>
            <a:ext cx="513687" cy="27122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37160" y="6126480"/>
            <a:ext cx="1184819" cy="630936"/>
          </a:xfrm>
          <a:prstGeom prst="rect">
            <a:avLst/>
          </a:prstGeom>
        </p:spPr>
      </p:pic>
      <p:sp>
        <p:nvSpPr>
          <p:cNvPr id="7" name="TextBox 6">
            <a:extLst>
              <a:ext uri="{FF2B5EF4-FFF2-40B4-BE49-F238E27FC236}">
                <a16:creationId xmlns:a16="http://schemas.microsoft.com/office/drawing/2014/main" id="{6D8F8CA3-BC96-AE43-8477-5B948E149C5A}"/>
              </a:ext>
            </a:extLst>
          </p:cNvPr>
          <p:cNvSpPr txBox="1"/>
          <p:nvPr userDrawn="1"/>
        </p:nvSpPr>
        <p:spPr>
          <a:xfrm>
            <a:off x="10479024" y="6518910"/>
            <a:ext cx="939800" cy="230832"/>
          </a:xfrm>
          <a:prstGeom prst="rect">
            <a:avLst/>
          </a:prstGeom>
          <a:noFill/>
        </p:spPr>
        <p:txBody>
          <a:bodyPr wrap="square" rtlCol="0" anchor="b" anchorCtr="0">
            <a:spAutoFit/>
          </a:bodyPr>
          <a:lstStyle/>
          <a:p>
            <a:pPr algn="r"/>
            <a:fld id="{F06FB3C0-A5EA-F449-A01C-F014E50C606E}" type="slidenum">
              <a:rPr lang="en-US" sz="900" smtClean="0">
                <a:solidFill>
                  <a:schemeClr val="bg1"/>
                </a:solidFill>
              </a:rPr>
              <a:pPr algn="r"/>
              <a:t>‹#›</a:t>
            </a:fld>
            <a:endParaRPr lang="en-US" sz="900" dirty="0">
              <a:solidFill>
                <a:schemeClr val="bg1"/>
              </a:solidFill>
            </a:endParaRPr>
          </a:p>
        </p:txBody>
      </p:sp>
      <p:sp>
        <p:nvSpPr>
          <p:cNvPr id="14" name="Rectangle 13">
            <a:extLst>
              <a:ext uri="{FF2B5EF4-FFF2-40B4-BE49-F238E27FC236}">
                <a16:creationId xmlns:a16="http://schemas.microsoft.com/office/drawing/2014/main" id="{1CBF599C-4D8A-6245-82D4-207B0EAD65F2}"/>
              </a:ext>
            </a:extLst>
          </p:cNvPr>
          <p:cNvSpPr/>
          <p:nvPr userDrawn="1"/>
        </p:nvSpPr>
        <p:spPr>
          <a:xfrm>
            <a:off x="5884784" y="3140568"/>
            <a:ext cx="393192" cy="4571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0" name="Text Placeholder 5">
            <a:extLst>
              <a:ext uri="{FF2B5EF4-FFF2-40B4-BE49-F238E27FC236}">
                <a16:creationId xmlns:a16="http://schemas.microsoft.com/office/drawing/2014/main" id="{553FD04A-276A-134D-A345-C805A3850431}"/>
              </a:ext>
            </a:extLst>
          </p:cNvPr>
          <p:cNvSpPr>
            <a:spLocks noGrp="1"/>
          </p:cNvSpPr>
          <p:nvPr>
            <p:ph type="body" sz="quarter" idx="12" hasCustomPrompt="1"/>
          </p:nvPr>
        </p:nvSpPr>
        <p:spPr>
          <a:xfrm>
            <a:off x="1282890" y="6411595"/>
            <a:ext cx="9189720" cy="331912"/>
          </a:xfrm>
          <a:prstGeom prst="rect">
            <a:avLst/>
          </a:prstGeom>
        </p:spPr>
        <p:txBody>
          <a:bodyPr anchor="b" anchorCtr="0"/>
          <a:lstStyle>
            <a:lvl1pPr marL="0" indent="0">
              <a:buNone/>
              <a:defRPr sz="900">
                <a:solidFill>
                  <a:schemeClr val="bg1"/>
                </a:solidFill>
              </a:defRPr>
            </a:lvl1pPr>
          </a:lstStyle>
          <a:p>
            <a:pPr lvl="0"/>
            <a:r>
              <a:rPr lang="en-US" dirty="0"/>
              <a:t>Sources</a:t>
            </a:r>
          </a:p>
        </p:txBody>
      </p:sp>
      <p:sp>
        <p:nvSpPr>
          <p:cNvPr id="12" name="Text Placeholder 24">
            <a:extLst>
              <a:ext uri="{FF2B5EF4-FFF2-40B4-BE49-F238E27FC236}">
                <a16:creationId xmlns:a16="http://schemas.microsoft.com/office/drawing/2014/main" id="{26047E0E-E696-C948-9485-C5617023DD0D}"/>
              </a:ext>
            </a:extLst>
          </p:cNvPr>
          <p:cNvSpPr>
            <a:spLocks noGrp="1"/>
          </p:cNvSpPr>
          <p:nvPr>
            <p:ph type="body" sz="quarter" idx="10" hasCustomPrompt="1"/>
          </p:nvPr>
        </p:nvSpPr>
        <p:spPr>
          <a:xfrm>
            <a:off x="1" y="3949113"/>
            <a:ext cx="12191998" cy="393192"/>
          </a:xfrm>
          <a:prstGeom prst="rect">
            <a:avLst/>
          </a:prstGeom>
        </p:spPr>
        <p:txBody>
          <a:bodyPr lIns="0" tIns="0" rIns="0" bIns="0" anchor="t" anchorCtr="0">
            <a:noAutofit/>
          </a:bodyPr>
          <a:lstStyle>
            <a:lvl1pPr marL="0" indent="0" algn="ctr">
              <a:buNone/>
              <a:defRPr sz="1800">
                <a:solidFill>
                  <a:schemeClr val="bg1"/>
                </a:solidFill>
              </a:defRPr>
            </a:lvl1pPr>
          </a:lstStyle>
          <a:p>
            <a:pPr lvl="0"/>
            <a:r>
              <a:rPr lang="en-US" dirty="0"/>
              <a:t>Event Name</a:t>
            </a:r>
          </a:p>
        </p:txBody>
      </p:sp>
      <p:sp>
        <p:nvSpPr>
          <p:cNvPr id="13" name="Text Placeholder 27">
            <a:extLst>
              <a:ext uri="{FF2B5EF4-FFF2-40B4-BE49-F238E27FC236}">
                <a16:creationId xmlns:a16="http://schemas.microsoft.com/office/drawing/2014/main" id="{5246B857-A90F-DE4E-B81A-E1AFFD8E6372}"/>
              </a:ext>
            </a:extLst>
          </p:cNvPr>
          <p:cNvSpPr>
            <a:spLocks noGrp="1"/>
          </p:cNvSpPr>
          <p:nvPr>
            <p:ph type="body" sz="quarter" idx="11" hasCustomPrompt="1"/>
          </p:nvPr>
        </p:nvSpPr>
        <p:spPr>
          <a:xfrm>
            <a:off x="1" y="4338271"/>
            <a:ext cx="12191998" cy="392133"/>
          </a:xfrm>
          <a:prstGeom prst="rect">
            <a:avLst/>
          </a:prstGeom>
        </p:spPr>
        <p:txBody>
          <a:bodyPr lIns="0" tIns="0" rIns="0" bIns="0" anchor="t" anchorCtr="0"/>
          <a:lstStyle>
            <a:lvl1pPr marL="0" indent="0" algn="ctr">
              <a:buNone/>
              <a:defRPr sz="1800">
                <a:solidFill>
                  <a:schemeClr val="bg1"/>
                </a:solidFill>
              </a:defRPr>
            </a:lvl1pPr>
          </a:lstStyle>
          <a:p>
            <a:pPr lvl="0"/>
            <a:r>
              <a:rPr lang="en-US" dirty="0"/>
              <a:t>Date</a:t>
            </a:r>
          </a:p>
        </p:txBody>
      </p:sp>
      <p:sp>
        <p:nvSpPr>
          <p:cNvPr id="19" name="Subtitle 2">
            <a:extLst>
              <a:ext uri="{FF2B5EF4-FFF2-40B4-BE49-F238E27FC236}">
                <a16:creationId xmlns:a16="http://schemas.microsoft.com/office/drawing/2014/main" id="{E6C0EF61-DEB4-D844-8333-A42353B1FCF8}"/>
              </a:ext>
            </a:extLst>
          </p:cNvPr>
          <p:cNvSpPr>
            <a:spLocks noGrp="1"/>
          </p:cNvSpPr>
          <p:nvPr>
            <p:ph type="subTitle" idx="1" hasCustomPrompt="1"/>
          </p:nvPr>
        </p:nvSpPr>
        <p:spPr>
          <a:xfrm>
            <a:off x="0" y="3462977"/>
            <a:ext cx="12191999" cy="393192"/>
          </a:xfrm>
          <a:prstGeom prst="rect">
            <a:avLst/>
          </a:prstGeom>
        </p:spPr>
        <p:txBody>
          <a:bodyPr lIns="0" tIns="0" rIns="0" bIns="0" anchor="t" anchorCtr="0">
            <a:noAutofit/>
          </a:bodyPr>
          <a:lstStyle>
            <a:lvl1pPr marL="0" indent="0" algn="ctr">
              <a:buNone/>
              <a:defRPr sz="2400">
                <a:solidFill>
                  <a:schemeClr val="bg1"/>
                </a:solidFill>
              </a:defRPr>
            </a:lvl1pPr>
            <a:lvl2pPr marL="342892" indent="0" algn="ctr">
              <a:buNone/>
              <a:defRPr>
                <a:solidFill>
                  <a:schemeClr val="tx1">
                    <a:tint val="75000"/>
                  </a:schemeClr>
                </a:solidFill>
              </a:defRPr>
            </a:lvl2pPr>
            <a:lvl3pPr marL="685783" indent="0" algn="ctr">
              <a:buNone/>
              <a:defRPr>
                <a:solidFill>
                  <a:schemeClr val="tx1">
                    <a:tint val="75000"/>
                  </a:schemeClr>
                </a:solidFill>
              </a:defRPr>
            </a:lvl3pPr>
            <a:lvl4pPr marL="1028675"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8" indent="0" algn="ctr">
              <a:buNone/>
              <a:defRPr>
                <a:solidFill>
                  <a:schemeClr val="tx1">
                    <a:tint val="75000"/>
                  </a:schemeClr>
                </a:solidFill>
              </a:defRPr>
            </a:lvl7pPr>
            <a:lvl8pPr marL="2400240" indent="0" algn="ctr">
              <a:buNone/>
              <a:defRPr>
                <a:solidFill>
                  <a:schemeClr val="tx1">
                    <a:tint val="75000"/>
                  </a:schemeClr>
                </a:solidFill>
              </a:defRPr>
            </a:lvl8pPr>
            <a:lvl9pPr marL="2743132" indent="0" algn="ctr">
              <a:buNone/>
              <a:defRPr>
                <a:solidFill>
                  <a:schemeClr val="tx1">
                    <a:tint val="75000"/>
                  </a:schemeClr>
                </a:solidFill>
              </a:defRPr>
            </a:lvl9pPr>
          </a:lstStyle>
          <a:p>
            <a:r>
              <a:rPr lang="en-US" dirty="0"/>
              <a:t>Speaker Name</a:t>
            </a:r>
          </a:p>
        </p:txBody>
      </p:sp>
      <p:sp>
        <p:nvSpPr>
          <p:cNvPr id="21" name="Title 1">
            <a:extLst>
              <a:ext uri="{FF2B5EF4-FFF2-40B4-BE49-F238E27FC236}">
                <a16:creationId xmlns:a16="http://schemas.microsoft.com/office/drawing/2014/main" id="{677EFD14-E3DF-8748-8BD8-C0F3C71E71CB}"/>
              </a:ext>
            </a:extLst>
          </p:cNvPr>
          <p:cNvSpPr>
            <a:spLocks noGrp="1"/>
          </p:cNvSpPr>
          <p:nvPr>
            <p:ph type="ctrTitle" hasCustomPrompt="1"/>
          </p:nvPr>
        </p:nvSpPr>
        <p:spPr>
          <a:xfrm>
            <a:off x="0" y="2401844"/>
            <a:ext cx="12192000" cy="393192"/>
          </a:xfrm>
          <a:prstGeom prst="rect">
            <a:avLst/>
          </a:prstGeom>
        </p:spPr>
        <p:txBody>
          <a:bodyPr lIns="0" tIns="0" rIns="0" bIns="0" anchor="b" anchorCtr="0"/>
          <a:lstStyle>
            <a:lvl1pPr>
              <a:defRPr sz="2800" b="1" cap="none" baseline="0">
                <a:solidFill>
                  <a:schemeClr val="bg1"/>
                </a:solidFill>
              </a:defRPr>
            </a:lvl1pPr>
          </a:lstStyle>
          <a:p>
            <a:r>
              <a:rPr lang="en-US" dirty="0"/>
              <a:t>Presentation Title</a:t>
            </a:r>
          </a:p>
        </p:txBody>
      </p:sp>
    </p:spTree>
    <p:extLst>
      <p:ext uri="{BB962C8B-B14F-4D97-AF65-F5344CB8AC3E}">
        <p14:creationId xmlns:p14="http://schemas.microsoft.com/office/powerpoint/2010/main" val="997531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ags" Target="../tags/tag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emf"/><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oleObject" Target="../embeddings/oleObject1.bin"/><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13E34EE-6173-5E4D-B6E3-920D87D55BD8}"/>
              </a:ext>
            </a:extLst>
          </p:cNvPr>
          <p:cNvGraphicFramePr>
            <a:graphicFrameLocks noChangeAspect="1"/>
          </p:cNvGraphicFramePr>
          <p:nvPr userDrawn="1">
            <p:custDataLst>
              <p:tags r:id="rId19"/>
            </p:custDataLst>
            <p:extLst>
              <p:ext uri="{D42A27DB-BD31-4B8C-83A1-F6EECF244321}">
                <p14:modId xmlns:p14="http://schemas.microsoft.com/office/powerpoint/2010/main" val="8107330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0" imgW="7772400" imgH="10058400" progId="TCLayout.ActiveDocument.1">
                  <p:embed/>
                </p:oleObj>
              </mc:Choice>
              <mc:Fallback>
                <p:oleObj name="think-cell Slide" r:id="rId20" imgW="7772400" imgH="10058400" progId="TCLayout.ActiveDocument.1">
                  <p:embed/>
                  <p:pic>
                    <p:nvPicPr>
                      <p:cNvPr id="0" name=""/>
                      <p:cNvPicPr/>
                      <p:nvPr/>
                    </p:nvPicPr>
                    <p:blipFill>
                      <a:blip r:embed="rId21"/>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F091500-B83E-45F6-9EA0-463A83A858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556EB0-F9F7-48EA-A948-7AFB8B0F36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98D0-C6B4-42DA-A4F5-EF094AF74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4EB739-4263-4677-B825-EF5290655293}" type="datetime1">
              <a:rPr lang="en-US" smtClean="0"/>
              <a:t>9/10/2026</a:t>
            </a:fld>
            <a:endParaRPr lang="en-US" dirty="0"/>
          </a:p>
        </p:txBody>
      </p:sp>
      <p:sp>
        <p:nvSpPr>
          <p:cNvPr id="5" name="Footer Placeholder 4">
            <a:extLst>
              <a:ext uri="{FF2B5EF4-FFF2-40B4-BE49-F238E27FC236}">
                <a16:creationId xmlns:a16="http://schemas.microsoft.com/office/drawing/2014/main" id="{D2CB0ACC-624C-44FE-9B7C-71F700FB9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7290F1D-4E73-42FD-8B7B-CCA159CDCD81}"/>
              </a:ext>
            </a:extLst>
          </p:cNvPr>
          <p:cNvSpPr>
            <a:spLocks noGrp="1"/>
          </p:cNvSpPr>
          <p:nvPr>
            <p:ph type="sldNum" sz="quarter" idx="4"/>
          </p:nvPr>
        </p:nvSpPr>
        <p:spPr>
          <a:xfrm>
            <a:off x="9283931" y="599440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DB0E62-2E6A-4D80-A426-E94CA1197D32}" type="slidenum">
              <a:rPr lang="en-US" smtClean="0"/>
              <a:t>‹#›</a:t>
            </a:fld>
            <a:endParaRPr lang="en-US" dirty="0"/>
          </a:p>
        </p:txBody>
      </p:sp>
    </p:spTree>
    <p:extLst>
      <p:ext uri="{BB962C8B-B14F-4D97-AF65-F5344CB8AC3E}">
        <p14:creationId xmlns:p14="http://schemas.microsoft.com/office/powerpoint/2010/main" val="350933580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705" r:id="rId17"/>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013E34EE-6173-5E4D-B6E3-920D87D55BD8}"/>
              </a:ext>
            </a:extLst>
          </p:cNvPr>
          <p:cNvGraphicFramePr>
            <a:graphicFrameLocks noChangeAspect="1"/>
          </p:cNvGraphicFramePr>
          <p:nvPr userDrawn="1">
            <p:custDataLst>
              <p:tags r:id="rId18"/>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8" name="Object 7" hidden="1">
                        <a:extLst>
                          <a:ext uri="{FF2B5EF4-FFF2-40B4-BE49-F238E27FC236}">
                            <a16:creationId xmlns:a16="http://schemas.microsoft.com/office/drawing/2014/main" id="{013E34EE-6173-5E4D-B6E3-920D87D55BD8}"/>
                          </a:ext>
                        </a:extLst>
                      </p:cNvPr>
                      <p:cNvPicPr/>
                      <p:nvPr/>
                    </p:nvPicPr>
                    <p:blipFill>
                      <a:blip r:embed="rId20"/>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F091500-B83E-45F6-9EA0-463A83A858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556EB0-F9F7-48EA-A948-7AFB8B0F36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98D0-C6B4-42DA-A4F5-EF094AF74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C9E8D-A74F-4D5D-9B0B-11C8E5E68FAA}" type="datetime1">
              <a:rPr lang="en-US" smtClean="0"/>
              <a:t>9/10/2026</a:t>
            </a:fld>
            <a:endParaRPr lang="en-US" dirty="0"/>
          </a:p>
        </p:txBody>
      </p:sp>
      <p:sp>
        <p:nvSpPr>
          <p:cNvPr id="5" name="Footer Placeholder 4">
            <a:extLst>
              <a:ext uri="{FF2B5EF4-FFF2-40B4-BE49-F238E27FC236}">
                <a16:creationId xmlns:a16="http://schemas.microsoft.com/office/drawing/2014/main" id="{D2CB0ACC-624C-44FE-9B7C-71F700FB9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7290F1D-4E73-42FD-8B7B-CCA159CDCD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DB0E62-2E6A-4D80-A426-E94CA1197D32}" type="slidenum">
              <a:rPr lang="en-US" smtClean="0"/>
              <a:t>‹#›</a:t>
            </a:fld>
            <a:endParaRPr lang="en-US" dirty="0"/>
          </a:p>
        </p:txBody>
      </p:sp>
    </p:spTree>
    <p:extLst>
      <p:ext uri="{BB962C8B-B14F-4D97-AF65-F5344CB8AC3E}">
        <p14:creationId xmlns:p14="http://schemas.microsoft.com/office/powerpoint/2010/main" val="122305527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1.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5.jpeg"/><Relationship Id="rId11" Type="http://schemas.microsoft.com/office/2007/relationships/hdphoto" Target="../media/hdphoto1.wdp"/><Relationship Id="rId5" Type="http://schemas.openxmlformats.org/officeDocument/2006/relationships/image" Target="../media/image14.jpeg"/><Relationship Id="rId10" Type="http://schemas.openxmlformats.org/officeDocument/2006/relationships/image" Target="../media/image19.png"/><Relationship Id="rId4" Type="http://schemas.openxmlformats.org/officeDocument/2006/relationships/image" Target="../media/image13.jpeg"/><Relationship Id="rId9" Type="http://schemas.openxmlformats.org/officeDocument/2006/relationships/image" Target="../media/image18.jpeg"/></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3.xml"/><Relationship Id="rId4" Type="http://schemas.openxmlformats.org/officeDocument/2006/relationships/image" Target="../media/image24.jpeg"/></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5.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www.dominionenergy.com/-/media/content/about/power-line-projects/bristers-ladysmith/pdfs/scc/applicationbristersladysmithappendix-iaiib5.pdf" TargetMode="External"/><Relationship Id="rId5" Type="http://schemas.openxmlformats.org/officeDocument/2006/relationships/hyperlink" Target="https://www.pjm.com/pjmfiles/pub/planning/project-queues/Cluster-Reports/TC1/TC1_PH1_Executive_Summary.htm" TargetMode="External"/><Relationship Id="rId4" Type="http://schemas.openxmlformats.org/officeDocument/2006/relationships/image" Target="../media/image37.png"/><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svg"/></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10.xml.rels><?xml version="1.0" encoding="UTF-8" standalone="yes"?>
<Relationships xmlns="http://schemas.openxmlformats.org/package/2006/relationships"><Relationship Id="rId8" Type="http://schemas.openxmlformats.org/officeDocument/2006/relationships/image" Target="../media/image65.gif"/><Relationship Id="rId3" Type="http://schemas.openxmlformats.org/officeDocument/2006/relationships/image" Target="../media/image61.gif"/><Relationship Id="rId7" Type="http://schemas.openxmlformats.org/officeDocument/2006/relationships/image" Target="../media/image64.gif"/><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63.gif"/><Relationship Id="rId5" Type="http://schemas.microsoft.com/office/2007/relationships/hdphoto" Target="../media/hdphoto2.wdp"/><Relationship Id="rId4" Type="http://schemas.openxmlformats.org/officeDocument/2006/relationships/image" Target="../media/image62.png"/><Relationship Id="rId9" Type="http://schemas.openxmlformats.org/officeDocument/2006/relationships/image" Target="../media/image66.gif"/></Relationships>
</file>

<file path=ppt/slides/_rels/slide1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69.png"/></Relationships>
</file>

<file path=ppt/slides/_rels/slide12.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3.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62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37D4DC-1D46-1060-C8D9-0E8BD5AAEEA1}"/>
              </a:ext>
            </a:extLst>
          </p:cNvPr>
          <p:cNvSpPr/>
          <p:nvPr/>
        </p:nvSpPr>
        <p:spPr>
          <a:xfrm>
            <a:off x="6259" y="1497110"/>
            <a:ext cx="12191999" cy="3442447"/>
          </a:xfrm>
          <a:prstGeom prst="rect">
            <a:avLst/>
          </a:prstGeom>
          <a:solidFill>
            <a:schemeClr val="tx1">
              <a:lumMod val="65000"/>
              <a:lumOff val="35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Subtitle 3">
            <a:extLst>
              <a:ext uri="{FF2B5EF4-FFF2-40B4-BE49-F238E27FC236}">
                <a16:creationId xmlns:a16="http://schemas.microsoft.com/office/drawing/2014/main" id="{FAE08D61-323F-C9F0-8047-604BD095510C}"/>
              </a:ext>
            </a:extLst>
          </p:cNvPr>
          <p:cNvSpPr txBox="1">
            <a:spLocks/>
          </p:cNvSpPr>
          <p:nvPr/>
        </p:nvSpPr>
        <p:spPr>
          <a:xfrm>
            <a:off x="2483223" y="3368079"/>
            <a:ext cx="7225554" cy="13383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buNone/>
              <a:defRPr/>
            </a:pPr>
            <a:r>
              <a:rPr lang="en-US" sz="1800" dirty="0">
                <a:solidFill>
                  <a:srgbClr val="E7E6E6"/>
                </a:solidFill>
              </a:rPr>
              <a:t>Thomas Lee</a:t>
            </a:r>
            <a:r>
              <a:rPr lang="en-US" sz="1800" baseline="30000" dirty="0">
                <a:solidFill>
                  <a:srgbClr val="E7E6E6"/>
                </a:solidFill>
              </a:rPr>
              <a:t>1</a:t>
            </a:r>
            <a:r>
              <a:rPr lang="en-US" sz="1800" dirty="0">
                <a:solidFill>
                  <a:srgbClr val="E7E6E6"/>
                </a:solidFill>
              </a:rPr>
              <a:t>, Andy Sun</a:t>
            </a:r>
            <a:r>
              <a:rPr lang="en-US" sz="1800" baseline="30000" dirty="0">
                <a:solidFill>
                  <a:srgbClr val="E7E6E6"/>
                </a:solidFill>
              </a:rPr>
              <a:t>2</a:t>
            </a:r>
            <a:br>
              <a:rPr lang="en-US" sz="1500" dirty="0">
                <a:solidFill>
                  <a:srgbClr val="E7E6E6"/>
                </a:solidFill>
              </a:rPr>
            </a:br>
            <a:r>
              <a:rPr lang="en-US" sz="1200" baseline="30000" dirty="0">
                <a:solidFill>
                  <a:srgbClr val="E7E6E6"/>
                </a:solidFill>
              </a:rPr>
              <a:t>1</a:t>
            </a:r>
            <a:r>
              <a:rPr lang="en-US" sz="1200" dirty="0">
                <a:solidFill>
                  <a:srgbClr val="E7E6E6"/>
                </a:solidFill>
              </a:rPr>
              <a:t>Institute for Data, Systems, and Society, MIT</a:t>
            </a:r>
          </a:p>
          <a:p>
            <a:pPr marL="0" indent="0" algn="ctr">
              <a:spcBef>
                <a:spcPct val="0"/>
              </a:spcBef>
              <a:buNone/>
              <a:defRPr/>
            </a:pPr>
            <a:r>
              <a:rPr lang="en-US" sz="1200" baseline="30000" dirty="0">
                <a:solidFill>
                  <a:srgbClr val="E7E6E6"/>
                </a:solidFill>
              </a:rPr>
              <a:t>2</a:t>
            </a:r>
            <a:r>
              <a:rPr lang="en-US" sz="1200" dirty="0">
                <a:solidFill>
                  <a:srgbClr val="E7E6E6"/>
                </a:solidFill>
              </a:rPr>
              <a:t>Sloan School of Management, Operations Research Center, MIT</a:t>
            </a:r>
          </a:p>
          <a:p>
            <a:pPr marL="0" indent="0" algn="ctr">
              <a:spcBef>
                <a:spcPct val="0"/>
              </a:spcBef>
              <a:buNone/>
              <a:defRPr/>
            </a:pPr>
            <a:br>
              <a:rPr lang="en-US" sz="1200" dirty="0">
                <a:solidFill>
                  <a:srgbClr val="E7E6E6"/>
                </a:solidFill>
              </a:rPr>
            </a:br>
            <a:r>
              <a:rPr lang="en-US" sz="1200" dirty="0">
                <a:solidFill>
                  <a:srgbClr val="E7E6E6"/>
                </a:solidFill>
              </a:rPr>
              <a:t>t_lee@mit.edu</a:t>
            </a:r>
            <a:br>
              <a:rPr lang="en-US" sz="1200" dirty="0">
                <a:solidFill>
                  <a:srgbClr val="E7E6E6"/>
                </a:solidFill>
              </a:rPr>
            </a:br>
            <a:r>
              <a:rPr lang="en-US" sz="1200" dirty="0">
                <a:solidFill>
                  <a:srgbClr val="E7E6E6"/>
                </a:solidFill>
              </a:rPr>
              <a:t>Sep. 11, 2026</a:t>
            </a:r>
            <a:br>
              <a:rPr lang="en-US" sz="1200" dirty="0">
                <a:solidFill>
                  <a:srgbClr val="E7E6E6"/>
                </a:solidFill>
              </a:rPr>
            </a:br>
            <a:r>
              <a:rPr lang="en-US" sz="1200" dirty="0">
                <a:solidFill>
                  <a:srgbClr val="E7E6E6"/>
                </a:solidFill>
              </a:rPr>
              <a:t>PowerUp 2026 Conference: Planning Under Uncertainty Workshop</a:t>
            </a:r>
          </a:p>
        </p:txBody>
      </p:sp>
      <p:sp>
        <p:nvSpPr>
          <p:cNvPr id="4" name="Title 2">
            <a:extLst>
              <a:ext uri="{FF2B5EF4-FFF2-40B4-BE49-F238E27FC236}">
                <a16:creationId xmlns:a16="http://schemas.microsoft.com/office/drawing/2014/main" id="{3A1B62B2-6966-BC4F-6437-DF9D5AD040C2}"/>
              </a:ext>
            </a:extLst>
          </p:cNvPr>
          <p:cNvSpPr txBox="1">
            <a:spLocks/>
          </p:cNvSpPr>
          <p:nvPr/>
        </p:nvSpPr>
        <p:spPr>
          <a:xfrm>
            <a:off x="817840" y="1855697"/>
            <a:ext cx="10556320" cy="1147483"/>
          </a:xfrm>
          <a:prstGeom prst="rect">
            <a:avLst/>
          </a:prstGeom>
          <a:noFill/>
        </p:spPr>
        <p:txBody>
          <a:bodyPr vert="horz" lIns="0" tIns="0" rIns="0" bIns="0" rtlCol="0" anchor="b" anchorCtr="0">
            <a:noAutofit/>
          </a:bodyPr>
          <a:lstStyle>
            <a:lvl1pPr algn="ctr" defTabSz="914400" rtl="0" eaLnBrk="1" latinLnBrk="0" hangingPunct="1">
              <a:lnSpc>
                <a:spcPct val="100000"/>
              </a:lnSpc>
              <a:spcBef>
                <a:spcPct val="0"/>
              </a:spcBef>
              <a:buNone/>
              <a:defRPr sz="3400" b="1" i="0" kern="1200" baseline="0">
                <a:solidFill>
                  <a:schemeClr val="tx2"/>
                </a:solidFill>
                <a:latin typeface="Arial" panose="020B0604020202020204" pitchFamily="34" charset="0"/>
                <a:ea typeface="+mj-ea"/>
                <a:cs typeface="+mj-cs"/>
              </a:defRPr>
            </a:lvl1pPr>
          </a:lstStyle>
          <a:p>
            <a:pPr lvl="0">
              <a:defRPr/>
            </a:pPr>
            <a:r>
              <a:rPr kumimoji="0" lang="en-US" sz="4000" b="1" i="0" u="none" strike="noStrike" kern="1200" cap="none" spc="0" normalizeH="0" baseline="0" noProof="0" dirty="0">
                <a:ln>
                  <a:noFill/>
                </a:ln>
                <a:solidFill>
                  <a:srgbClr val="E7E6E6"/>
                </a:solidFill>
                <a:effectLst/>
                <a:uLnTx/>
                <a:uFillTx/>
                <a:latin typeface="Arial" panose="020B0604020202020204" pitchFamily="34" charset="0"/>
                <a:ea typeface="+mj-ea"/>
                <a:cs typeface="+mj-cs"/>
              </a:rPr>
              <a:t>Contingencies are the </a:t>
            </a:r>
            <a:r>
              <a:rPr kumimoji="0" lang="en-US" sz="4000" b="1" u="none" strike="noStrike" kern="1200" cap="none" spc="0" normalizeH="0" baseline="0" noProof="0" dirty="0">
                <a:ln>
                  <a:noFill/>
                </a:ln>
                <a:solidFill>
                  <a:srgbClr val="E7E6E6"/>
                </a:solidFill>
                <a:effectLst/>
                <a:uLnTx/>
                <a:uFillTx/>
                <a:latin typeface="Arial" panose="020B0604020202020204" pitchFamily="34" charset="0"/>
                <a:ea typeface="+mj-ea"/>
                <a:cs typeface="+mj-cs"/>
              </a:rPr>
              <a:t>Heart</a:t>
            </a:r>
            <a:br>
              <a:rPr kumimoji="0" lang="en-US" sz="4000" b="1" i="0" u="none" strike="noStrike" kern="1200" cap="none" spc="0" normalizeH="0" baseline="0" noProof="0" dirty="0">
                <a:ln>
                  <a:noFill/>
                </a:ln>
                <a:solidFill>
                  <a:srgbClr val="E7E6E6"/>
                </a:solidFill>
                <a:effectLst/>
                <a:uLnTx/>
                <a:uFillTx/>
                <a:latin typeface="Arial" panose="020B0604020202020204" pitchFamily="34" charset="0"/>
                <a:ea typeface="+mj-ea"/>
                <a:cs typeface="+mj-cs"/>
              </a:rPr>
            </a:br>
            <a:r>
              <a:rPr kumimoji="0" lang="en-US" sz="4000" b="1" i="0" u="none" strike="noStrike" kern="1200" cap="none" spc="0" normalizeH="0" baseline="0" noProof="0" dirty="0">
                <a:ln>
                  <a:noFill/>
                </a:ln>
                <a:solidFill>
                  <a:srgbClr val="E7E6E6"/>
                </a:solidFill>
                <a:effectLst/>
                <a:uLnTx/>
                <a:uFillTx/>
                <a:latin typeface="Arial" panose="020B0604020202020204" pitchFamily="34" charset="0"/>
                <a:ea typeface="+mj-ea"/>
                <a:cs typeface="+mj-cs"/>
              </a:rPr>
              <a:t>of Transmission Constraints</a:t>
            </a:r>
          </a:p>
        </p:txBody>
      </p:sp>
    </p:spTree>
    <p:extLst>
      <p:ext uri="{BB962C8B-B14F-4D97-AF65-F5344CB8AC3E}">
        <p14:creationId xmlns:p14="http://schemas.microsoft.com/office/powerpoint/2010/main" val="2030236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DAE27-F1FD-6C66-F428-03B61CCB7BA1}"/>
            </a:ext>
          </a:extLst>
        </p:cNvPr>
        <p:cNvGrpSpPr/>
        <p:nvPr/>
      </p:nvGrpSpPr>
      <p:grpSpPr>
        <a:xfrm>
          <a:off x="0" y="0"/>
          <a:ext cx="0" cy="0"/>
          <a:chOff x="0" y="0"/>
          <a:chExt cx="0" cy="0"/>
        </a:xfrm>
      </p:grpSpPr>
      <p:sp>
        <p:nvSpPr>
          <p:cNvPr id="41" name="TextBox 40">
            <a:extLst>
              <a:ext uri="{FF2B5EF4-FFF2-40B4-BE49-F238E27FC236}">
                <a16:creationId xmlns:a16="http://schemas.microsoft.com/office/drawing/2014/main" id="{11ED45DD-44EB-7BA8-C0F7-C61CA10FCE68}"/>
              </a:ext>
            </a:extLst>
          </p:cNvPr>
          <p:cNvSpPr txBox="1"/>
          <p:nvPr/>
        </p:nvSpPr>
        <p:spPr>
          <a:xfrm>
            <a:off x="4981268" y="2924324"/>
            <a:ext cx="2119363" cy="400110"/>
          </a:xfrm>
          <a:prstGeom prst="rect">
            <a:avLst/>
          </a:prstGeom>
          <a:noFill/>
        </p:spPr>
        <p:txBody>
          <a:bodyPr wrap="none" rtlCol="0">
            <a:spAutoFit/>
          </a:bodyPr>
          <a:lstStyle/>
          <a:p>
            <a:r>
              <a:rPr lang="en-US" sz="2000" b="1" dirty="0">
                <a:solidFill>
                  <a:schemeClr val="accent1"/>
                </a:solidFill>
              </a:rPr>
              <a:t>Anything missing?</a:t>
            </a:r>
          </a:p>
        </p:txBody>
      </p:sp>
      <p:sp>
        <p:nvSpPr>
          <p:cNvPr id="11" name="Content Placeholder 2">
            <a:extLst>
              <a:ext uri="{FF2B5EF4-FFF2-40B4-BE49-F238E27FC236}">
                <a16:creationId xmlns:a16="http://schemas.microsoft.com/office/drawing/2014/main" id="{500F2977-555B-7564-B45E-3CF61868F423}"/>
              </a:ext>
            </a:extLst>
          </p:cNvPr>
          <p:cNvSpPr txBox="1">
            <a:spLocks/>
          </p:cNvSpPr>
          <p:nvPr/>
        </p:nvSpPr>
        <p:spPr>
          <a:xfrm>
            <a:off x="4417889" y="1807134"/>
            <a:ext cx="3246120" cy="2606040"/>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t>Transmission &amp; Distribution</a:t>
            </a:r>
          </a:p>
        </p:txBody>
      </p:sp>
      <p:sp>
        <p:nvSpPr>
          <p:cNvPr id="3" name="Rectangle 2">
            <a:extLst>
              <a:ext uri="{FF2B5EF4-FFF2-40B4-BE49-F238E27FC236}">
                <a16:creationId xmlns:a16="http://schemas.microsoft.com/office/drawing/2014/main" id="{710579D4-084C-A528-22A0-FF5E570DDE87}"/>
              </a:ext>
            </a:extLst>
          </p:cNvPr>
          <p:cNvSpPr/>
          <p:nvPr/>
        </p:nvSpPr>
        <p:spPr>
          <a:xfrm>
            <a:off x="422982" y="174467"/>
            <a:ext cx="10915669" cy="646331"/>
          </a:xfrm>
          <a:prstGeom prst="rect">
            <a:avLst/>
          </a:prstGeom>
        </p:spPr>
        <p:txBody>
          <a:bodyPr wrap="square" lIns="0">
            <a:spAutoFit/>
          </a:bodyPr>
          <a:lstStyle/>
          <a:p>
            <a:r>
              <a:rPr lang="en-US" sz="3600" dirty="0"/>
              <a:t>Some types of operational uncertainty in power systems</a:t>
            </a:r>
          </a:p>
        </p:txBody>
      </p:sp>
      <p:sp>
        <p:nvSpPr>
          <p:cNvPr id="9" name="Content Placeholder 2">
            <a:extLst>
              <a:ext uri="{FF2B5EF4-FFF2-40B4-BE49-F238E27FC236}">
                <a16:creationId xmlns:a16="http://schemas.microsoft.com/office/drawing/2014/main" id="{AEEBB496-8D4D-35E9-4CA6-A5653A54CE8D}"/>
              </a:ext>
            </a:extLst>
          </p:cNvPr>
          <p:cNvSpPr txBox="1">
            <a:spLocks/>
          </p:cNvSpPr>
          <p:nvPr/>
        </p:nvSpPr>
        <p:spPr>
          <a:xfrm>
            <a:off x="3283883" y="845631"/>
            <a:ext cx="5624233" cy="646331"/>
          </a:xfrm>
          <a:prstGeom prst="rect">
            <a:avLst/>
          </a:prstGeom>
          <a:solidFill>
            <a:schemeClr val="accent3">
              <a:lumMod val="20000"/>
              <a:lumOff val="80000"/>
            </a:schemeClr>
          </a:solidFill>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t>Terminology</a:t>
            </a:r>
            <a:r>
              <a:rPr lang="en-US" sz="1500" dirty="0"/>
              <a:t>: Variability, intermittency, uncertainty, etc. are related but distinct concepts. I will use “uncertainty” as a catch-all term here.</a:t>
            </a:r>
          </a:p>
        </p:txBody>
      </p:sp>
      <p:sp>
        <p:nvSpPr>
          <p:cNvPr id="10" name="Content Placeholder 2">
            <a:extLst>
              <a:ext uri="{FF2B5EF4-FFF2-40B4-BE49-F238E27FC236}">
                <a16:creationId xmlns:a16="http://schemas.microsoft.com/office/drawing/2014/main" id="{6ED71A21-4A07-2712-C20E-21A1B82D67BE}"/>
              </a:ext>
            </a:extLst>
          </p:cNvPr>
          <p:cNvSpPr txBox="1">
            <a:spLocks/>
          </p:cNvSpPr>
          <p:nvPr/>
        </p:nvSpPr>
        <p:spPr>
          <a:xfrm>
            <a:off x="422981" y="1807137"/>
            <a:ext cx="3246120" cy="2606040"/>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t>Supply</a:t>
            </a:r>
          </a:p>
        </p:txBody>
      </p:sp>
      <p:sp>
        <p:nvSpPr>
          <p:cNvPr id="12" name="Content Placeholder 2">
            <a:extLst>
              <a:ext uri="{FF2B5EF4-FFF2-40B4-BE49-F238E27FC236}">
                <a16:creationId xmlns:a16="http://schemas.microsoft.com/office/drawing/2014/main" id="{28C4D5AA-6762-15FC-AAE7-5606EE20B2C1}"/>
              </a:ext>
            </a:extLst>
          </p:cNvPr>
          <p:cNvSpPr txBox="1">
            <a:spLocks/>
          </p:cNvSpPr>
          <p:nvPr/>
        </p:nvSpPr>
        <p:spPr>
          <a:xfrm>
            <a:off x="8412797" y="1787092"/>
            <a:ext cx="3246120" cy="2606040"/>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t>Demand</a:t>
            </a:r>
          </a:p>
        </p:txBody>
      </p:sp>
      <p:sp>
        <p:nvSpPr>
          <p:cNvPr id="13" name="AutoShape 2" descr="Fundamentals of Wind Turbines | Wind Systems Magazine">
            <a:extLst>
              <a:ext uri="{FF2B5EF4-FFF2-40B4-BE49-F238E27FC236}">
                <a16:creationId xmlns:a16="http://schemas.microsoft.com/office/drawing/2014/main" id="{C807637B-DEE4-5D7F-AA73-A2E17E31CD91}"/>
              </a:ext>
            </a:extLst>
          </p:cNvPr>
          <p:cNvSpPr>
            <a:spLocks noChangeAspect="1" noChangeArrowheads="1"/>
          </p:cNvSpPr>
          <p:nvPr/>
        </p:nvSpPr>
        <p:spPr bwMode="auto">
          <a:xfrm>
            <a:off x="5943600" y="315529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4" descr="Fundamentals of Wind Turbines | Wind Systems Magazine">
            <a:extLst>
              <a:ext uri="{FF2B5EF4-FFF2-40B4-BE49-F238E27FC236}">
                <a16:creationId xmlns:a16="http://schemas.microsoft.com/office/drawing/2014/main" id="{F774D5A0-56A4-FD20-CE23-56F456A8E8E8}"/>
              </a:ext>
            </a:extLst>
          </p:cNvPr>
          <p:cNvSpPr>
            <a:spLocks noChangeAspect="1" noChangeArrowheads="1"/>
          </p:cNvSpPr>
          <p:nvPr/>
        </p:nvSpPr>
        <p:spPr bwMode="auto">
          <a:xfrm>
            <a:off x="6096000" y="330769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Peach Bottom Clean Energy Center | Constellation Energy Locations">
            <a:extLst>
              <a:ext uri="{FF2B5EF4-FFF2-40B4-BE49-F238E27FC236}">
                <a16:creationId xmlns:a16="http://schemas.microsoft.com/office/drawing/2014/main" id="{0FF819C3-DC71-DD80-260B-CDD77B587D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97"/>
          <a:stretch>
            <a:fillRect/>
          </a:stretch>
        </p:blipFill>
        <p:spPr bwMode="auto">
          <a:xfrm>
            <a:off x="708760" y="3280391"/>
            <a:ext cx="1292480" cy="95678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eattle City Light - Boundary Dam">
            <a:extLst>
              <a:ext uri="{FF2B5EF4-FFF2-40B4-BE49-F238E27FC236}">
                <a16:creationId xmlns:a16="http://schemas.microsoft.com/office/drawing/2014/main" id="{AC94A715-016F-55D8-EC52-C60BD590B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5901" y="2274291"/>
            <a:ext cx="1282397" cy="961797"/>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Delivering 765kV Construction and EPC Project Success in Ohio / MYR Group">
            <a:extLst>
              <a:ext uri="{FF2B5EF4-FFF2-40B4-BE49-F238E27FC236}">
                <a16:creationId xmlns:a16="http://schemas.microsoft.com/office/drawing/2014/main" id="{40132281-5674-AFC8-89C9-FD9335AD6D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1747" y="2652731"/>
            <a:ext cx="1438779" cy="87321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What is a Substation? Types, Benefits &amp; More | MTAEE">
            <a:extLst>
              <a:ext uri="{FF2B5EF4-FFF2-40B4-BE49-F238E27FC236}">
                <a16:creationId xmlns:a16="http://schemas.microsoft.com/office/drawing/2014/main" id="{87928F45-4A86-BA77-E449-EF1076D33A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2356" y="2652732"/>
            <a:ext cx="1309164" cy="873212"/>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Satellite reveals new views of earth at night">
            <a:extLst>
              <a:ext uri="{FF2B5EF4-FFF2-40B4-BE49-F238E27FC236}">
                <a16:creationId xmlns:a16="http://schemas.microsoft.com/office/drawing/2014/main" id="{2251CA3D-C6A4-23F2-A479-C6EBCE0103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29480" y="2344766"/>
            <a:ext cx="1358191" cy="905913"/>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Infrastructure for Electric Vehicles Charging in Greensboro">
            <a:extLst>
              <a:ext uri="{FF2B5EF4-FFF2-40B4-BE49-F238E27FC236}">
                <a16:creationId xmlns:a16="http://schemas.microsoft.com/office/drawing/2014/main" id="{261DDC74-2658-85DD-F0FF-097B3CF6727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10458"/>
          <a:stretch>
            <a:fillRect/>
          </a:stretch>
        </p:blipFill>
        <p:spPr bwMode="auto">
          <a:xfrm>
            <a:off x="8629495" y="3337137"/>
            <a:ext cx="1358176" cy="853202"/>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Microsoft plans $80B for data centers as power constraints loom | Latitude  Media">
            <a:extLst>
              <a:ext uri="{FF2B5EF4-FFF2-40B4-BE49-F238E27FC236}">
                <a16:creationId xmlns:a16="http://schemas.microsoft.com/office/drawing/2014/main" id="{F561544B-E118-68DF-9D0D-0436E1A0A94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2906" b="2910"/>
          <a:stretch>
            <a:fillRect/>
          </a:stretch>
        </p:blipFill>
        <p:spPr bwMode="auto">
          <a:xfrm>
            <a:off x="10069963" y="3337137"/>
            <a:ext cx="1358176" cy="853202"/>
          </a:xfrm>
          <a:prstGeom prst="rect">
            <a:avLst/>
          </a:prstGeom>
          <a:noFill/>
          <a:extLst>
            <a:ext uri="{909E8E84-426E-40DD-AFC4-6F175D3DCCD1}">
              <a14:hiddenFill xmlns:a14="http://schemas.microsoft.com/office/drawing/2010/main">
                <a:solidFill>
                  <a:srgbClr val="FFFFFF"/>
                </a:solidFill>
              </a14:hiddenFill>
            </a:ext>
          </a:extLst>
        </p:spPr>
      </p:pic>
      <p:sp>
        <p:nvSpPr>
          <p:cNvPr id="21" name="Arrow: Right 20">
            <a:extLst>
              <a:ext uri="{FF2B5EF4-FFF2-40B4-BE49-F238E27FC236}">
                <a16:creationId xmlns:a16="http://schemas.microsoft.com/office/drawing/2014/main" id="{C3CE5E6B-A8A4-699C-C903-DF5C5878D630}"/>
              </a:ext>
            </a:extLst>
          </p:cNvPr>
          <p:cNvSpPr/>
          <p:nvPr/>
        </p:nvSpPr>
        <p:spPr>
          <a:xfrm>
            <a:off x="3666565" y="2879313"/>
            <a:ext cx="731520" cy="461682"/>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63FE34EB-7856-888D-7EEE-3C68391DAC35}"/>
              </a:ext>
            </a:extLst>
          </p:cNvPr>
          <p:cNvSpPr/>
          <p:nvPr/>
        </p:nvSpPr>
        <p:spPr>
          <a:xfrm>
            <a:off x="7672643" y="2879313"/>
            <a:ext cx="731520" cy="461682"/>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2" name="Picture 38" descr="U.S. Wind and Solar Are on Track to Overtake Coal This Year | Scientific  American">
            <a:extLst>
              <a:ext uri="{FF2B5EF4-FFF2-40B4-BE49-F238E27FC236}">
                <a16:creationId xmlns:a16="http://schemas.microsoft.com/office/drawing/2014/main" id="{2D5B7792-1C1A-FD73-FD26-34BA386201AA}"/>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colorTemperature colorTemp="5864"/>
                    </a14:imgEffect>
                    <a14:imgEffect>
                      <a14:saturation sat="158000"/>
                    </a14:imgEffect>
                    <a14:imgEffect>
                      <a14:brightnessContrast bright="14000" contrast="-51000"/>
                    </a14:imgEffect>
                  </a14:imgLayer>
                </a14:imgProps>
              </a:ext>
              <a:ext uri="{28A0092B-C50C-407E-A947-70E740481C1C}">
                <a14:useLocalDpi xmlns:a14="http://schemas.microsoft.com/office/drawing/2010/main" val="0"/>
              </a:ext>
            </a:extLst>
          </a:blip>
          <a:srcRect r="25124"/>
          <a:stretch>
            <a:fillRect/>
          </a:stretch>
        </p:blipFill>
        <p:spPr bwMode="auto">
          <a:xfrm>
            <a:off x="708760" y="2270509"/>
            <a:ext cx="1292479" cy="969359"/>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Ravenswood Generating Station">
            <a:extLst>
              <a:ext uri="{FF2B5EF4-FFF2-40B4-BE49-F238E27FC236}">
                <a16:creationId xmlns:a16="http://schemas.microsoft.com/office/drawing/2014/main" id="{F15830D9-34C0-39C3-0044-F9325CC833C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9711" y="3280392"/>
            <a:ext cx="1275713" cy="956785"/>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How to avoid the coming air conditioning crunch | MIT Technology Review">
            <a:extLst>
              <a:ext uri="{FF2B5EF4-FFF2-40B4-BE49-F238E27FC236}">
                <a16:creationId xmlns:a16="http://schemas.microsoft.com/office/drawing/2014/main" id="{5638AE41-CBBA-3782-7F16-D164D7F4E96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69964" y="2344493"/>
            <a:ext cx="1358192" cy="905461"/>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437AC700-8D37-7EDA-0D74-89DED464BD40}"/>
              </a:ext>
            </a:extLst>
          </p:cNvPr>
          <p:cNvSpPr txBox="1"/>
          <p:nvPr/>
        </p:nvSpPr>
        <p:spPr>
          <a:xfrm>
            <a:off x="874691" y="2068013"/>
            <a:ext cx="926857" cy="261610"/>
          </a:xfrm>
          <a:prstGeom prst="rect">
            <a:avLst/>
          </a:prstGeom>
          <a:noFill/>
        </p:spPr>
        <p:txBody>
          <a:bodyPr wrap="none" rtlCol="0">
            <a:spAutoFit/>
          </a:bodyPr>
          <a:lstStyle/>
          <a:p>
            <a:r>
              <a:rPr lang="en-US" sz="1100" i="1" dirty="0"/>
              <a:t>Wind &amp; solar</a:t>
            </a:r>
          </a:p>
        </p:txBody>
      </p:sp>
      <p:sp>
        <p:nvSpPr>
          <p:cNvPr id="24" name="TextBox 23">
            <a:extLst>
              <a:ext uri="{FF2B5EF4-FFF2-40B4-BE49-F238E27FC236}">
                <a16:creationId xmlns:a16="http://schemas.microsoft.com/office/drawing/2014/main" id="{ABCFB57B-2E8E-48EA-3352-C27A885E1E7D}"/>
              </a:ext>
            </a:extLst>
          </p:cNvPr>
          <p:cNvSpPr txBox="1"/>
          <p:nvPr/>
        </p:nvSpPr>
        <p:spPr>
          <a:xfrm>
            <a:off x="2238532" y="2068013"/>
            <a:ext cx="888385" cy="261610"/>
          </a:xfrm>
          <a:prstGeom prst="rect">
            <a:avLst/>
          </a:prstGeom>
          <a:noFill/>
        </p:spPr>
        <p:txBody>
          <a:bodyPr wrap="none" rtlCol="0">
            <a:spAutoFit/>
          </a:bodyPr>
          <a:lstStyle/>
          <a:p>
            <a:r>
              <a:rPr lang="en-US" sz="1100" i="1" dirty="0"/>
              <a:t>Hydropower</a:t>
            </a:r>
          </a:p>
        </p:txBody>
      </p:sp>
      <p:sp>
        <p:nvSpPr>
          <p:cNvPr id="25" name="TextBox 24">
            <a:extLst>
              <a:ext uri="{FF2B5EF4-FFF2-40B4-BE49-F238E27FC236}">
                <a16:creationId xmlns:a16="http://schemas.microsoft.com/office/drawing/2014/main" id="{17540457-BC44-0796-FA0E-EF77621D3CE4}"/>
              </a:ext>
            </a:extLst>
          </p:cNvPr>
          <p:cNvSpPr txBox="1"/>
          <p:nvPr/>
        </p:nvSpPr>
        <p:spPr>
          <a:xfrm>
            <a:off x="1002218" y="4160675"/>
            <a:ext cx="627095" cy="261610"/>
          </a:xfrm>
          <a:prstGeom prst="rect">
            <a:avLst/>
          </a:prstGeom>
          <a:noFill/>
        </p:spPr>
        <p:txBody>
          <a:bodyPr wrap="none" rtlCol="0">
            <a:spAutoFit/>
          </a:bodyPr>
          <a:lstStyle/>
          <a:p>
            <a:r>
              <a:rPr lang="en-US" sz="1100" i="1" dirty="0"/>
              <a:t>Nuclear</a:t>
            </a:r>
          </a:p>
        </p:txBody>
      </p:sp>
      <p:sp>
        <p:nvSpPr>
          <p:cNvPr id="26" name="TextBox 25">
            <a:extLst>
              <a:ext uri="{FF2B5EF4-FFF2-40B4-BE49-F238E27FC236}">
                <a16:creationId xmlns:a16="http://schemas.microsoft.com/office/drawing/2014/main" id="{16CCD06C-A15E-0EE8-DB1E-3F577C527B04}"/>
              </a:ext>
            </a:extLst>
          </p:cNvPr>
          <p:cNvSpPr txBox="1"/>
          <p:nvPr/>
        </p:nvSpPr>
        <p:spPr>
          <a:xfrm>
            <a:off x="2294698" y="4160675"/>
            <a:ext cx="811441" cy="261610"/>
          </a:xfrm>
          <a:prstGeom prst="rect">
            <a:avLst/>
          </a:prstGeom>
          <a:noFill/>
        </p:spPr>
        <p:txBody>
          <a:bodyPr wrap="none" rtlCol="0">
            <a:spAutoFit/>
          </a:bodyPr>
          <a:lstStyle/>
          <a:p>
            <a:r>
              <a:rPr lang="en-US" sz="1100" i="1" dirty="0"/>
              <a:t>Coal &amp; Gas</a:t>
            </a:r>
          </a:p>
        </p:txBody>
      </p:sp>
      <p:sp>
        <p:nvSpPr>
          <p:cNvPr id="27" name="TextBox 26">
            <a:extLst>
              <a:ext uri="{FF2B5EF4-FFF2-40B4-BE49-F238E27FC236}">
                <a16:creationId xmlns:a16="http://schemas.microsoft.com/office/drawing/2014/main" id="{5815AB11-5D80-B7BD-B666-60072F673E76}"/>
              </a:ext>
            </a:extLst>
          </p:cNvPr>
          <p:cNvSpPr txBox="1"/>
          <p:nvPr/>
        </p:nvSpPr>
        <p:spPr>
          <a:xfrm>
            <a:off x="4707407" y="3498233"/>
            <a:ext cx="1247457" cy="430887"/>
          </a:xfrm>
          <a:prstGeom prst="rect">
            <a:avLst/>
          </a:prstGeom>
          <a:noFill/>
        </p:spPr>
        <p:txBody>
          <a:bodyPr wrap="square" rtlCol="0">
            <a:spAutoFit/>
          </a:bodyPr>
          <a:lstStyle/>
          <a:p>
            <a:pPr algn="ctr"/>
            <a:r>
              <a:rPr lang="en-US" sz="1100" i="1" dirty="0"/>
              <a:t>Transmission Lines</a:t>
            </a:r>
            <a:br>
              <a:rPr lang="en-US" sz="1100" i="1" dirty="0"/>
            </a:br>
            <a:r>
              <a:rPr lang="en-US" sz="1100" i="1" dirty="0"/>
              <a:t>(AC &amp; DC)</a:t>
            </a:r>
          </a:p>
        </p:txBody>
      </p:sp>
      <p:sp>
        <p:nvSpPr>
          <p:cNvPr id="28" name="TextBox 27">
            <a:extLst>
              <a:ext uri="{FF2B5EF4-FFF2-40B4-BE49-F238E27FC236}">
                <a16:creationId xmlns:a16="http://schemas.microsoft.com/office/drawing/2014/main" id="{D9761E67-0208-B6ED-18D5-70479B2D223B}"/>
              </a:ext>
            </a:extLst>
          </p:cNvPr>
          <p:cNvSpPr txBox="1"/>
          <p:nvPr/>
        </p:nvSpPr>
        <p:spPr>
          <a:xfrm>
            <a:off x="6140387" y="3498233"/>
            <a:ext cx="1247457" cy="430887"/>
          </a:xfrm>
          <a:prstGeom prst="rect">
            <a:avLst/>
          </a:prstGeom>
          <a:noFill/>
        </p:spPr>
        <p:txBody>
          <a:bodyPr wrap="square" rtlCol="0">
            <a:spAutoFit/>
          </a:bodyPr>
          <a:lstStyle/>
          <a:p>
            <a:pPr algn="ctr"/>
            <a:r>
              <a:rPr lang="en-US" sz="1100" i="1" dirty="0"/>
              <a:t>Substation transformers</a:t>
            </a:r>
          </a:p>
        </p:txBody>
      </p:sp>
      <p:sp>
        <p:nvSpPr>
          <p:cNvPr id="29" name="TextBox 28">
            <a:extLst>
              <a:ext uri="{FF2B5EF4-FFF2-40B4-BE49-F238E27FC236}">
                <a16:creationId xmlns:a16="http://schemas.microsoft.com/office/drawing/2014/main" id="{6228F36D-4071-C134-BCD2-CC0857605BDB}"/>
              </a:ext>
            </a:extLst>
          </p:cNvPr>
          <p:cNvSpPr txBox="1"/>
          <p:nvPr/>
        </p:nvSpPr>
        <p:spPr>
          <a:xfrm>
            <a:off x="8892538" y="2124791"/>
            <a:ext cx="2191626" cy="261610"/>
          </a:xfrm>
          <a:prstGeom prst="rect">
            <a:avLst/>
          </a:prstGeom>
          <a:noFill/>
        </p:spPr>
        <p:txBody>
          <a:bodyPr wrap="none" rtlCol="0">
            <a:spAutoFit/>
          </a:bodyPr>
          <a:lstStyle/>
          <a:p>
            <a:r>
              <a:rPr lang="en-US" sz="1100" i="1" dirty="0"/>
              <a:t>Residential &amp; commercial demands</a:t>
            </a:r>
          </a:p>
        </p:txBody>
      </p:sp>
      <p:sp>
        <p:nvSpPr>
          <p:cNvPr id="30" name="TextBox 29">
            <a:extLst>
              <a:ext uri="{FF2B5EF4-FFF2-40B4-BE49-F238E27FC236}">
                <a16:creationId xmlns:a16="http://schemas.microsoft.com/office/drawing/2014/main" id="{A033AB4A-F204-C3BB-8061-2CE8608F1FAF}"/>
              </a:ext>
            </a:extLst>
          </p:cNvPr>
          <p:cNvSpPr txBox="1"/>
          <p:nvPr/>
        </p:nvSpPr>
        <p:spPr>
          <a:xfrm>
            <a:off x="8761150" y="4119097"/>
            <a:ext cx="1077539" cy="261610"/>
          </a:xfrm>
          <a:prstGeom prst="rect">
            <a:avLst/>
          </a:prstGeom>
          <a:noFill/>
        </p:spPr>
        <p:txBody>
          <a:bodyPr wrap="none" rtlCol="0">
            <a:spAutoFit/>
          </a:bodyPr>
          <a:lstStyle/>
          <a:p>
            <a:r>
              <a:rPr lang="en-US" sz="1100" i="1" dirty="0"/>
              <a:t>Electric vehicles</a:t>
            </a:r>
          </a:p>
        </p:txBody>
      </p:sp>
      <p:sp>
        <p:nvSpPr>
          <p:cNvPr id="31" name="TextBox 30">
            <a:extLst>
              <a:ext uri="{FF2B5EF4-FFF2-40B4-BE49-F238E27FC236}">
                <a16:creationId xmlns:a16="http://schemas.microsoft.com/office/drawing/2014/main" id="{8CBAC5B6-9197-F91F-7E4C-1E5BB16D7D57}"/>
              </a:ext>
            </a:extLst>
          </p:cNvPr>
          <p:cNvSpPr txBox="1"/>
          <p:nvPr/>
        </p:nvSpPr>
        <p:spPr>
          <a:xfrm>
            <a:off x="10294447" y="4133493"/>
            <a:ext cx="909223" cy="261610"/>
          </a:xfrm>
          <a:prstGeom prst="rect">
            <a:avLst/>
          </a:prstGeom>
          <a:noFill/>
        </p:spPr>
        <p:txBody>
          <a:bodyPr wrap="none" rtlCol="0">
            <a:spAutoFit/>
          </a:bodyPr>
          <a:lstStyle/>
          <a:p>
            <a:r>
              <a:rPr lang="en-US" sz="1100" i="1" dirty="0"/>
              <a:t>Data centers</a:t>
            </a:r>
          </a:p>
        </p:txBody>
      </p:sp>
      <p:sp>
        <p:nvSpPr>
          <p:cNvPr id="32" name="Content Placeholder 2">
            <a:extLst>
              <a:ext uri="{FF2B5EF4-FFF2-40B4-BE49-F238E27FC236}">
                <a16:creationId xmlns:a16="http://schemas.microsoft.com/office/drawing/2014/main" id="{CF4659C3-7619-18D6-3A92-953285834192}"/>
              </a:ext>
            </a:extLst>
          </p:cNvPr>
          <p:cNvSpPr txBox="1">
            <a:spLocks/>
          </p:cNvSpPr>
          <p:nvPr/>
        </p:nvSpPr>
        <p:spPr>
          <a:xfrm>
            <a:off x="422980" y="4571782"/>
            <a:ext cx="3246120" cy="1440587"/>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500" b="1" dirty="0"/>
              <a:t>Examples of uncertainty</a:t>
            </a:r>
            <a:r>
              <a:rPr lang="en-US" sz="1500" dirty="0"/>
              <a:t>:</a:t>
            </a:r>
          </a:p>
          <a:p>
            <a:pPr>
              <a:lnSpc>
                <a:spcPct val="100000"/>
              </a:lnSpc>
              <a:spcBef>
                <a:spcPts val="0"/>
              </a:spcBef>
            </a:pPr>
            <a:r>
              <a:rPr lang="en-US" sz="1500" dirty="0"/>
              <a:t>Weather-driven availability factors</a:t>
            </a:r>
          </a:p>
          <a:p>
            <a:pPr>
              <a:lnSpc>
                <a:spcPct val="100000"/>
              </a:lnSpc>
              <a:spcBef>
                <a:spcPts val="0"/>
              </a:spcBef>
            </a:pPr>
            <a:r>
              <a:rPr lang="en-US" sz="1500" dirty="0"/>
              <a:t>Generator outages</a:t>
            </a:r>
          </a:p>
          <a:p>
            <a:pPr>
              <a:lnSpc>
                <a:spcPct val="100000"/>
              </a:lnSpc>
              <a:spcBef>
                <a:spcPts val="0"/>
              </a:spcBef>
            </a:pPr>
            <a:r>
              <a:rPr lang="en-US" sz="1500" dirty="0"/>
              <a:t>Fuel costs</a:t>
            </a:r>
          </a:p>
        </p:txBody>
      </p:sp>
      <p:sp>
        <p:nvSpPr>
          <p:cNvPr id="33" name="Content Placeholder 2">
            <a:extLst>
              <a:ext uri="{FF2B5EF4-FFF2-40B4-BE49-F238E27FC236}">
                <a16:creationId xmlns:a16="http://schemas.microsoft.com/office/drawing/2014/main" id="{3CBDF19A-DB7D-0A9A-0E78-935A46ADEEFA}"/>
              </a:ext>
            </a:extLst>
          </p:cNvPr>
          <p:cNvSpPr txBox="1">
            <a:spLocks/>
          </p:cNvSpPr>
          <p:nvPr/>
        </p:nvSpPr>
        <p:spPr>
          <a:xfrm>
            <a:off x="4429573" y="4571782"/>
            <a:ext cx="3246120" cy="1440587"/>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500" b="1" dirty="0"/>
              <a:t>Examples of uncertainty</a:t>
            </a:r>
            <a:r>
              <a:rPr lang="en-US" sz="1500" dirty="0"/>
              <a:t>:</a:t>
            </a:r>
          </a:p>
          <a:p>
            <a:pPr>
              <a:lnSpc>
                <a:spcPct val="100000"/>
              </a:lnSpc>
              <a:spcBef>
                <a:spcPts val="0"/>
              </a:spcBef>
            </a:pPr>
            <a:r>
              <a:rPr lang="en-US" sz="1500" dirty="0"/>
              <a:t>Line outages</a:t>
            </a:r>
          </a:p>
          <a:p>
            <a:pPr>
              <a:lnSpc>
                <a:spcPct val="100000"/>
              </a:lnSpc>
              <a:spcBef>
                <a:spcPts val="0"/>
              </a:spcBef>
            </a:pPr>
            <a:r>
              <a:rPr lang="en-US" sz="1500" dirty="0"/>
              <a:t>Security constraints</a:t>
            </a:r>
            <a:br>
              <a:rPr lang="en-US" sz="1500" dirty="0"/>
            </a:br>
            <a:r>
              <a:rPr lang="en-US" sz="1500" dirty="0"/>
              <a:t>(</a:t>
            </a:r>
            <a:r>
              <a:rPr lang="en-US" sz="1500" i="1" dirty="0"/>
              <a:t>n-1</a:t>
            </a:r>
            <a:r>
              <a:rPr lang="en-US" sz="1500" dirty="0"/>
              <a:t> transmission contingencies)</a:t>
            </a:r>
          </a:p>
          <a:p>
            <a:pPr>
              <a:lnSpc>
                <a:spcPct val="100000"/>
              </a:lnSpc>
              <a:spcBef>
                <a:spcPts val="0"/>
              </a:spcBef>
            </a:pPr>
            <a:r>
              <a:rPr lang="en-US" sz="1500" dirty="0"/>
              <a:t>Dynamic line ratings</a:t>
            </a:r>
            <a:br>
              <a:rPr lang="en-US" sz="1500" dirty="0"/>
            </a:br>
            <a:r>
              <a:rPr lang="en-US" sz="1500" dirty="0"/>
              <a:t>(temperature, wind, irradiance)</a:t>
            </a:r>
          </a:p>
        </p:txBody>
      </p:sp>
      <p:sp>
        <p:nvSpPr>
          <p:cNvPr id="34" name="Content Placeholder 2">
            <a:extLst>
              <a:ext uri="{FF2B5EF4-FFF2-40B4-BE49-F238E27FC236}">
                <a16:creationId xmlns:a16="http://schemas.microsoft.com/office/drawing/2014/main" id="{85F2C6F7-A412-C053-E4FD-F7A59A5318FF}"/>
              </a:ext>
            </a:extLst>
          </p:cNvPr>
          <p:cNvSpPr txBox="1">
            <a:spLocks/>
          </p:cNvSpPr>
          <p:nvPr/>
        </p:nvSpPr>
        <p:spPr>
          <a:xfrm>
            <a:off x="8412797" y="4571782"/>
            <a:ext cx="3246120" cy="1440587"/>
          </a:xfrm>
          <a:prstGeom prst="rect">
            <a:avLst/>
          </a:prstGeom>
          <a:solidFill>
            <a:schemeClr val="accent3">
              <a:lumMod val="20000"/>
              <a:lumOff val="80000"/>
            </a:schemeClr>
          </a:solidFill>
          <a:effectLst>
            <a:outerShdw blurRad="50800" dist="38100" dir="2700000" algn="tl" rotWithShape="0">
              <a:prstClr val="black">
                <a:alpha val="40000"/>
              </a:prstClr>
            </a:outerShdw>
          </a:effectLst>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500" b="1" dirty="0"/>
              <a:t>Examples of uncertainty</a:t>
            </a:r>
            <a:r>
              <a:rPr lang="en-US" sz="1500" dirty="0"/>
              <a:t>:</a:t>
            </a:r>
          </a:p>
          <a:p>
            <a:pPr>
              <a:lnSpc>
                <a:spcPct val="100000"/>
              </a:lnSpc>
              <a:spcBef>
                <a:spcPts val="0"/>
              </a:spcBef>
            </a:pPr>
            <a:r>
              <a:rPr lang="en-US" sz="1500" dirty="0"/>
              <a:t>Weather-driven load profiles</a:t>
            </a:r>
          </a:p>
          <a:p>
            <a:pPr>
              <a:lnSpc>
                <a:spcPct val="100000"/>
              </a:lnSpc>
              <a:spcBef>
                <a:spcPts val="0"/>
              </a:spcBef>
            </a:pPr>
            <a:r>
              <a:rPr lang="en-US" sz="1500" dirty="0"/>
              <a:t>Electric vehicle trip demands</a:t>
            </a:r>
          </a:p>
          <a:p>
            <a:pPr>
              <a:lnSpc>
                <a:spcPct val="100000"/>
              </a:lnSpc>
              <a:spcBef>
                <a:spcPts val="0"/>
              </a:spcBef>
            </a:pPr>
            <a:r>
              <a:rPr lang="en-US" sz="1500" dirty="0"/>
              <a:t>Data center computing demands</a:t>
            </a:r>
          </a:p>
        </p:txBody>
      </p:sp>
      <p:sp>
        <p:nvSpPr>
          <p:cNvPr id="40" name="Rectangle: Rounded Corners 39">
            <a:extLst>
              <a:ext uri="{FF2B5EF4-FFF2-40B4-BE49-F238E27FC236}">
                <a16:creationId xmlns:a16="http://schemas.microsoft.com/office/drawing/2014/main" id="{08D7BFA1-9C19-0BA9-585A-6245D6D0B166}"/>
              </a:ext>
            </a:extLst>
          </p:cNvPr>
          <p:cNvSpPr/>
          <p:nvPr/>
        </p:nvSpPr>
        <p:spPr>
          <a:xfrm>
            <a:off x="4456934" y="5049299"/>
            <a:ext cx="3225094" cy="505871"/>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47521B8B-3366-B4D5-9AFD-BB685D702C5E}"/>
              </a:ext>
            </a:extLst>
          </p:cNvPr>
          <p:cNvSpPr txBox="1"/>
          <p:nvPr/>
        </p:nvSpPr>
        <p:spPr>
          <a:xfrm>
            <a:off x="6558719" y="5017709"/>
            <a:ext cx="1083823" cy="323165"/>
          </a:xfrm>
          <a:prstGeom prst="rect">
            <a:avLst/>
          </a:prstGeom>
          <a:noFill/>
        </p:spPr>
        <p:txBody>
          <a:bodyPr wrap="none" rtlCol="0">
            <a:spAutoFit/>
          </a:bodyPr>
          <a:lstStyle/>
          <a:p>
            <a:r>
              <a:rPr lang="en-US" sz="1500" dirty="0">
                <a:solidFill>
                  <a:srgbClr val="C00000"/>
                </a:solidFill>
              </a:rPr>
              <a:t>Today’s talk</a:t>
            </a:r>
          </a:p>
        </p:txBody>
      </p:sp>
      <p:sp>
        <p:nvSpPr>
          <p:cNvPr id="2" name="TextBox 1">
            <a:extLst>
              <a:ext uri="{FF2B5EF4-FFF2-40B4-BE49-F238E27FC236}">
                <a16:creationId xmlns:a16="http://schemas.microsoft.com/office/drawing/2014/main" id="{215E35C6-BFF9-985B-8B9B-643A01EC2E12}"/>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5" name="TextBox 4">
            <a:extLst>
              <a:ext uri="{FF2B5EF4-FFF2-40B4-BE49-F238E27FC236}">
                <a16:creationId xmlns:a16="http://schemas.microsoft.com/office/drawing/2014/main" id="{FC5E3E22-B71D-126C-F23E-369453CF4698}"/>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30584410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032"/>
                                        </p:tgtEl>
                                        <p:attrNameLst>
                                          <p:attrName>style.visibility</p:attrName>
                                        </p:attrNameLst>
                                      </p:cBhvr>
                                      <p:to>
                                        <p:strVal val="visible"/>
                                      </p:to>
                                    </p:set>
                                    <p:animEffect transition="in" filter="fade">
                                      <p:cBhvr>
                                        <p:cTn id="10" dur="500"/>
                                        <p:tgtEl>
                                          <p:spTgt spid="1032"/>
                                        </p:tgtEl>
                                      </p:cBhvr>
                                    </p:animEffect>
                                  </p:childTnLst>
                                </p:cTn>
                              </p:par>
                              <p:par>
                                <p:cTn id="11" presetID="10" presetClass="entr" presetSubtype="0" fill="hold" nodeType="withEffect">
                                  <p:stCondLst>
                                    <p:cond delay="0"/>
                                  </p:stCondLst>
                                  <p:childTnLst>
                                    <p:set>
                                      <p:cBhvr>
                                        <p:cTn id="12" dur="1" fill="hold">
                                          <p:stCondLst>
                                            <p:cond delay="0"/>
                                          </p:stCondLst>
                                        </p:cTn>
                                        <p:tgtEl>
                                          <p:spTgt spid="1034"/>
                                        </p:tgtEl>
                                        <p:attrNameLst>
                                          <p:attrName>style.visibility</p:attrName>
                                        </p:attrNameLst>
                                      </p:cBhvr>
                                      <p:to>
                                        <p:strVal val="visible"/>
                                      </p:to>
                                    </p:set>
                                    <p:animEffect transition="in" filter="fade">
                                      <p:cBhvr>
                                        <p:cTn id="13" dur="500"/>
                                        <p:tgtEl>
                                          <p:spTgt spid="1034"/>
                                        </p:tgtEl>
                                      </p:cBhvr>
                                    </p:animEffect>
                                  </p:childTnLst>
                                </p:cTn>
                              </p:par>
                              <p:par>
                                <p:cTn id="14" presetID="10" presetClass="entr" presetSubtype="0" fill="hold" nodeType="withEffect">
                                  <p:stCondLst>
                                    <p:cond delay="0"/>
                                  </p:stCondLst>
                                  <p:childTnLst>
                                    <p:set>
                                      <p:cBhvr>
                                        <p:cTn id="15" dur="1" fill="hold">
                                          <p:stCondLst>
                                            <p:cond delay="0"/>
                                          </p:stCondLst>
                                        </p:cTn>
                                        <p:tgtEl>
                                          <p:spTgt spid="1062"/>
                                        </p:tgtEl>
                                        <p:attrNameLst>
                                          <p:attrName>style.visibility</p:attrName>
                                        </p:attrNameLst>
                                      </p:cBhvr>
                                      <p:to>
                                        <p:strVal val="visible"/>
                                      </p:to>
                                    </p:set>
                                    <p:animEffect transition="in" filter="fade">
                                      <p:cBhvr>
                                        <p:cTn id="16" dur="500"/>
                                        <p:tgtEl>
                                          <p:spTgt spid="1062"/>
                                        </p:tgtEl>
                                      </p:cBhvr>
                                    </p:animEffect>
                                  </p:childTnLst>
                                </p:cTn>
                              </p:par>
                              <p:par>
                                <p:cTn id="17" presetID="10" presetClass="entr" presetSubtype="0" fill="hold" nodeType="withEffect">
                                  <p:stCondLst>
                                    <p:cond delay="0"/>
                                  </p:stCondLst>
                                  <p:childTnLst>
                                    <p:set>
                                      <p:cBhvr>
                                        <p:cTn id="18" dur="1" fill="hold">
                                          <p:stCondLst>
                                            <p:cond delay="0"/>
                                          </p:stCondLst>
                                        </p:cTn>
                                        <p:tgtEl>
                                          <p:spTgt spid="1066"/>
                                        </p:tgtEl>
                                        <p:attrNameLst>
                                          <p:attrName>style.visibility</p:attrName>
                                        </p:attrNameLst>
                                      </p:cBhvr>
                                      <p:to>
                                        <p:strVal val="visible"/>
                                      </p:to>
                                    </p:set>
                                    <p:animEffect transition="in" filter="fade">
                                      <p:cBhvr>
                                        <p:cTn id="19" dur="500"/>
                                        <p:tgtEl>
                                          <p:spTgt spid="106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1052"/>
                                        </p:tgtEl>
                                        <p:attrNameLst>
                                          <p:attrName>style.visibility</p:attrName>
                                        </p:attrNameLst>
                                      </p:cBhvr>
                                      <p:to>
                                        <p:strVal val="visible"/>
                                      </p:to>
                                    </p:set>
                                    <p:animEffect transition="in" filter="fade">
                                      <p:cBhvr>
                                        <p:cTn id="40" dur="500"/>
                                        <p:tgtEl>
                                          <p:spTgt spid="1052"/>
                                        </p:tgtEl>
                                      </p:cBhvr>
                                    </p:animEffect>
                                  </p:childTnLst>
                                </p:cTn>
                              </p:par>
                              <p:par>
                                <p:cTn id="41" presetID="10" presetClass="entr" presetSubtype="0" fill="hold" nodeType="withEffect">
                                  <p:stCondLst>
                                    <p:cond delay="0"/>
                                  </p:stCondLst>
                                  <p:childTnLst>
                                    <p:set>
                                      <p:cBhvr>
                                        <p:cTn id="42" dur="1" fill="hold">
                                          <p:stCondLst>
                                            <p:cond delay="0"/>
                                          </p:stCondLst>
                                        </p:cTn>
                                        <p:tgtEl>
                                          <p:spTgt spid="1054"/>
                                        </p:tgtEl>
                                        <p:attrNameLst>
                                          <p:attrName>style.visibility</p:attrName>
                                        </p:attrNameLst>
                                      </p:cBhvr>
                                      <p:to>
                                        <p:strVal val="visible"/>
                                      </p:to>
                                    </p:set>
                                    <p:animEffect transition="in" filter="fade">
                                      <p:cBhvr>
                                        <p:cTn id="43" dur="500"/>
                                        <p:tgtEl>
                                          <p:spTgt spid="1054"/>
                                        </p:tgtEl>
                                      </p:cBhvr>
                                    </p:animEffect>
                                  </p:childTnLst>
                                </p:cTn>
                              </p:par>
                              <p:par>
                                <p:cTn id="44" presetID="10" presetClass="entr" presetSubtype="0" fill="hold" nodeType="withEffect">
                                  <p:stCondLst>
                                    <p:cond delay="0"/>
                                  </p:stCondLst>
                                  <p:childTnLst>
                                    <p:set>
                                      <p:cBhvr>
                                        <p:cTn id="45" dur="1" fill="hold">
                                          <p:stCondLst>
                                            <p:cond delay="0"/>
                                          </p:stCondLst>
                                        </p:cTn>
                                        <p:tgtEl>
                                          <p:spTgt spid="1056"/>
                                        </p:tgtEl>
                                        <p:attrNameLst>
                                          <p:attrName>style.visibility</p:attrName>
                                        </p:attrNameLst>
                                      </p:cBhvr>
                                      <p:to>
                                        <p:strVal val="visible"/>
                                      </p:to>
                                    </p:set>
                                    <p:animEffect transition="in" filter="fade">
                                      <p:cBhvr>
                                        <p:cTn id="46" dur="500"/>
                                        <p:tgtEl>
                                          <p:spTgt spid="1056"/>
                                        </p:tgtEl>
                                      </p:cBhvr>
                                    </p:animEffect>
                                  </p:childTnLst>
                                </p:cTn>
                              </p:par>
                              <p:par>
                                <p:cTn id="47" presetID="10" presetClass="entr" presetSubtype="0" fill="hold" nodeType="withEffect">
                                  <p:stCondLst>
                                    <p:cond delay="0"/>
                                  </p:stCondLst>
                                  <p:childTnLst>
                                    <p:set>
                                      <p:cBhvr>
                                        <p:cTn id="48" dur="1" fill="hold">
                                          <p:stCondLst>
                                            <p:cond delay="0"/>
                                          </p:stCondLst>
                                        </p:cTn>
                                        <p:tgtEl>
                                          <p:spTgt spid="1068"/>
                                        </p:tgtEl>
                                        <p:attrNameLst>
                                          <p:attrName>style.visibility</p:attrName>
                                        </p:attrNameLst>
                                      </p:cBhvr>
                                      <p:to>
                                        <p:strVal val="visible"/>
                                      </p:to>
                                    </p:set>
                                    <p:animEffect transition="in" filter="fade">
                                      <p:cBhvr>
                                        <p:cTn id="49" dur="500"/>
                                        <p:tgtEl>
                                          <p:spTgt spid="106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500"/>
                                        <p:tgtEl>
                                          <p:spTgt spid="4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500"/>
                                        <p:tgtEl>
                                          <p:spTgt spid="11"/>
                                        </p:tgtEl>
                                      </p:cBhvr>
                                    </p:animEffect>
                                  </p:childTnLst>
                                </p:cTn>
                              </p:par>
                              <p:par>
                                <p:cTn id="72" presetID="10" presetClass="entr" presetSubtype="0" fill="hold" grpId="0" nodeType="withEffect" nodePh="1">
                                  <p:stCondLst>
                                    <p:cond delay="0"/>
                                  </p:stCondLst>
                                  <p:endCondLst>
                                    <p:cond evt="begin" delay="0">
                                      <p:tn val="72"/>
                                    </p:cond>
                                  </p:endCondLst>
                                  <p:childTnLst>
                                    <p:set>
                                      <p:cBhvr>
                                        <p:cTn id="73" dur="1" fill="hold">
                                          <p:stCondLst>
                                            <p:cond delay="0"/>
                                          </p:stCondLst>
                                        </p:cTn>
                                        <p:tgtEl>
                                          <p:spTgt spid="13"/>
                                        </p:tgtEl>
                                        <p:attrNameLst>
                                          <p:attrName>style.visibility</p:attrName>
                                        </p:attrNameLst>
                                      </p:cBhvr>
                                      <p:to>
                                        <p:strVal val="visible"/>
                                      </p:to>
                                    </p:set>
                                    <p:animEffect transition="in" filter="fade">
                                      <p:cBhvr>
                                        <p:cTn id="74" dur="500"/>
                                        <p:tgtEl>
                                          <p:spTgt spid="13"/>
                                        </p:tgtEl>
                                      </p:cBhvr>
                                    </p:animEffect>
                                  </p:childTnLst>
                                </p:cTn>
                              </p:par>
                              <p:par>
                                <p:cTn id="75" presetID="10" presetClass="entr" presetSubtype="0" fill="hold" grpId="0" nodeType="withEffect" nodePh="1">
                                  <p:stCondLst>
                                    <p:cond delay="0"/>
                                  </p:stCondLst>
                                  <p:endCondLst>
                                    <p:cond evt="begin" delay="0">
                                      <p:tn val="75"/>
                                    </p:cond>
                                  </p:endCondLst>
                                  <p:childTnLst>
                                    <p:set>
                                      <p:cBhvr>
                                        <p:cTn id="76" dur="1" fill="hold">
                                          <p:stCondLst>
                                            <p:cond delay="0"/>
                                          </p:stCondLst>
                                        </p:cTn>
                                        <p:tgtEl>
                                          <p:spTgt spid="14"/>
                                        </p:tgtEl>
                                        <p:attrNameLst>
                                          <p:attrName>style.visibility</p:attrName>
                                        </p:attrNameLst>
                                      </p:cBhvr>
                                      <p:to>
                                        <p:strVal val="visible"/>
                                      </p:to>
                                    </p:set>
                                    <p:animEffect transition="in" filter="fade">
                                      <p:cBhvr>
                                        <p:cTn id="77" dur="500"/>
                                        <p:tgtEl>
                                          <p:spTgt spid="14"/>
                                        </p:tgtEl>
                                      </p:cBhvr>
                                    </p:animEffect>
                                  </p:childTnLst>
                                </p:cTn>
                              </p:par>
                              <p:par>
                                <p:cTn id="78" presetID="10" presetClass="entr" presetSubtype="0" fill="hold" nodeType="withEffect">
                                  <p:stCondLst>
                                    <p:cond delay="0"/>
                                  </p:stCondLst>
                                  <p:childTnLst>
                                    <p:set>
                                      <p:cBhvr>
                                        <p:cTn id="79" dur="1" fill="hold">
                                          <p:stCondLst>
                                            <p:cond delay="0"/>
                                          </p:stCondLst>
                                        </p:cTn>
                                        <p:tgtEl>
                                          <p:spTgt spid="1046"/>
                                        </p:tgtEl>
                                        <p:attrNameLst>
                                          <p:attrName>style.visibility</p:attrName>
                                        </p:attrNameLst>
                                      </p:cBhvr>
                                      <p:to>
                                        <p:strVal val="visible"/>
                                      </p:to>
                                    </p:set>
                                    <p:animEffect transition="in" filter="fade">
                                      <p:cBhvr>
                                        <p:cTn id="80" dur="500"/>
                                        <p:tgtEl>
                                          <p:spTgt spid="1046"/>
                                        </p:tgtEl>
                                      </p:cBhvr>
                                    </p:animEffect>
                                  </p:childTnLst>
                                </p:cTn>
                              </p:par>
                              <p:par>
                                <p:cTn id="81" presetID="10" presetClass="entr" presetSubtype="0" fill="hold" nodeType="withEffect">
                                  <p:stCondLst>
                                    <p:cond delay="0"/>
                                  </p:stCondLst>
                                  <p:childTnLst>
                                    <p:set>
                                      <p:cBhvr>
                                        <p:cTn id="82" dur="1" fill="hold">
                                          <p:stCondLst>
                                            <p:cond delay="0"/>
                                          </p:stCondLst>
                                        </p:cTn>
                                        <p:tgtEl>
                                          <p:spTgt spid="1048"/>
                                        </p:tgtEl>
                                        <p:attrNameLst>
                                          <p:attrName>style.visibility</p:attrName>
                                        </p:attrNameLst>
                                      </p:cBhvr>
                                      <p:to>
                                        <p:strVal val="visible"/>
                                      </p:to>
                                    </p:set>
                                    <p:animEffect transition="in" filter="fade">
                                      <p:cBhvr>
                                        <p:cTn id="83" dur="500"/>
                                        <p:tgtEl>
                                          <p:spTgt spid="104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1" grpId="0" animBg="1"/>
      <p:bldP spid="10" grpId="0" animBg="1"/>
      <p:bldP spid="12" grpId="0" animBg="1"/>
      <p:bldP spid="13" grpId="0"/>
      <p:bldP spid="14" grpId="0"/>
      <p:bldP spid="21" grpId="0" animBg="1"/>
      <p:bldP spid="22" grpId="0" animBg="1"/>
      <p:bldP spid="23" grpId="0"/>
      <p:bldP spid="24" grpId="0"/>
      <p:bldP spid="25" grpId="0"/>
      <p:bldP spid="26" grpId="0"/>
      <p:bldP spid="27" grpId="0"/>
      <p:bldP spid="28" grpId="0"/>
      <p:bldP spid="29" grpId="0"/>
      <p:bldP spid="30" grpId="0"/>
      <p:bldP spid="31" grpId="0"/>
      <p:bldP spid="32" grpId="0" animBg="1"/>
      <p:bldP spid="33" grpId="0" animBg="1"/>
      <p:bldP spid="34" grpId="0" animBg="1"/>
      <p:bldP spid="40" grpId="0" animBg="1"/>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4773-CCAD-9D05-4EF9-8FF103AA56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BBF578-E7EE-FC5E-2BE4-3BD2DBF48410}"/>
              </a:ext>
            </a:extLst>
          </p:cNvPr>
          <p:cNvSpPr/>
          <p:nvPr/>
        </p:nvSpPr>
        <p:spPr>
          <a:xfrm>
            <a:off x="422982" y="174467"/>
            <a:ext cx="10915669" cy="630942"/>
          </a:xfrm>
          <a:prstGeom prst="rect">
            <a:avLst/>
          </a:prstGeom>
        </p:spPr>
        <p:txBody>
          <a:bodyPr wrap="square" lIns="0">
            <a:spAutoFit/>
          </a:bodyPr>
          <a:lstStyle/>
          <a:p>
            <a:r>
              <a:rPr lang="en-US" sz="3500" dirty="0"/>
              <a:t>What are transmission contingencies (security constraints)?</a:t>
            </a:r>
          </a:p>
        </p:txBody>
      </p:sp>
      <p:sp>
        <p:nvSpPr>
          <p:cNvPr id="2" name="TextBox 1">
            <a:extLst>
              <a:ext uri="{FF2B5EF4-FFF2-40B4-BE49-F238E27FC236}">
                <a16:creationId xmlns:a16="http://schemas.microsoft.com/office/drawing/2014/main" id="{8A71C7FB-A14F-D8DB-5870-F6A320958DDB}"/>
              </a:ext>
            </a:extLst>
          </p:cNvPr>
          <p:cNvSpPr txBox="1"/>
          <p:nvPr/>
        </p:nvSpPr>
        <p:spPr>
          <a:xfrm>
            <a:off x="3958476" y="897289"/>
            <a:ext cx="5316622" cy="1200329"/>
          </a:xfrm>
          <a:prstGeom prst="rect">
            <a:avLst/>
          </a:prstGeom>
          <a:solidFill>
            <a:schemeClr val="accent5">
              <a:lumMod val="20000"/>
              <a:lumOff val="80000"/>
            </a:schemeClr>
          </a:solidFill>
          <a:effectLst>
            <a:outerShdw blurRad="63500" sx="102000" sy="102000" algn="ctr" rotWithShape="0">
              <a:prstClr val="black">
                <a:alpha val="40000"/>
              </a:prstClr>
            </a:outerShdw>
          </a:effectLst>
        </p:spPr>
        <p:txBody>
          <a:bodyPr wrap="square" rtlCol="0">
            <a:spAutoFit/>
          </a:bodyPr>
          <a:lstStyle/>
          <a:p>
            <a:r>
              <a:rPr lang="en-US" b="1" dirty="0"/>
              <a:t>NERC TPL–001</a:t>
            </a:r>
          </a:p>
          <a:p>
            <a:r>
              <a:rPr lang="en-US" dirty="0"/>
              <a:t>“Applicable Facility Ratings shall not be exceeded” under any “P1 Single Contingency: </a:t>
            </a:r>
            <a:r>
              <a:rPr lang="en-US" b="1" dirty="0"/>
              <a:t>Loss of one</a:t>
            </a:r>
            <a:r>
              <a:rPr lang="en-US" dirty="0"/>
              <a:t>... </a:t>
            </a:r>
            <a:r>
              <a:rPr lang="en-US" b="1" dirty="0"/>
              <a:t>Transmission</a:t>
            </a:r>
            <a:r>
              <a:rPr lang="en-US" dirty="0"/>
              <a:t> Circuit [or] </a:t>
            </a:r>
            <a:r>
              <a:rPr lang="en-US" b="1" dirty="0"/>
              <a:t>Transformer</a:t>
            </a:r>
            <a:r>
              <a:rPr lang="en-US" dirty="0"/>
              <a:t>”.</a:t>
            </a:r>
          </a:p>
        </p:txBody>
      </p:sp>
      <p:pic>
        <p:nvPicPr>
          <p:cNvPr id="2050" name="Picture 2" descr="NERC - Solarplaza Network">
            <a:extLst>
              <a:ext uri="{FF2B5EF4-FFF2-40B4-BE49-F238E27FC236}">
                <a16:creationId xmlns:a16="http://schemas.microsoft.com/office/drawing/2014/main" id="{A69733A7-4B8E-AF15-B822-AFBC57C922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169"/>
          <a:stretch>
            <a:fillRect/>
          </a:stretch>
        </p:blipFill>
        <p:spPr bwMode="auto">
          <a:xfrm>
            <a:off x="1850581" y="868309"/>
            <a:ext cx="1986442" cy="12468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9F55AC-D8B4-0FBC-562A-28C4A71475E4}"/>
              </a:ext>
            </a:extLst>
          </p:cNvPr>
          <p:cNvSpPr txBox="1"/>
          <p:nvPr/>
        </p:nvSpPr>
        <p:spPr>
          <a:xfrm>
            <a:off x="310453" y="2566463"/>
            <a:ext cx="4036490" cy="646331"/>
          </a:xfrm>
          <a:prstGeom prst="rect">
            <a:avLst/>
          </a:prstGeom>
          <a:noFill/>
        </p:spPr>
        <p:txBody>
          <a:bodyPr wrap="none" rtlCol="0">
            <a:spAutoFit/>
          </a:bodyPr>
          <a:lstStyle/>
          <a:p>
            <a:r>
              <a:rPr lang="en-US" b="1" dirty="0"/>
              <a:t>Normative question</a:t>
            </a:r>
            <a:r>
              <a:rPr lang="en-US" dirty="0"/>
              <a:t>:</a:t>
            </a:r>
          </a:p>
          <a:p>
            <a:r>
              <a:rPr lang="en-US" dirty="0"/>
              <a:t>Are security constraints really necessary?</a:t>
            </a:r>
          </a:p>
        </p:txBody>
      </p:sp>
      <p:sp>
        <p:nvSpPr>
          <p:cNvPr id="7" name="TextBox 6">
            <a:extLst>
              <a:ext uri="{FF2B5EF4-FFF2-40B4-BE49-F238E27FC236}">
                <a16:creationId xmlns:a16="http://schemas.microsoft.com/office/drawing/2014/main" id="{CE57D53B-0D8C-FCC3-219D-F99767DC3B4A}"/>
              </a:ext>
            </a:extLst>
          </p:cNvPr>
          <p:cNvSpPr txBox="1"/>
          <p:nvPr/>
        </p:nvSpPr>
        <p:spPr>
          <a:xfrm>
            <a:off x="6031173" y="2566463"/>
            <a:ext cx="5850374" cy="923330"/>
          </a:xfrm>
          <a:prstGeom prst="rect">
            <a:avLst/>
          </a:prstGeom>
          <a:noFill/>
        </p:spPr>
        <p:txBody>
          <a:bodyPr wrap="square" rtlCol="0">
            <a:spAutoFit/>
          </a:bodyPr>
          <a:lstStyle/>
          <a:p>
            <a:r>
              <a:rPr lang="en-US" b="1" dirty="0"/>
              <a:t>Positivist viewpoint</a:t>
            </a:r>
            <a:r>
              <a:rPr lang="en-US" dirty="0"/>
              <a:t>:</a:t>
            </a:r>
          </a:p>
          <a:p>
            <a:r>
              <a:rPr lang="en-US" dirty="0"/>
              <a:t>Security constraints constitute the </a:t>
            </a:r>
            <a:r>
              <a:rPr lang="en-US" i="1" dirty="0"/>
              <a:t>vast majority </a:t>
            </a:r>
            <a:r>
              <a:rPr lang="en-US" dirty="0"/>
              <a:t>of transmission constraints. Thus, they are important to model.</a:t>
            </a:r>
          </a:p>
        </p:txBody>
      </p:sp>
      <p:graphicFrame>
        <p:nvGraphicFramePr>
          <p:cNvPr id="8" name="Table 7">
            <a:extLst>
              <a:ext uri="{FF2B5EF4-FFF2-40B4-BE49-F238E27FC236}">
                <a16:creationId xmlns:a16="http://schemas.microsoft.com/office/drawing/2014/main" id="{D6AFD6C9-1320-0E48-4A9E-E3C66B16F3BA}"/>
              </a:ext>
            </a:extLst>
          </p:cNvPr>
          <p:cNvGraphicFramePr>
            <a:graphicFrameLocks noGrp="1"/>
          </p:cNvGraphicFramePr>
          <p:nvPr>
            <p:extLst>
              <p:ext uri="{D42A27DB-BD31-4B8C-83A1-F6EECF244321}">
                <p14:modId xmlns:p14="http://schemas.microsoft.com/office/powerpoint/2010/main" val="1886609245"/>
              </p:ext>
            </p:extLst>
          </p:nvPr>
        </p:nvGraphicFramePr>
        <p:xfrm>
          <a:off x="6120823" y="3493736"/>
          <a:ext cx="5307478" cy="233332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688890">
                  <a:extLst>
                    <a:ext uri="{9D8B030D-6E8A-4147-A177-3AD203B41FA5}">
                      <a16:colId xmlns:a16="http://schemas.microsoft.com/office/drawing/2014/main" val="1627573104"/>
                    </a:ext>
                  </a:extLst>
                </a:gridCol>
                <a:gridCol w="961278">
                  <a:extLst>
                    <a:ext uri="{9D8B030D-6E8A-4147-A177-3AD203B41FA5}">
                      <a16:colId xmlns:a16="http://schemas.microsoft.com/office/drawing/2014/main" val="1698657720"/>
                    </a:ext>
                  </a:extLst>
                </a:gridCol>
                <a:gridCol w="2657310">
                  <a:extLst>
                    <a:ext uri="{9D8B030D-6E8A-4147-A177-3AD203B41FA5}">
                      <a16:colId xmlns:a16="http://schemas.microsoft.com/office/drawing/2014/main" val="1557358501"/>
                    </a:ext>
                  </a:extLst>
                </a:gridCol>
              </a:tblGrid>
              <a:tr h="764209">
                <a:tc>
                  <a:txBody>
                    <a:bodyPr/>
                    <a:lstStyle/>
                    <a:p>
                      <a:pPr algn="ctr"/>
                      <a:r>
                        <a:rPr lang="en-US" sz="1600" dirty="0"/>
                        <a:t>Grid process</a:t>
                      </a:r>
                    </a:p>
                  </a:txBody>
                  <a:tcPr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sz="1600" dirty="0"/>
                        <a:t>Region</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sz="1600" dirty="0"/>
                        <a:t>% of transmission constraints caused by a contingency</a:t>
                      </a:r>
                      <a:endParaRPr lang="en-US" sz="1600" b="0" dirty="0"/>
                    </a:p>
                  </a:txBody>
                  <a:tcPr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1831616143"/>
                  </a:ext>
                </a:extLst>
              </a:tr>
              <a:tr h="411497">
                <a:tc>
                  <a:txBody>
                    <a:bodyPr/>
                    <a:lstStyle/>
                    <a:p>
                      <a:pPr algn="ctr"/>
                      <a:r>
                        <a:rPr lang="en-US" sz="1600" b="1" dirty="0"/>
                        <a:t>Interconnection</a:t>
                      </a: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600" dirty="0"/>
                        <a:t>PJM</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800" b="1" dirty="0">
                          <a:solidFill>
                            <a:srgbClr val="C00000"/>
                          </a:solidFill>
                        </a:rPr>
                        <a:t>90%</a:t>
                      </a:r>
                    </a:p>
                  </a:txBody>
                  <a:tcPr anchor="ctr">
                    <a:lnL w="6350" cap="flat" cmpd="sng" algn="ctr">
                      <a:solidFill>
                        <a:schemeClr val="bg1"/>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607365689"/>
                  </a:ext>
                </a:extLst>
              </a:tr>
              <a:tr h="385873">
                <a:tc rowSpan="3">
                  <a:txBody>
                    <a:bodyPr/>
                    <a:lstStyle/>
                    <a:p>
                      <a:pPr algn="ctr"/>
                      <a:r>
                        <a:rPr lang="en-US" sz="1600" b="1" dirty="0"/>
                        <a:t>Day-ahead market</a:t>
                      </a: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600" dirty="0"/>
                        <a:t>PJM</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800" b="1" dirty="0">
                          <a:solidFill>
                            <a:srgbClr val="C00000"/>
                          </a:solidFill>
                        </a:rPr>
                        <a:t>86%</a:t>
                      </a:r>
                    </a:p>
                  </a:txBody>
                  <a:tcPr anchor="ctr">
                    <a:lnL w="6350" cap="flat" cmpd="sng" algn="ctr">
                      <a:solidFill>
                        <a:schemeClr val="bg1"/>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524505479"/>
                  </a:ext>
                </a:extLst>
              </a:tr>
              <a:tr h="385873">
                <a:tc vMerge="1">
                  <a:txBody>
                    <a:bodyPr/>
                    <a:lstStyle/>
                    <a:p>
                      <a:endParaRPr lang="en-US" dirty="0"/>
                    </a:p>
                  </a:txBody>
                  <a:tcPr/>
                </a:tc>
                <a:tc>
                  <a:txBody>
                    <a:bodyPr/>
                    <a:lstStyle/>
                    <a:p>
                      <a:pPr algn="ctr"/>
                      <a:r>
                        <a:rPr lang="en-US" sz="1600" dirty="0"/>
                        <a:t>ERCOT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1800" b="1" dirty="0">
                          <a:solidFill>
                            <a:srgbClr val="C00000"/>
                          </a:solidFill>
                        </a:rPr>
                        <a:t>98%</a:t>
                      </a:r>
                    </a:p>
                  </a:txBody>
                  <a:tcPr anchor="ctr">
                    <a:lnL w="6350" cap="flat" cmpd="sng" algn="ctr">
                      <a:solidFill>
                        <a:schemeClr val="bg1"/>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249923211"/>
                  </a:ext>
                </a:extLst>
              </a:tr>
              <a:tr h="385873">
                <a:tc vMerge="1">
                  <a:txBody>
                    <a:bodyPr/>
                    <a:lstStyle/>
                    <a:p>
                      <a:endParaRPr lang="en-US" dirty="0"/>
                    </a:p>
                  </a:txBody>
                  <a:tcPr/>
                </a:tc>
                <a:tc>
                  <a:txBody>
                    <a:bodyPr/>
                    <a:lstStyle/>
                    <a:p>
                      <a:pPr algn="ctr"/>
                      <a:r>
                        <a:rPr lang="en-US" sz="1600" dirty="0"/>
                        <a:t>CAISO</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800" b="1" dirty="0">
                          <a:solidFill>
                            <a:srgbClr val="C00000"/>
                          </a:solidFill>
                        </a:rPr>
                        <a:t>93%</a:t>
                      </a:r>
                    </a:p>
                  </a:txBody>
                  <a:tcPr anchor="ctr">
                    <a:lnL w="6350" cap="flat" cmpd="sng" algn="ctr">
                      <a:solidFill>
                        <a:schemeClr val="bg1"/>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976832414"/>
                  </a:ext>
                </a:extLst>
              </a:tr>
            </a:tbl>
          </a:graphicData>
        </a:graphic>
      </p:graphicFrame>
      <p:sp>
        <p:nvSpPr>
          <p:cNvPr id="15" name="TextBox 14">
            <a:extLst>
              <a:ext uri="{FF2B5EF4-FFF2-40B4-BE49-F238E27FC236}">
                <a16:creationId xmlns:a16="http://schemas.microsoft.com/office/drawing/2014/main" id="{81A353AC-3A63-B3BB-ABCB-E73CBDC493FB}"/>
              </a:ext>
            </a:extLst>
          </p:cNvPr>
          <p:cNvSpPr txBox="1"/>
          <p:nvPr/>
        </p:nvSpPr>
        <p:spPr>
          <a:xfrm>
            <a:off x="6031173" y="5853131"/>
            <a:ext cx="5307478" cy="246221"/>
          </a:xfrm>
          <a:prstGeom prst="rect">
            <a:avLst/>
          </a:prstGeom>
          <a:noFill/>
        </p:spPr>
        <p:txBody>
          <a:bodyPr wrap="square" rtlCol="0">
            <a:spAutoFit/>
          </a:bodyPr>
          <a:lstStyle/>
          <a:p>
            <a:pPr algn="r"/>
            <a:r>
              <a:rPr lang="en-US" sz="1000" dirty="0">
                <a:solidFill>
                  <a:schemeClr val="bg1">
                    <a:lumMod val="50000"/>
                  </a:schemeClr>
                </a:solidFill>
              </a:rPr>
              <a:t>Statistics sampled from PJM System Impact Studies, and DAM congestion from July 2024.</a:t>
            </a:r>
          </a:p>
        </p:txBody>
      </p:sp>
      <p:pic>
        <p:nvPicPr>
          <p:cNvPr id="2052" name="Picture 4" descr="The picture of the failure of transmission tower under wind excitation... |  Download Scientific Diagram">
            <a:extLst>
              <a:ext uri="{FF2B5EF4-FFF2-40B4-BE49-F238E27FC236}">
                <a16:creationId xmlns:a16="http://schemas.microsoft.com/office/drawing/2014/main" id="{2DFA8C7A-E655-1FD7-F82A-1BD12440A3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387"/>
          <a:stretch>
            <a:fillRect/>
          </a:stretch>
        </p:blipFill>
        <p:spPr bwMode="auto">
          <a:xfrm>
            <a:off x="2011821" y="4620610"/>
            <a:ext cx="3092450" cy="15284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bout 40 people lined up in front of farm equipment at Sunny Acres Farm on Fetterhoff Chapel Road, Mont Alto, to protest the proposed Transource power transmission line on Saturday, Oct. 14.">
            <a:extLst>
              <a:ext uri="{FF2B5EF4-FFF2-40B4-BE49-F238E27FC236}">
                <a16:creationId xmlns:a16="http://schemas.microsoft.com/office/drawing/2014/main" id="{2206BE1F-C2E6-C32E-E902-6E33CE2A478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895" b="37635"/>
          <a:stretch>
            <a:fillRect/>
          </a:stretch>
        </p:blipFill>
        <p:spPr bwMode="auto">
          <a:xfrm>
            <a:off x="1721867" y="3353156"/>
            <a:ext cx="3382404" cy="129434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F624379F-3243-9775-597A-658140260A6D}"/>
              </a:ext>
            </a:extLst>
          </p:cNvPr>
          <p:cNvSpPr txBox="1"/>
          <p:nvPr/>
        </p:nvSpPr>
        <p:spPr>
          <a:xfrm>
            <a:off x="1850581" y="4463441"/>
            <a:ext cx="3292841" cy="184666"/>
          </a:xfrm>
          <a:prstGeom prst="rect">
            <a:avLst/>
          </a:prstGeom>
          <a:solidFill>
            <a:srgbClr val="FFFFFF">
              <a:alpha val="67843"/>
            </a:srgbClr>
          </a:solidFill>
        </p:spPr>
        <p:txBody>
          <a:bodyPr wrap="square" lIns="0" tIns="0" rIns="0" bIns="0">
            <a:spAutoFit/>
          </a:bodyPr>
          <a:lstStyle/>
          <a:p>
            <a:pPr algn="ctr"/>
            <a:r>
              <a:rPr lang="en-US" sz="1200" dirty="0"/>
              <a:t>(anti-Transource protest, Franklin County, PA, 2018)</a:t>
            </a:r>
          </a:p>
        </p:txBody>
      </p:sp>
      <p:sp>
        <p:nvSpPr>
          <p:cNvPr id="37" name="TextBox 36">
            <a:extLst>
              <a:ext uri="{FF2B5EF4-FFF2-40B4-BE49-F238E27FC236}">
                <a16:creationId xmlns:a16="http://schemas.microsoft.com/office/drawing/2014/main" id="{7BA0921A-9FEC-D838-D14C-26C4D437BB17}"/>
              </a:ext>
            </a:extLst>
          </p:cNvPr>
          <p:cNvSpPr txBox="1"/>
          <p:nvPr/>
        </p:nvSpPr>
        <p:spPr>
          <a:xfrm>
            <a:off x="310453" y="3677165"/>
            <a:ext cx="1450352" cy="646331"/>
          </a:xfrm>
          <a:prstGeom prst="rect">
            <a:avLst/>
          </a:prstGeom>
          <a:noFill/>
        </p:spPr>
        <p:txBody>
          <a:bodyPr wrap="square">
            <a:spAutoFit/>
          </a:bodyPr>
          <a:lstStyle/>
          <a:p>
            <a:r>
              <a:rPr lang="en-US" sz="1200" i="1" dirty="0"/>
              <a:t>Stricter constraints increase economic &amp; social costs.</a:t>
            </a:r>
          </a:p>
        </p:txBody>
      </p:sp>
      <p:sp>
        <p:nvSpPr>
          <p:cNvPr id="38" name="TextBox 37">
            <a:extLst>
              <a:ext uri="{FF2B5EF4-FFF2-40B4-BE49-F238E27FC236}">
                <a16:creationId xmlns:a16="http://schemas.microsoft.com/office/drawing/2014/main" id="{152DDE49-651C-F8A5-7F3C-825F280968CC}"/>
              </a:ext>
            </a:extLst>
          </p:cNvPr>
          <p:cNvSpPr txBox="1"/>
          <p:nvPr/>
        </p:nvSpPr>
        <p:spPr>
          <a:xfrm>
            <a:off x="310453" y="5201164"/>
            <a:ext cx="1787288" cy="646331"/>
          </a:xfrm>
          <a:prstGeom prst="rect">
            <a:avLst/>
          </a:prstGeom>
          <a:noFill/>
        </p:spPr>
        <p:txBody>
          <a:bodyPr wrap="square">
            <a:spAutoFit/>
          </a:bodyPr>
          <a:lstStyle/>
          <a:p>
            <a:r>
              <a:rPr lang="en-US" sz="1200" i="1" dirty="0"/>
              <a:t>Security constraints are needed for reliability &amp; resilience.</a:t>
            </a:r>
          </a:p>
        </p:txBody>
      </p:sp>
      <p:sp>
        <p:nvSpPr>
          <p:cNvPr id="4" name="TextBox 3">
            <a:extLst>
              <a:ext uri="{FF2B5EF4-FFF2-40B4-BE49-F238E27FC236}">
                <a16:creationId xmlns:a16="http://schemas.microsoft.com/office/drawing/2014/main" id="{D3771C92-33CF-FA89-9B19-952EA8A17DCF}"/>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9" name="TextBox 8">
            <a:extLst>
              <a:ext uri="{FF2B5EF4-FFF2-40B4-BE49-F238E27FC236}">
                <a16:creationId xmlns:a16="http://schemas.microsoft.com/office/drawing/2014/main" id="{B97417DD-277D-047E-F83F-CA8A0E53B02A}"/>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1764464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animEffect transition="in" filter="fade">
                                      <p:cBhvr>
                                        <p:cTn id="23" dur="500"/>
                                        <p:tgtEl>
                                          <p:spTgt spid="205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5" grpId="0"/>
      <p:bldP spid="17" grpId="0" animBg="1"/>
      <p:bldP spid="37"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E3B75-0C48-539E-61F8-6711002B7371}"/>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F94B0B86-3114-8FB8-C0CA-5119D4E736D2}"/>
              </a:ext>
            </a:extLst>
          </p:cNvPr>
          <p:cNvSpPr/>
          <p:nvPr/>
        </p:nvSpPr>
        <p:spPr>
          <a:xfrm>
            <a:off x="3434879" y="5260653"/>
            <a:ext cx="4117294" cy="6621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BCF10D5-0198-A5D8-5A76-99A395C41048}"/>
              </a:ext>
            </a:extLst>
          </p:cNvPr>
          <p:cNvSpPr/>
          <p:nvPr/>
        </p:nvSpPr>
        <p:spPr>
          <a:xfrm>
            <a:off x="3423302" y="4404917"/>
            <a:ext cx="3281268" cy="56436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1FE58E5-5648-414E-F8F5-F9CE7C6AD04B}"/>
                  </a:ext>
                </a:extLst>
              </p:cNvPr>
              <p:cNvSpPr txBox="1"/>
              <p:nvPr/>
            </p:nvSpPr>
            <p:spPr>
              <a:xfrm>
                <a:off x="422982" y="4404917"/>
                <a:ext cx="11769018" cy="1671483"/>
              </a:xfrm>
              <a:prstGeom prst="rect">
                <a:avLst/>
              </a:prstGeom>
              <a:noFill/>
            </p:spPr>
            <p:txBody>
              <a:bodyPr wrap="square" lIns="0" tIns="0" rIns="0" bIns="0" rtlCol="0">
                <a:spAutoFit/>
              </a:bodyPr>
              <a:lstStyle/>
              <a:p>
                <a:r>
                  <a:rPr lang="en-US" sz="2200" b="1" dirty="0">
                    <a:solidFill>
                      <a:schemeClr val="tx1"/>
                    </a:solidFill>
                  </a:rPr>
                  <a:t>Base Case constraints</a:t>
                </a:r>
                <a:r>
                  <a:rPr lang="en-US" sz="2200" dirty="0">
                    <a:solidFill>
                      <a:schemeClr val="tx1"/>
                    </a:solidFill>
                  </a:rPr>
                  <a:t>:</a:t>
                </a:r>
                <a:r>
                  <a:rPr lang="en-US" sz="2500" dirty="0">
                    <a:solidFill>
                      <a:schemeClr val="tx1"/>
                    </a:solidFill>
                  </a:rPr>
                  <a:t>	    </a:t>
                </a:r>
                <a14:m>
                  <m:oMath xmlns:m="http://schemas.openxmlformats.org/officeDocument/2006/math">
                    <m:r>
                      <a:rPr lang="en-US" sz="3000" b="0" i="1" smtClean="0">
                        <a:solidFill>
                          <a:schemeClr val="tx1"/>
                        </a:solidFill>
                        <a:latin typeface="Cambria Math" panose="02040503050406030204" pitchFamily="18" charset="0"/>
                      </a:rPr>
                      <m:t>−</m:t>
                    </m:r>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𝐹</m:t>
                        </m:r>
                      </m:e>
                      <m:sub>
                        <m:r>
                          <a:rPr lang="en-US" sz="3000" b="0" i="1" smtClean="0">
                            <a:solidFill>
                              <a:schemeClr val="tx1"/>
                            </a:solidFill>
                            <a:latin typeface="Cambria Math" panose="02040503050406030204" pitchFamily="18" charset="0"/>
                          </a:rPr>
                          <m:t>𝑖</m:t>
                        </m:r>
                      </m:sub>
                    </m:sSub>
                    <m:r>
                      <a:rPr lang="en-US" sz="3000" b="0" i="1" smtClean="0">
                        <a:solidFill>
                          <a:schemeClr val="tx1"/>
                        </a:solidFill>
                        <a:latin typeface="Cambria Math" panose="02040503050406030204" pitchFamily="18" charset="0"/>
                      </a:rPr>
                      <m:t>≤</m:t>
                    </m:r>
                    <m:sSubSup>
                      <m:sSubSupPr>
                        <m:ctrlPr>
                          <a:rPr lang="en-US" sz="3000" b="0" i="1" smtClean="0">
                            <a:solidFill>
                              <a:schemeClr val="tx1"/>
                            </a:solidFill>
                            <a:latin typeface="Cambria Math" panose="02040503050406030204" pitchFamily="18" charset="0"/>
                          </a:rPr>
                        </m:ctrlPr>
                      </m:sSubSupPr>
                      <m:e>
                        <m:r>
                          <a:rPr lang="en-US" sz="3000" b="0" i="1" smtClean="0">
                            <a:solidFill>
                              <a:schemeClr val="tx1"/>
                            </a:solidFill>
                            <a:latin typeface="Cambria Math" panose="02040503050406030204" pitchFamily="18" charset="0"/>
                          </a:rPr>
                          <m:t>𝑝</m:t>
                        </m:r>
                      </m:e>
                      <m:sub>
                        <m:r>
                          <a:rPr lang="en-US" sz="3000" b="0" i="1" smtClean="0">
                            <a:solidFill>
                              <a:schemeClr val="tx1"/>
                            </a:solidFill>
                            <a:latin typeface="Cambria Math" panose="02040503050406030204" pitchFamily="18" charset="0"/>
                          </a:rPr>
                          <m:t>𝑖</m:t>
                        </m:r>
                      </m:sub>
                      <m:sup>
                        <m:r>
                          <a:rPr lang="en-US" sz="3000" b="0" i="1" smtClean="0">
                            <a:solidFill>
                              <a:schemeClr val="tx1"/>
                            </a:solidFill>
                            <a:latin typeface="Cambria Math" panose="02040503050406030204" pitchFamily="18" charset="0"/>
                          </a:rPr>
                          <m:t>𝑏𝑟</m:t>
                        </m:r>
                      </m:sup>
                    </m:sSubSup>
                    <m:r>
                      <a:rPr lang="en-US" sz="3000" b="0" i="1" smtClean="0">
                        <a:solidFill>
                          <a:schemeClr val="tx1"/>
                        </a:solidFill>
                        <a:latin typeface="Cambria Math" panose="02040503050406030204" pitchFamily="18" charset="0"/>
                      </a:rPr>
                      <m:t>≤</m:t>
                    </m:r>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𝐹</m:t>
                        </m:r>
                      </m:e>
                      <m:sub>
                        <m:r>
                          <a:rPr lang="en-US" sz="3000" b="0" i="1" smtClean="0">
                            <a:solidFill>
                              <a:schemeClr val="tx1"/>
                            </a:solidFill>
                            <a:latin typeface="Cambria Math" panose="02040503050406030204" pitchFamily="18" charset="0"/>
                          </a:rPr>
                          <m:t>𝑖</m:t>
                        </m:r>
                      </m:sub>
                    </m:sSub>
                    <m:r>
                      <a:rPr lang="en-US" sz="3000" b="0" i="0" smtClean="0">
                        <a:solidFill>
                          <a:schemeClr val="tx1"/>
                        </a:solidFill>
                        <a:latin typeface="Cambria Math" panose="02040503050406030204" pitchFamily="18" charset="0"/>
                      </a:rPr>
                      <m:t>,  </m:t>
                    </m:r>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𝑖</m:t>
                    </m:r>
                  </m:oMath>
                </a14:m>
                <a:r>
                  <a:rPr lang="en-US" sz="3000" dirty="0">
                    <a:solidFill>
                      <a:schemeClr val="tx1"/>
                    </a:solidFill>
                  </a:rPr>
                  <a:t>		  </a:t>
                </a:r>
                <a:r>
                  <a:rPr lang="en-US" sz="2000" dirty="0">
                    <a:solidFill>
                      <a:schemeClr val="tx1"/>
                    </a:solidFill>
                  </a:rPr>
                  <a:t>There are </a:t>
                </a:r>
                <a14:m>
                  <m:oMath xmlns:m="http://schemas.openxmlformats.org/officeDocument/2006/math">
                    <m:r>
                      <a:rPr lang="en-US" sz="2000" b="0" i="1" smtClean="0">
                        <a:solidFill>
                          <a:schemeClr val="tx1"/>
                        </a:solidFill>
                        <a:latin typeface="Cambria Math" panose="02040503050406030204" pitchFamily="18" charset="0"/>
                      </a:rPr>
                      <m:t>𝑏</m:t>
                    </m:r>
                  </m:oMath>
                </a14:m>
                <a:r>
                  <a:rPr lang="en-US" sz="2000" dirty="0">
                    <a:solidFill>
                      <a:schemeClr val="tx1"/>
                    </a:solidFill>
                  </a:rPr>
                  <a:t> of these.</a:t>
                </a:r>
              </a:p>
              <a:p>
                <a:endParaRPr lang="en-US" sz="2500" dirty="0">
                  <a:solidFill>
                    <a:schemeClr val="tx1"/>
                  </a:solidFill>
                </a:endParaRPr>
              </a:p>
              <a:p>
                <a:r>
                  <a:rPr lang="en-US" sz="2200" b="1" dirty="0">
                    <a:solidFill>
                      <a:schemeClr val="tx1"/>
                    </a:solidFill>
                  </a:rPr>
                  <a:t>Contingency constraints</a:t>
                </a:r>
                <a:r>
                  <a:rPr lang="en-US" sz="2200" dirty="0">
                    <a:solidFill>
                      <a:schemeClr val="tx1"/>
                    </a:solidFill>
                  </a:rPr>
                  <a:t>:</a:t>
                </a:r>
                <a:r>
                  <a:rPr lang="en-US" sz="2500" dirty="0">
                    <a:solidFill>
                      <a:schemeClr val="tx1"/>
                    </a:solidFill>
                  </a:rPr>
                  <a:t>   </a:t>
                </a:r>
                <a14:m>
                  <m:oMath xmlns:m="http://schemas.openxmlformats.org/officeDocument/2006/math">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𝜂</m:t>
                    </m:r>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𝐹</m:t>
                        </m:r>
                      </m:e>
                      <m:sub>
                        <m:r>
                          <a:rPr lang="en-US" sz="3000" b="0" i="1" smtClean="0">
                            <a:solidFill>
                              <a:schemeClr val="tx1"/>
                            </a:solidFill>
                            <a:latin typeface="Cambria Math" panose="02040503050406030204" pitchFamily="18" charset="0"/>
                          </a:rPr>
                          <m:t>𝑖</m:t>
                        </m:r>
                      </m:sub>
                    </m:sSub>
                    <m:r>
                      <a:rPr lang="en-US" sz="3000" b="0" i="1" smtClean="0">
                        <a:solidFill>
                          <a:schemeClr val="tx1"/>
                        </a:solidFill>
                        <a:latin typeface="Cambria Math" panose="02040503050406030204" pitchFamily="18" charset="0"/>
                      </a:rPr>
                      <m:t>≤</m:t>
                    </m:r>
                    <m:sSubSup>
                      <m:sSubSupPr>
                        <m:ctrlPr>
                          <a:rPr lang="en-US" sz="3000" b="0" i="1" smtClean="0">
                            <a:solidFill>
                              <a:schemeClr val="tx1"/>
                            </a:solidFill>
                            <a:latin typeface="Cambria Math" panose="02040503050406030204" pitchFamily="18" charset="0"/>
                          </a:rPr>
                        </m:ctrlPr>
                      </m:sSubSupPr>
                      <m:e>
                        <m:r>
                          <a:rPr lang="en-US" sz="3000" b="0" i="1" smtClean="0">
                            <a:solidFill>
                              <a:schemeClr val="tx1"/>
                            </a:solidFill>
                            <a:latin typeface="Cambria Math" panose="02040503050406030204" pitchFamily="18" charset="0"/>
                          </a:rPr>
                          <m:t>𝑝</m:t>
                        </m:r>
                      </m:e>
                      <m:sub>
                        <m:r>
                          <a:rPr lang="en-US" sz="3000" b="0" i="1" smtClean="0">
                            <a:solidFill>
                              <a:schemeClr val="tx1"/>
                            </a:solidFill>
                            <a:latin typeface="Cambria Math" panose="02040503050406030204" pitchFamily="18" charset="0"/>
                          </a:rPr>
                          <m:t>𝑖</m:t>
                        </m:r>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𝑗</m:t>
                        </m:r>
                      </m:sub>
                      <m:sup>
                        <m:r>
                          <a:rPr lang="en-US" sz="3000" b="0" i="1" smtClean="0">
                            <a:solidFill>
                              <a:schemeClr val="tx1"/>
                            </a:solidFill>
                            <a:latin typeface="Cambria Math" panose="02040503050406030204" pitchFamily="18" charset="0"/>
                          </a:rPr>
                          <m:t>𝑐𝑡𝑔</m:t>
                        </m:r>
                      </m:sup>
                    </m:sSubSup>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𝜂</m:t>
                    </m:r>
                    <m:sSub>
                      <m:sSubPr>
                        <m:ctrlPr>
                          <a:rPr lang="en-US" sz="3000" b="0" i="1" smtClean="0">
                            <a:solidFill>
                              <a:schemeClr val="tx1"/>
                            </a:solidFill>
                            <a:latin typeface="Cambria Math" panose="02040503050406030204" pitchFamily="18" charset="0"/>
                          </a:rPr>
                        </m:ctrlPr>
                      </m:sSubPr>
                      <m:e>
                        <m:r>
                          <a:rPr lang="en-US" sz="3000" b="0" i="1" smtClean="0">
                            <a:solidFill>
                              <a:schemeClr val="tx1"/>
                            </a:solidFill>
                            <a:latin typeface="Cambria Math" panose="02040503050406030204" pitchFamily="18" charset="0"/>
                          </a:rPr>
                          <m:t>𝐹</m:t>
                        </m:r>
                      </m:e>
                      <m:sub>
                        <m:r>
                          <a:rPr lang="en-US" sz="3000" b="0" i="1" smtClean="0">
                            <a:solidFill>
                              <a:schemeClr val="tx1"/>
                            </a:solidFill>
                            <a:latin typeface="Cambria Math" panose="02040503050406030204" pitchFamily="18" charset="0"/>
                          </a:rPr>
                          <m:t>𝑖</m:t>
                        </m:r>
                      </m:sub>
                    </m:sSub>
                    <m:r>
                      <a:rPr lang="en-US" sz="3000" b="0" i="1" smtClean="0">
                        <a:solidFill>
                          <a:schemeClr val="tx1"/>
                        </a:solidFill>
                        <a:latin typeface="Cambria Math" panose="02040503050406030204" pitchFamily="18" charset="0"/>
                      </a:rPr>
                      <m:t>,  ∀</m:t>
                    </m:r>
                    <m:r>
                      <a:rPr lang="en-US" sz="3000" b="0" i="1" smtClean="0">
                        <a:solidFill>
                          <a:schemeClr val="tx1"/>
                        </a:solidFill>
                        <a:latin typeface="Cambria Math" panose="02040503050406030204" pitchFamily="18" charset="0"/>
                      </a:rPr>
                      <m:t>𝑖</m:t>
                    </m:r>
                    <m:r>
                      <a:rPr lang="en-US" sz="3000" b="0" i="1" smtClean="0">
                        <a:solidFill>
                          <a:schemeClr val="tx1"/>
                        </a:solidFill>
                        <a:latin typeface="Cambria Math" panose="02040503050406030204" pitchFamily="18" charset="0"/>
                      </a:rPr>
                      <m:t>,</m:t>
                    </m:r>
                    <m:r>
                      <a:rPr lang="en-US" sz="3000" b="0" i="1" smtClean="0">
                        <a:solidFill>
                          <a:schemeClr val="tx1"/>
                        </a:solidFill>
                        <a:latin typeface="Cambria Math" panose="02040503050406030204" pitchFamily="18" charset="0"/>
                      </a:rPr>
                      <m:t>𝑗</m:t>
                    </m:r>
                  </m:oMath>
                </a14:m>
                <a:r>
                  <a:rPr lang="en-US" sz="3000" dirty="0">
                    <a:solidFill>
                      <a:schemeClr val="tx1"/>
                    </a:solidFill>
                  </a:rPr>
                  <a:t>	  </a:t>
                </a:r>
                <a:r>
                  <a:rPr lang="en-US" sz="2000" dirty="0">
                    <a:solidFill>
                      <a:schemeClr val="tx1"/>
                    </a:solidFill>
                  </a:rPr>
                  <a:t>There are up to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i="1" smtClean="0">
                            <a:solidFill>
                              <a:schemeClr val="tx1"/>
                            </a:solidFill>
                            <a:latin typeface="Cambria Math" panose="02040503050406030204" pitchFamily="18" charset="0"/>
                          </a:rPr>
                          <m:t>𝑏</m:t>
                        </m:r>
                      </m:e>
                      <m:sup>
                        <m:r>
                          <a:rPr lang="en-US" sz="2000" b="0" i="1" smtClean="0">
                            <a:solidFill>
                              <a:schemeClr val="tx1"/>
                            </a:solidFill>
                            <a:latin typeface="Cambria Math" panose="02040503050406030204" pitchFamily="18" charset="0"/>
                          </a:rPr>
                          <m:t>2</m:t>
                        </m:r>
                      </m:sup>
                    </m:sSup>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𝑏</m:t>
                    </m:r>
                  </m:oMath>
                </a14:m>
                <a:r>
                  <a:rPr lang="en-US" sz="2000" dirty="0">
                    <a:solidFill>
                      <a:schemeClr val="tx1"/>
                    </a:solidFill>
                  </a:rPr>
                  <a:t> of these.</a:t>
                </a:r>
              </a:p>
              <a:p>
                <a:endParaRPr lang="en-US" sz="1200" b="0" i="1" dirty="0">
                  <a:solidFill>
                    <a:schemeClr val="tx1"/>
                  </a:solidFill>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D1FE58E5-5648-414E-F8F5-F9CE7C6AD04B}"/>
                  </a:ext>
                </a:extLst>
              </p:cNvPr>
              <p:cNvSpPr txBox="1">
                <a:spLocks noRot="1" noChangeAspect="1" noMove="1" noResize="1" noEditPoints="1" noAdjustHandles="1" noChangeArrowheads="1" noChangeShapeType="1" noTextEdit="1"/>
              </p:cNvSpPr>
              <p:nvPr/>
            </p:nvSpPr>
            <p:spPr>
              <a:xfrm>
                <a:off x="422982" y="4404917"/>
                <a:ext cx="11769018" cy="1671483"/>
              </a:xfrm>
              <a:prstGeom prst="rect">
                <a:avLst/>
              </a:prstGeom>
              <a:blipFill>
                <a:blip r:embed="rId3"/>
                <a:stretch>
                  <a:fillRect l="-145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8FBB0C07-2525-147A-9225-693FD71157FC}"/>
              </a:ext>
            </a:extLst>
          </p:cNvPr>
          <p:cNvSpPr/>
          <p:nvPr/>
        </p:nvSpPr>
        <p:spPr>
          <a:xfrm>
            <a:off x="422982" y="174467"/>
            <a:ext cx="10915669" cy="646331"/>
          </a:xfrm>
          <a:prstGeom prst="rect">
            <a:avLst/>
          </a:prstGeom>
        </p:spPr>
        <p:txBody>
          <a:bodyPr wrap="square" lIns="0">
            <a:spAutoFit/>
          </a:bodyPr>
          <a:lstStyle/>
          <a:p>
            <a:r>
              <a:rPr lang="en-US" sz="3600" dirty="0"/>
              <a:t>The math of transmission contingencies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B0C44C8-1995-BCA8-E82C-2E1CB86D839B}"/>
                  </a:ext>
                </a:extLst>
              </p:cNvPr>
              <p:cNvSpPr txBox="1"/>
              <p:nvPr/>
            </p:nvSpPr>
            <p:spPr>
              <a:xfrm>
                <a:off x="2218775" y="1334203"/>
                <a:ext cx="2674450" cy="476605"/>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𝑝</m:t>
                          </m:r>
                        </m:e>
                        <m:sup>
                          <m:r>
                            <a:rPr lang="en-US" sz="3000" b="0" i="1" smtClean="0">
                              <a:latin typeface="Cambria Math" panose="02040503050406030204" pitchFamily="18" charset="0"/>
                            </a:rPr>
                            <m:t>𝑏𝑟</m:t>
                          </m:r>
                        </m:sup>
                      </m:sSup>
                      <m:r>
                        <a:rPr lang="en-US" sz="3000" b="0" i="1" smtClean="0">
                          <a:latin typeface="Cambria Math" panose="02040503050406030204" pitchFamily="18" charset="0"/>
                        </a:rPr>
                        <m:t>=</m:t>
                      </m:r>
                      <m:r>
                        <m:rPr>
                          <m:sty m:val="p"/>
                        </m:rPr>
                        <a:rPr lang="en-US" sz="3000" b="0" i="0" smtClean="0">
                          <a:latin typeface="Cambria Math" panose="02040503050406030204" pitchFamily="18" charset="0"/>
                        </a:rPr>
                        <m:t>PTDF</m:t>
                      </m:r>
                      <m:r>
                        <a:rPr lang="en-US" sz="3000" b="0" i="1" smtClean="0">
                          <a:latin typeface="Cambria Math" panose="02040503050406030204" pitchFamily="18" charset="0"/>
                        </a:rPr>
                        <m:t> </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𝑝</m:t>
                          </m:r>
                        </m:e>
                        <m:sup>
                          <m:r>
                            <a:rPr lang="en-US" sz="3000" b="0" i="1" smtClean="0">
                              <a:latin typeface="Cambria Math" panose="02040503050406030204" pitchFamily="18" charset="0"/>
                            </a:rPr>
                            <m:t>𝑛𝑖</m:t>
                          </m:r>
                        </m:sup>
                      </m:sSup>
                    </m:oMath>
                  </m:oMathPara>
                </a14:m>
                <a:endParaRPr lang="en-US" sz="3000" dirty="0"/>
              </a:p>
            </p:txBody>
          </p:sp>
        </mc:Choice>
        <mc:Fallback xmlns="">
          <p:sp>
            <p:nvSpPr>
              <p:cNvPr id="9" name="TextBox 8">
                <a:extLst>
                  <a:ext uri="{FF2B5EF4-FFF2-40B4-BE49-F238E27FC236}">
                    <a16:creationId xmlns:a16="http://schemas.microsoft.com/office/drawing/2014/main" id="{AB0C44C8-1995-BCA8-E82C-2E1CB86D839B}"/>
                  </a:ext>
                </a:extLst>
              </p:cNvPr>
              <p:cNvSpPr txBox="1">
                <a:spLocks noRot="1" noChangeAspect="1" noMove="1" noResize="1" noEditPoints="1" noAdjustHandles="1" noChangeArrowheads="1" noChangeShapeType="1" noTextEdit="1"/>
              </p:cNvSpPr>
              <p:nvPr/>
            </p:nvSpPr>
            <p:spPr>
              <a:xfrm>
                <a:off x="2218775" y="1334203"/>
                <a:ext cx="2674450" cy="47660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A92B43D-E2DA-4B00-7371-37A11BFD2C4D}"/>
                  </a:ext>
                </a:extLst>
              </p:cNvPr>
              <p:cNvSpPr txBox="1"/>
              <p:nvPr/>
            </p:nvSpPr>
            <p:spPr>
              <a:xfrm>
                <a:off x="1128317" y="2951862"/>
                <a:ext cx="5305107" cy="603307"/>
              </a:xfrm>
              <a:prstGeom prst="rect">
                <a:avLst/>
              </a:prstGeom>
              <a:solidFill>
                <a:schemeClr val="accent5">
                  <a:lumMod val="20000"/>
                  <a:lumOff val="80000"/>
                </a:schemeClr>
              </a:solidFill>
            </p:spPr>
            <p:txBody>
              <a:bodyPr wrap="none" lIns="0" tIns="0" rIns="0" bIns="0" rtlCol="0">
                <a:spAutoFit/>
              </a:bodyPr>
              <a:lstStyle/>
              <a:p>
                <a14:m>
                  <m:oMath xmlns:m="http://schemas.openxmlformats.org/officeDocument/2006/math">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𝑝</m:t>
                        </m:r>
                      </m:e>
                      <m:sub>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𝑗</m:t>
                        </m:r>
                      </m:sub>
                      <m:sup>
                        <m:r>
                          <a:rPr lang="en-US" sz="3000" b="0" i="1" smtClean="0">
                            <a:latin typeface="Cambria Math" panose="02040503050406030204" pitchFamily="18" charset="0"/>
                          </a:rPr>
                          <m:t>𝑐𝑡𝑔</m:t>
                        </m:r>
                      </m:sup>
                    </m:sSubSup>
                    <m:r>
                      <a:rPr lang="en-US" sz="3000" b="0" i="1" smtClean="0">
                        <a:latin typeface="Cambria Math" panose="02040503050406030204" pitchFamily="18" charset="0"/>
                      </a:rPr>
                      <m:t>=</m:t>
                    </m:r>
                  </m:oMath>
                </a14:m>
                <a:r>
                  <a:rPr lang="en-US" sz="3000" dirty="0"/>
                  <a:t> </a:t>
                </a:r>
                <a14:m>
                  <m:oMath xmlns:m="http://schemas.openxmlformats.org/officeDocument/2006/math">
                    <m:sSubSup>
                      <m:sSubSupPr>
                        <m:ctrlPr>
                          <a:rPr lang="en-US" sz="3000" b="0" i="1" smtClean="0">
                            <a:latin typeface="Cambria Math" panose="02040503050406030204" pitchFamily="18" charset="0"/>
                          </a:rPr>
                        </m:ctrlPr>
                      </m:sSubSupPr>
                      <m:e>
                        <m:r>
                          <a:rPr lang="en-US" sz="3000" i="1">
                            <a:latin typeface="Cambria Math" panose="02040503050406030204" pitchFamily="18" charset="0"/>
                          </a:rPr>
                          <m:t>𝑝</m:t>
                        </m:r>
                      </m:e>
                      <m:sub>
                        <m:r>
                          <a:rPr lang="en-US" sz="3000" b="0" i="1" smtClean="0">
                            <a:latin typeface="Cambria Math" panose="02040503050406030204" pitchFamily="18" charset="0"/>
                          </a:rPr>
                          <m:t>𝑖</m:t>
                        </m:r>
                      </m:sub>
                      <m:sup>
                        <m:r>
                          <a:rPr lang="en-US" sz="3000" i="1">
                            <a:latin typeface="Cambria Math" panose="02040503050406030204" pitchFamily="18" charset="0"/>
                          </a:rPr>
                          <m:t>𝑏𝑟</m:t>
                        </m:r>
                      </m:sup>
                    </m:sSubSup>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LODF</m:t>
                        </m:r>
                      </m:e>
                      <m:sub>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𝑗</m:t>
                        </m:r>
                      </m:sub>
                    </m:sSub>
                    <m:r>
                      <a:rPr lang="en-US" sz="3000" b="0" i="1" smtClean="0">
                        <a:latin typeface="Cambria Math" panose="02040503050406030204" pitchFamily="18" charset="0"/>
                      </a:rPr>
                      <m:t>⋅ </m:t>
                    </m:r>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𝑝</m:t>
                        </m:r>
                      </m:e>
                      <m:sub>
                        <m:r>
                          <a:rPr lang="en-US" sz="3000" b="0" i="1" smtClean="0">
                            <a:latin typeface="Cambria Math" panose="02040503050406030204" pitchFamily="18" charset="0"/>
                          </a:rPr>
                          <m:t>𝑗</m:t>
                        </m:r>
                      </m:sub>
                      <m:sup>
                        <m:r>
                          <a:rPr lang="en-US" sz="3000" b="0" i="1" smtClean="0">
                            <a:latin typeface="Cambria Math" panose="02040503050406030204" pitchFamily="18" charset="0"/>
                          </a:rPr>
                          <m:t>𝑏𝑟</m:t>
                        </m:r>
                      </m:sup>
                    </m:sSubSup>
                    <m:r>
                      <a:rPr lang="en-US" sz="3000" b="0" i="1" smtClean="0">
                        <a:latin typeface="Cambria Math" panose="02040503050406030204" pitchFamily="18" charset="0"/>
                      </a:rPr>
                      <m:t>,  ∀</m:t>
                    </m:r>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𝑗</m:t>
                    </m:r>
                  </m:oMath>
                </a14:m>
                <a:endParaRPr lang="en-US" sz="3000" dirty="0"/>
              </a:p>
            </p:txBody>
          </p:sp>
        </mc:Choice>
        <mc:Fallback xmlns="">
          <p:sp>
            <p:nvSpPr>
              <p:cNvPr id="10" name="TextBox 9">
                <a:extLst>
                  <a:ext uri="{FF2B5EF4-FFF2-40B4-BE49-F238E27FC236}">
                    <a16:creationId xmlns:a16="http://schemas.microsoft.com/office/drawing/2014/main" id="{6A92B43D-E2DA-4B00-7371-37A11BFD2C4D}"/>
                  </a:ext>
                </a:extLst>
              </p:cNvPr>
              <p:cNvSpPr txBox="1">
                <a:spLocks noRot="1" noChangeAspect="1" noMove="1" noResize="1" noEditPoints="1" noAdjustHandles="1" noChangeArrowheads="1" noChangeShapeType="1" noTextEdit="1"/>
              </p:cNvSpPr>
              <p:nvPr/>
            </p:nvSpPr>
            <p:spPr>
              <a:xfrm>
                <a:off x="1128317" y="2951862"/>
                <a:ext cx="5305107" cy="603307"/>
              </a:xfrm>
              <a:prstGeom prst="rect">
                <a:avLst/>
              </a:prstGeom>
              <a:blipFill>
                <a:blip r:embed="rId5"/>
                <a:stretch>
                  <a:fillRect/>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AE7F8916-0F2F-9C96-64DF-0C29417FEF62}"/>
              </a:ext>
            </a:extLst>
          </p:cNvPr>
          <p:cNvSpPr txBox="1"/>
          <p:nvPr/>
        </p:nvSpPr>
        <p:spPr>
          <a:xfrm>
            <a:off x="8005808" y="956444"/>
            <a:ext cx="3763210" cy="1169551"/>
          </a:xfrm>
          <a:prstGeom prst="rect">
            <a:avLst/>
          </a:prstGeom>
          <a:solidFill>
            <a:schemeClr val="accent6">
              <a:lumMod val="20000"/>
              <a:lumOff val="80000"/>
            </a:schemeClr>
          </a:solidFill>
        </p:spPr>
        <p:txBody>
          <a:bodyPr wrap="square">
            <a:spAutoFit/>
          </a:bodyPr>
          <a:lstStyle/>
          <a:p>
            <a:r>
              <a:rPr lang="en-US" sz="1000" b="0" i="0" baseline="30000" dirty="0">
                <a:solidFill>
                  <a:srgbClr val="222222"/>
                </a:solidFill>
                <a:effectLst/>
                <a:latin typeface="Arial" panose="020B0604020202020204" pitchFamily="34" charset="0"/>
              </a:rPr>
              <a:t>1</a:t>
            </a:r>
            <a:r>
              <a:rPr lang="en-US" sz="1000" b="0" i="0" dirty="0">
                <a:solidFill>
                  <a:srgbClr val="222222"/>
                </a:solidFill>
                <a:effectLst/>
                <a:latin typeface="Arial" panose="020B0604020202020204" pitchFamily="34" charset="0"/>
              </a:rPr>
              <a:t>Even in a state-of-the-art ACOPF formulation (ARPA-E Grid Optimization Competition Challenge 3), transmission contingencies are expressed with a linearized DC model.</a:t>
            </a:r>
            <a:endParaRPr lang="en-US" sz="1000" b="0" i="0" baseline="30000" dirty="0">
              <a:solidFill>
                <a:srgbClr val="222222"/>
              </a:solidFill>
              <a:effectLst/>
              <a:latin typeface="Arial" panose="020B0604020202020204" pitchFamily="34" charset="0"/>
            </a:endParaRPr>
          </a:p>
          <a:p>
            <a:endParaRPr lang="en-US" sz="1000" dirty="0">
              <a:solidFill>
                <a:srgbClr val="222222"/>
              </a:solidFill>
              <a:latin typeface="Arial" panose="020B0604020202020204" pitchFamily="34" charset="0"/>
            </a:endParaRPr>
          </a:p>
          <a:p>
            <a:r>
              <a:rPr lang="en-US" sz="1000" b="0" i="0" dirty="0">
                <a:solidFill>
                  <a:srgbClr val="222222"/>
                </a:solidFill>
                <a:effectLst/>
                <a:latin typeface="Arial" panose="020B0604020202020204" pitchFamily="34" charset="0"/>
              </a:rPr>
              <a:t>Brun, M., Lee, T., Lauinger, D., Chen, X., &amp; Sun, X. A. (2025). Alternating methods for large-scale AC optimal power flow with unit commitment. </a:t>
            </a:r>
            <a:r>
              <a:rPr lang="en-US" sz="1000" b="0" i="1" dirty="0" err="1">
                <a:solidFill>
                  <a:srgbClr val="222222"/>
                </a:solidFill>
                <a:effectLst/>
                <a:latin typeface="Arial" panose="020B0604020202020204" pitchFamily="34" charset="0"/>
              </a:rPr>
              <a:t>arXiv</a:t>
            </a:r>
            <a:r>
              <a:rPr lang="en-US" sz="1000" b="0" i="1" dirty="0">
                <a:solidFill>
                  <a:srgbClr val="222222"/>
                </a:solidFill>
                <a:effectLst/>
                <a:latin typeface="Arial" panose="020B0604020202020204" pitchFamily="34" charset="0"/>
              </a:rPr>
              <a:t> preprint arXiv:2505.06211</a:t>
            </a:r>
            <a:r>
              <a:rPr lang="en-US" sz="1000" b="0" i="0" dirty="0">
                <a:solidFill>
                  <a:srgbClr val="222222"/>
                </a:solidFill>
                <a:effectLst/>
                <a:latin typeface="Arial" panose="020B0604020202020204" pitchFamily="34" charset="0"/>
              </a:rPr>
              <a:t>.</a:t>
            </a:r>
            <a:endParaRPr lang="en-US" sz="1000" dirty="0"/>
          </a:p>
        </p:txBody>
      </p:sp>
      <p:sp>
        <p:nvSpPr>
          <p:cNvPr id="33" name="TextBox 32">
            <a:extLst>
              <a:ext uri="{FF2B5EF4-FFF2-40B4-BE49-F238E27FC236}">
                <a16:creationId xmlns:a16="http://schemas.microsoft.com/office/drawing/2014/main" id="{4575F7A7-2A58-F76E-0523-EDF7F633D330}"/>
              </a:ext>
            </a:extLst>
          </p:cNvPr>
          <p:cNvSpPr txBox="1"/>
          <p:nvPr/>
        </p:nvSpPr>
        <p:spPr>
          <a:xfrm>
            <a:off x="422982" y="924646"/>
            <a:ext cx="7002238" cy="338554"/>
          </a:xfrm>
          <a:prstGeom prst="rect">
            <a:avLst/>
          </a:prstGeom>
          <a:noFill/>
        </p:spPr>
        <p:txBody>
          <a:bodyPr wrap="none" lIns="0" tIns="0" rIns="0" bIns="0" rtlCol="0">
            <a:spAutoFit/>
          </a:bodyPr>
          <a:lstStyle/>
          <a:p>
            <a:r>
              <a:rPr lang="en-US" sz="2200" dirty="0"/>
              <a:t>Assuming DC power flows</a:t>
            </a:r>
            <a:r>
              <a:rPr lang="en-US" sz="2200" baseline="30000" dirty="0"/>
              <a:t>1</a:t>
            </a:r>
            <a:r>
              <a:rPr lang="en-US" sz="2200" dirty="0"/>
              <a:t>, branch flows can be expressed as:</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D116A94-7EBE-17A1-4675-E8D86B26F5AE}"/>
                  </a:ext>
                </a:extLst>
              </p:cNvPr>
              <p:cNvSpPr txBox="1"/>
              <p:nvPr/>
            </p:nvSpPr>
            <p:spPr>
              <a:xfrm>
                <a:off x="2245360" y="1744502"/>
                <a:ext cx="698846"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accent5"/>
                          </a:solidFill>
                          <a:latin typeface="Cambria Math" panose="02040503050406030204" pitchFamily="18" charset="0"/>
                        </a:rPr>
                        <m:t>(</m:t>
                      </m:r>
                      <m:r>
                        <a:rPr lang="en-US" sz="1200" b="0" i="1" smtClean="0">
                          <a:solidFill>
                            <a:schemeClr val="accent5"/>
                          </a:solidFill>
                          <a:latin typeface="Cambria Math" panose="02040503050406030204" pitchFamily="18" charset="0"/>
                        </a:rPr>
                        <m:t>𝑏</m:t>
                      </m:r>
                      <m:r>
                        <a:rPr lang="en-US" sz="1200" b="0" i="1" smtClean="0">
                          <a:solidFill>
                            <a:schemeClr val="accent5"/>
                          </a:solidFill>
                          <a:latin typeface="Cambria Math" panose="02040503050406030204" pitchFamily="18" charset="0"/>
                        </a:rPr>
                        <m:t>×1)</m:t>
                      </m:r>
                    </m:oMath>
                  </m:oMathPara>
                </a14:m>
                <a:endParaRPr lang="en-US" sz="1200" dirty="0">
                  <a:solidFill>
                    <a:schemeClr val="accent5"/>
                  </a:solidFill>
                </a:endParaRPr>
              </a:p>
            </p:txBody>
          </p:sp>
        </mc:Choice>
        <mc:Fallback xmlns="">
          <p:sp>
            <p:nvSpPr>
              <p:cNvPr id="34" name="TextBox 33">
                <a:extLst>
                  <a:ext uri="{FF2B5EF4-FFF2-40B4-BE49-F238E27FC236}">
                    <a16:creationId xmlns:a16="http://schemas.microsoft.com/office/drawing/2014/main" id="{4D116A94-7EBE-17A1-4675-E8D86B26F5AE}"/>
                  </a:ext>
                </a:extLst>
              </p:cNvPr>
              <p:cNvSpPr txBox="1">
                <a:spLocks noRot="1" noChangeAspect="1" noMove="1" noResize="1" noEditPoints="1" noAdjustHandles="1" noChangeArrowheads="1" noChangeShapeType="1" noTextEdit="1"/>
              </p:cNvSpPr>
              <p:nvPr/>
            </p:nvSpPr>
            <p:spPr>
              <a:xfrm>
                <a:off x="2245360" y="1744502"/>
                <a:ext cx="698846" cy="276999"/>
              </a:xfrm>
              <a:prstGeom prst="rect">
                <a:avLst/>
              </a:prstGeom>
              <a:blipFill>
                <a:blip r:embed="rId6"/>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418C0DD-36BF-8D10-6082-E3056074C6A3}"/>
                  </a:ext>
                </a:extLst>
              </p:cNvPr>
              <p:cNvSpPr txBox="1"/>
              <p:nvPr/>
            </p:nvSpPr>
            <p:spPr>
              <a:xfrm>
                <a:off x="4194068" y="1744502"/>
                <a:ext cx="702885"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accent5"/>
                          </a:solidFill>
                          <a:latin typeface="Cambria Math" panose="02040503050406030204" pitchFamily="18" charset="0"/>
                        </a:rPr>
                        <m:t>(</m:t>
                      </m:r>
                      <m:r>
                        <a:rPr lang="en-US" sz="1200" b="0" i="1" smtClean="0">
                          <a:solidFill>
                            <a:schemeClr val="accent5"/>
                          </a:solidFill>
                          <a:latin typeface="Cambria Math" panose="02040503050406030204" pitchFamily="18" charset="0"/>
                        </a:rPr>
                        <m:t>𝑛</m:t>
                      </m:r>
                      <m:r>
                        <a:rPr lang="en-US" sz="1200" b="0" i="1" smtClean="0">
                          <a:solidFill>
                            <a:schemeClr val="accent5"/>
                          </a:solidFill>
                          <a:latin typeface="Cambria Math" panose="02040503050406030204" pitchFamily="18" charset="0"/>
                        </a:rPr>
                        <m:t>×1)</m:t>
                      </m:r>
                    </m:oMath>
                  </m:oMathPara>
                </a14:m>
                <a:endParaRPr lang="en-US" sz="1200" dirty="0">
                  <a:solidFill>
                    <a:schemeClr val="accent5"/>
                  </a:solidFill>
                </a:endParaRPr>
              </a:p>
            </p:txBody>
          </p:sp>
        </mc:Choice>
        <mc:Fallback xmlns="">
          <p:sp>
            <p:nvSpPr>
              <p:cNvPr id="35" name="TextBox 34">
                <a:extLst>
                  <a:ext uri="{FF2B5EF4-FFF2-40B4-BE49-F238E27FC236}">
                    <a16:creationId xmlns:a16="http://schemas.microsoft.com/office/drawing/2014/main" id="{E418C0DD-36BF-8D10-6082-E3056074C6A3}"/>
                  </a:ext>
                </a:extLst>
              </p:cNvPr>
              <p:cNvSpPr txBox="1">
                <a:spLocks noRot="1" noChangeAspect="1" noMove="1" noResize="1" noEditPoints="1" noAdjustHandles="1" noChangeArrowheads="1" noChangeShapeType="1" noTextEdit="1"/>
              </p:cNvSpPr>
              <p:nvPr/>
            </p:nvSpPr>
            <p:spPr>
              <a:xfrm>
                <a:off x="4194068" y="1744502"/>
                <a:ext cx="702885" cy="276999"/>
              </a:xfrm>
              <a:prstGeom prst="rect">
                <a:avLst/>
              </a:prstGeom>
              <a:blipFill>
                <a:blip r:embed="rId7"/>
                <a:stretch>
                  <a:fillRect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C7F5D53-D6E2-1CA9-9E58-879554871283}"/>
                  </a:ext>
                </a:extLst>
              </p:cNvPr>
              <p:cNvSpPr txBox="1"/>
              <p:nvPr/>
            </p:nvSpPr>
            <p:spPr>
              <a:xfrm>
                <a:off x="3353242" y="1744502"/>
                <a:ext cx="70468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accent5"/>
                          </a:solidFill>
                          <a:latin typeface="Cambria Math" panose="02040503050406030204" pitchFamily="18" charset="0"/>
                        </a:rPr>
                        <m:t>(</m:t>
                      </m:r>
                      <m:r>
                        <a:rPr lang="en-US" sz="1200" b="0" i="1" smtClean="0">
                          <a:solidFill>
                            <a:schemeClr val="accent5"/>
                          </a:solidFill>
                          <a:latin typeface="Cambria Math" panose="02040503050406030204" pitchFamily="18" charset="0"/>
                        </a:rPr>
                        <m:t>𝑏</m:t>
                      </m:r>
                      <m:r>
                        <a:rPr lang="en-US" sz="1200" b="0" i="1" smtClean="0">
                          <a:solidFill>
                            <a:schemeClr val="accent5"/>
                          </a:solidFill>
                          <a:latin typeface="Cambria Math" panose="02040503050406030204" pitchFamily="18" charset="0"/>
                        </a:rPr>
                        <m:t>×</m:t>
                      </m:r>
                      <m:r>
                        <a:rPr lang="en-US" sz="1200" b="0" i="1" smtClean="0">
                          <a:solidFill>
                            <a:schemeClr val="accent5"/>
                          </a:solidFill>
                          <a:latin typeface="Cambria Math" panose="02040503050406030204" pitchFamily="18" charset="0"/>
                        </a:rPr>
                        <m:t>𝑛</m:t>
                      </m:r>
                      <m:r>
                        <a:rPr lang="en-US" sz="1200" b="0" i="1" smtClean="0">
                          <a:solidFill>
                            <a:schemeClr val="accent5"/>
                          </a:solidFill>
                          <a:latin typeface="Cambria Math" panose="02040503050406030204" pitchFamily="18" charset="0"/>
                        </a:rPr>
                        <m:t>)</m:t>
                      </m:r>
                    </m:oMath>
                  </m:oMathPara>
                </a14:m>
                <a:endParaRPr lang="en-US" sz="1200" dirty="0">
                  <a:solidFill>
                    <a:schemeClr val="accent5"/>
                  </a:solidFill>
                </a:endParaRPr>
              </a:p>
            </p:txBody>
          </p:sp>
        </mc:Choice>
        <mc:Fallback xmlns="">
          <p:sp>
            <p:nvSpPr>
              <p:cNvPr id="36" name="TextBox 35">
                <a:extLst>
                  <a:ext uri="{FF2B5EF4-FFF2-40B4-BE49-F238E27FC236}">
                    <a16:creationId xmlns:a16="http://schemas.microsoft.com/office/drawing/2014/main" id="{AC7F5D53-D6E2-1CA9-9E58-879554871283}"/>
                  </a:ext>
                </a:extLst>
              </p:cNvPr>
              <p:cNvSpPr txBox="1">
                <a:spLocks noRot="1" noChangeAspect="1" noMove="1" noResize="1" noEditPoints="1" noAdjustHandles="1" noChangeArrowheads="1" noChangeShapeType="1" noTextEdit="1"/>
              </p:cNvSpPr>
              <p:nvPr/>
            </p:nvSpPr>
            <p:spPr>
              <a:xfrm>
                <a:off x="3353242" y="1744502"/>
                <a:ext cx="704680" cy="276999"/>
              </a:xfrm>
              <a:prstGeom prst="rect">
                <a:avLst/>
              </a:prstGeom>
              <a:blipFill>
                <a:blip r:embed="rId8"/>
                <a:stretch>
                  <a:fillRect b="-6522"/>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5D668FC6-6A02-12BE-2494-584CE41665A9}"/>
              </a:ext>
            </a:extLst>
          </p:cNvPr>
          <p:cNvSpPr txBox="1"/>
          <p:nvPr/>
        </p:nvSpPr>
        <p:spPr>
          <a:xfrm>
            <a:off x="3012825" y="1913326"/>
            <a:ext cx="1405834" cy="461665"/>
          </a:xfrm>
          <a:prstGeom prst="rect">
            <a:avLst/>
          </a:prstGeom>
          <a:noFill/>
        </p:spPr>
        <p:txBody>
          <a:bodyPr wrap="none" rtlCol="0">
            <a:spAutoFit/>
          </a:bodyPr>
          <a:lstStyle/>
          <a:p>
            <a:pPr algn="ctr"/>
            <a:r>
              <a:rPr lang="en-US" sz="1200" dirty="0">
                <a:solidFill>
                  <a:schemeClr val="accent5"/>
                </a:solidFill>
              </a:rPr>
              <a:t>Power Transfer</a:t>
            </a:r>
            <a:br>
              <a:rPr lang="en-US" sz="1200" dirty="0">
                <a:solidFill>
                  <a:schemeClr val="accent5"/>
                </a:solidFill>
              </a:rPr>
            </a:br>
            <a:r>
              <a:rPr lang="en-US" sz="1200" dirty="0">
                <a:solidFill>
                  <a:schemeClr val="accent5"/>
                </a:solidFill>
              </a:rPr>
              <a:t>Distribution Factors</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D1FFA65-DCCA-1707-D87C-8A047966DC1A}"/>
                  </a:ext>
                </a:extLst>
              </p:cNvPr>
              <p:cNvSpPr txBox="1"/>
              <p:nvPr/>
            </p:nvSpPr>
            <p:spPr>
              <a:xfrm>
                <a:off x="422982" y="2592718"/>
                <a:ext cx="6693948" cy="338554"/>
              </a:xfrm>
              <a:prstGeom prst="rect">
                <a:avLst/>
              </a:prstGeom>
              <a:noFill/>
            </p:spPr>
            <p:txBody>
              <a:bodyPr wrap="none" lIns="0" tIns="0" rIns="0" bIns="0" rtlCol="0">
                <a:spAutoFit/>
              </a:bodyPr>
              <a:lstStyle/>
              <a:p>
                <a:r>
                  <a:rPr lang="en-US" sz="2200" i="1" dirty="0"/>
                  <a:t>Post-contingency</a:t>
                </a:r>
                <a:r>
                  <a:rPr lang="en-US" sz="2200" dirty="0"/>
                  <a:t> flow on branch </a:t>
                </a:r>
                <a14:m>
                  <m:oMath xmlns:m="http://schemas.openxmlformats.org/officeDocument/2006/math">
                    <m:r>
                      <a:rPr lang="en-US" sz="2200" b="0" i="1" smtClean="0">
                        <a:latin typeface="Cambria Math" panose="02040503050406030204" pitchFamily="18" charset="0"/>
                      </a:rPr>
                      <m:t>𝑖</m:t>
                    </m:r>
                  </m:oMath>
                </a14:m>
                <a:r>
                  <a:rPr lang="en-US" sz="2200" dirty="0"/>
                  <a:t>, for the loss of branch </a:t>
                </a:r>
                <a14:m>
                  <m:oMath xmlns:m="http://schemas.openxmlformats.org/officeDocument/2006/math">
                    <m:r>
                      <a:rPr lang="en-US" sz="2200" b="0" i="1" smtClean="0">
                        <a:latin typeface="Cambria Math" panose="02040503050406030204" pitchFamily="18" charset="0"/>
                      </a:rPr>
                      <m:t>𝑗</m:t>
                    </m:r>
                  </m:oMath>
                </a14:m>
                <a:r>
                  <a:rPr lang="en-US" sz="2200" dirty="0"/>
                  <a:t>:</a:t>
                </a:r>
              </a:p>
            </p:txBody>
          </p:sp>
        </mc:Choice>
        <mc:Fallback xmlns="">
          <p:sp>
            <p:nvSpPr>
              <p:cNvPr id="38" name="TextBox 37">
                <a:extLst>
                  <a:ext uri="{FF2B5EF4-FFF2-40B4-BE49-F238E27FC236}">
                    <a16:creationId xmlns:a16="http://schemas.microsoft.com/office/drawing/2014/main" id="{6D1FFA65-DCCA-1707-D87C-8A047966DC1A}"/>
                  </a:ext>
                </a:extLst>
              </p:cNvPr>
              <p:cNvSpPr txBox="1">
                <a:spLocks noRot="1" noChangeAspect="1" noMove="1" noResize="1" noEditPoints="1" noAdjustHandles="1" noChangeArrowheads="1" noChangeShapeType="1" noTextEdit="1"/>
              </p:cNvSpPr>
              <p:nvPr/>
            </p:nvSpPr>
            <p:spPr>
              <a:xfrm>
                <a:off x="422982" y="2592718"/>
                <a:ext cx="6693948" cy="338554"/>
              </a:xfrm>
              <a:prstGeom prst="rect">
                <a:avLst/>
              </a:prstGeom>
              <a:blipFill>
                <a:blip r:embed="rId9"/>
                <a:stretch>
                  <a:fillRect l="-2550" t="-25000" r="-1457" b="-48214"/>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AEBBEC9B-53D1-93F6-E802-484236A36461}"/>
              </a:ext>
            </a:extLst>
          </p:cNvPr>
          <p:cNvSpPr txBox="1"/>
          <p:nvPr/>
        </p:nvSpPr>
        <p:spPr>
          <a:xfrm>
            <a:off x="3043591" y="3473426"/>
            <a:ext cx="1405834" cy="461665"/>
          </a:xfrm>
          <a:prstGeom prst="rect">
            <a:avLst/>
          </a:prstGeom>
          <a:noFill/>
        </p:spPr>
        <p:txBody>
          <a:bodyPr wrap="none" rtlCol="0">
            <a:spAutoFit/>
          </a:bodyPr>
          <a:lstStyle/>
          <a:p>
            <a:pPr algn="ctr"/>
            <a:r>
              <a:rPr lang="en-US" sz="1200" dirty="0">
                <a:solidFill>
                  <a:schemeClr val="accent5"/>
                </a:solidFill>
              </a:rPr>
              <a:t>Line Outage</a:t>
            </a:r>
            <a:br>
              <a:rPr lang="en-US" sz="1200" dirty="0">
                <a:solidFill>
                  <a:schemeClr val="accent5"/>
                </a:solidFill>
              </a:rPr>
            </a:br>
            <a:r>
              <a:rPr lang="en-US" sz="1200" dirty="0">
                <a:solidFill>
                  <a:schemeClr val="accent5"/>
                </a:solidFill>
              </a:rPr>
              <a:t>Distribution Factors</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9C4691F-23DC-1C39-454D-6FB078AD2403}"/>
                  </a:ext>
                </a:extLst>
              </p:cNvPr>
              <p:cNvSpPr txBox="1"/>
              <p:nvPr/>
            </p:nvSpPr>
            <p:spPr>
              <a:xfrm>
                <a:off x="3434879" y="5925816"/>
                <a:ext cx="1673860" cy="276999"/>
              </a:xfrm>
              <a:prstGeom prst="rect">
                <a:avLst/>
              </a:prstGeom>
              <a:noFill/>
            </p:spPr>
            <p:txBody>
              <a:bodyPr wrap="square">
                <a:spAutoFit/>
              </a:bodyPr>
              <a:lstStyle/>
              <a:p>
                <a:r>
                  <a:rPr lang="en-US" sz="1200" b="0" dirty="0">
                    <a:solidFill>
                      <a:schemeClr val="accent5"/>
                    </a:solidFill>
                  </a:rPr>
                  <a:t>(</a:t>
                </a:r>
                <a14:m>
                  <m:oMath xmlns:m="http://schemas.openxmlformats.org/officeDocument/2006/math">
                    <m:r>
                      <a:rPr lang="en-US" sz="1200" b="0" i="1" smtClean="0">
                        <a:solidFill>
                          <a:schemeClr val="accent5"/>
                        </a:solidFill>
                        <a:latin typeface="Cambria Math" panose="02040503050406030204" pitchFamily="18" charset="0"/>
                      </a:rPr>
                      <m:t>𝜂</m:t>
                    </m:r>
                  </m:oMath>
                </a14:m>
                <a:r>
                  <a:rPr lang="en-US" sz="1200" dirty="0">
                    <a:solidFill>
                      <a:schemeClr val="accent5"/>
                    </a:solidFill>
                  </a:rPr>
                  <a:t> is typically 1.2)</a:t>
                </a:r>
              </a:p>
            </p:txBody>
          </p:sp>
        </mc:Choice>
        <mc:Fallback xmlns="">
          <p:sp>
            <p:nvSpPr>
              <p:cNvPr id="44" name="TextBox 43">
                <a:extLst>
                  <a:ext uri="{FF2B5EF4-FFF2-40B4-BE49-F238E27FC236}">
                    <a16:creationId xmlns:a16="http://schemas.microsoft.com/office/drawing/2014/main" id="{D9C4691F-23DC-1C39-454D-6FB078AD2403}"/>
                  </a:ext>
                </a:extLst>
              </p:cNvPr>
              <p:cNvSpPr txBox="1">
                <a:spLocks noRot="1" noChangeAspect="1" noMove="1" noResize="1" noEditPoints="1" noAdjustHandles="1" noChangeArrowheads="1" noChangeShapeType="1" noTextEdit="1"/>
              </p:cNvSpPr>
              <p:nvPr/>
            </p:nvSpPr>
            <p:spPr>
              <a:xfrm>
                <a:off x="3434879" y="5925816"/>
                <a:ext cx="1673860" cy="276999"/>
              </a:xfrm>
              <a:prstGeom prst="rect">
                <a:avLst/>
              </a:prstGeom>
              <a:blipFill>
                <a:blip r:embed="rId10"/>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2F5AD9-008B-EEF8-5CFA-234C41D00AAF}"/>
                  </a:ext>
                </a:extLst>
              </p:cNvPr>
              <p:cNvSpPr txBox="1"/>
              <p:nvPr/>
            </p:nvSpPr>
            <p:spPr>
              <a:xfrm>
                <a:off x="8005808" y="2877375"/>
                <a:ext cx="3763210" cy="754630"/>
              </a:xfrm>
              <a:prstGeom prst="rect">
                <a:avLst/>
              </a:prstGeom>
              <a:solidFill>
                <a:schemeClr val="accent5">
                  <a:lumMod val="20000"/>
                  <a:lumOff val="8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LODF</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PTDF</m:t>
                              </m:r>
                            </m:e>
                            <m:sub>
                              <m:r>
                                <a:rPr lang="en-US" b="0" i="1" smtClean="0">
                                  <a:latin typeface="Cambria Math" panose="02040503050406030204" pitchFamily="18" charset="0"/>
                                </a:rPr>
                                <m:t>𝑖</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fr</m:t>
                                  </m:r>
                                </m:e>
                                <m:sub>
                                  <m:r>
                                    <a:rPr lang="en-US" b="0" i="1" smtClean="0">
                                      <a:latin typeface="Cambria Math" panose="02040503050406030204" pitchFamily="18" charset="0"/>
                                    </a:rPr>
                                    <m:t>𝑗</m:t>
                                  </m:r>
                                </m:sub>
                              </m:sSub>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PTDF</m:t>
                              </m:r>
                            </m:e>
                            <m:sub>
                              <m:r>
                                <a:rPr lang="en-US" i="1">
                                  <a:latin typeface="Cambria Math" panose="02040503050406030204" pitchFamily="18" charset="0"/>
                                </a:rPr>
                                <m:t>𝑖</m:t>
                              </m:r>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to</m:t>
                                  </m:r>
                                </m:e>
                                <m:sub>
                                  <m:r>
                                    <a:rPr lang="en-US" i="1">
                                      <a:latin typeface="Cambria Math" panose="02040503050406030204" pitchFamily="18" charset="0"/>
                                    </a:rPr>
                                    <m:t>𝑗</m:t>
                                  </m:r>
                                </m:sub>
                              </m:sSub>
                            </m:sub>
                          </m:sSub>
                        </m:num>
                        <m:den>
                          <m:r>
                            <a:rPr lang="en-US" b="0" i="1" smtClean="0">
                              <a:latin typeface="Cambria Math" panose="02040503050406030204" pitchFamily="18" charset="0"/>
                            </a:rPr>
                            <m:t>1−</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PTDF</m:t>
                                  </m:r>
                                </m:e>
                                <m:sub>
                                  <m:r>
                                    <a:rPr lang="en-US" b="0" i="1" smtClean="0">
                                      <a:latin typeface="Cambria Math" panose="02040503050406030204" pitchFamily="18" charset="0"/>
                                    </a:rPr>
                                    <m:t>𝑗</m:t>
                                  </m:r>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fr</m:t>
                                      </m:r>
                                    </m:e>
                                    <m:sub>
                                      <m:r>
                                        <a:rPr lang="en-US" i="1">
                                          <a:latin typeface="Cambria Math" panose="02040503050406030204" pitchFamily="18" charset="0"/>
                                        </a:rPr>
                                        <m:t>𝑗</m:t>
                                      </m:r>
                                    </m:sub>
                                  </m:sSub>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PTDF</m:t>
                                  </m:r>
                                </m:e>
                                <m:sub>
                                  <m:r>
                                    <a:rPr lang="en-US" b="0" i="1" smtClean="0">
                                      <a:latin typeface="Cambria Math" panose="02040503050406030204" pitchFamily="18" charset="0"/>
                                    </a:rPr>
                                    <m:t>𝑗</m:t>
                                  </m:r>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to</m:t>
                                      </m:r>
                                    </m:e>
                                    <m:sub>
                                      <m:r>
                                        <a:rPr lang="en-US" i="1">
                                          <a:latin typeface="Cambria Math" panose="02040503050406030204" pitchFamily="18" charset="0"/>
                                        </a:rPr>
                                        <m:t>𝑗</m:t>
                                      </m:r>
                                    </m:sub>
                                  </m:sSub>
                                </m:sub>
                              </m:sSub>
                            </m:e>
                          </m:d>
                        </m:den>
                      </m:f>
                    </m:oMath>
                  </m:oMathPara>
                </a14:m>
                <a:endParaRPr lang="en-US" dirty="0"/>
              </a:p>
            </p:txBody>
          </p:sp>
        </mc:Choice>
        <mc:Fallback xmlns="">
          <p:sp>
            <p:nvSpPr>
              <p:cNvPr id="47" name="TextBox 46">
                <a:extLst>
                  <a:ext uri="{FF2B5EF4-FFF2-40B4-BE49-F238E27FC236}">
                    <a16:creationId xmlns:a16="http://schemas.microsoft.com/office/drawing/2014/main" id="{512F5AD9-008B-EEF8-5CFA-234C41D00AAF}"/>
                  </a:ext>
                </a:extLst>
              </p:cNvPr>
              <p:cNvSpPr txBox="1">
                <a:spLocks noRot="1" noChangeAspect="1" noMove="1" noResize="1" noEditPoints="1" noAdjustHandles="1" noChangeArrowheads="1" noChangeShapeType="1" noTextEdit="1"/>
              </p:cNvSpPr>
              <p:nvPr/>
            </p:nvSpPr>
            <p:spPr>
              <a:xfrm>
                <a:off x="8005808" y="2877375"/>
                <a:ext cx="3763210" cy="75463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DF7CF95-0207-5A45-5BE7-4922F81534BA}"/>
                  </a:ext>
                </a:extLst>
              </p:cNvPr>
              <p:cNvSpPr txBox="1"/>
              <p:nvPr/>
            </p:nvSpPr>
            <p:spPr>
              <a:xfrm>
                <a:off x="9164695" y="3733524"/>
                <a:ext cx="2441826" cy="461665"/>
              </a:xfrm>
              <a:prstGeom prst="rect">
                <a:avLst/>
              </a:prstGeom>
              <a:noFill/>
            </p:spPr>
            <p:txBody>
              <a:bodyPr wrap="square" rtlCol="0">
                <a:spAutoFit/>
              </a:bodyPr>
              <a:lstStyle/>
              <a:p>
                <a:pPr algn="ctr"/>
                <a:r>
                  <a:rPr lang="en-US" sz="1200" dirty="0">
                    <a:solidFill>
                      <a:schemeClr val="accent5"/>
                    </a:solidFill>
                  </a:rPr>
                  <a:t>Portion of this 1MW transfer carried by paths other than branch </a:t>
                </a:r>
                <a14:m>
                  <m:oMath xmlns:m="http://schemas.openxmlformats.org/officeDocument/2006/math">
                    <m:r>
                      <a:rPr lang="en-US" sz="1200" b="0" i="1" smtClean="0">
                        <a:solidFill>
                          <a:schemeClr val="accent5"/>
                        </a:solidFill>
                        <a:latin typeface="Cambria Math" panose="02040503050406030204" pitchFamily="18" charset="0"/>
                      </a:rPr>
                      <m:t>𝑗</m:t>
                    </m:r>
                  </m:oMath>
                </a14:m>
                <a:endParaRPr lang="en-US" sz="1200" dirty="0">
                  <a:solidFill>
                    <a:schemeClr val="accent5"/>
                  </a:solidFill>
                </a:endParaRPr>
              </a:p>
            </p:txBody>
          </p:sp>
        </mc:Choice>
        <mc:Fallback xmlns="">
          <p:sp>
            <p:nvSpPr>
              <p:cNvPr id="48" name="TextBox 47">
                <a:extLst>
                  <a:ext uri="{FF2B5EF4-FFF2-40B4-BE49-F238E27FC236}">
                    <a16:creationId xmlns:a16="http://schemas.microsoft.com/office/drawing/2014/main" id="{6DF7CF95-0207-5A45-5BE7-4922F81534BA}"/>
                  </a:ext>
                </a:extLst>
              </p:cNvPr>
              <p:cNvSpPr txBox="1">
                <a:spLocks noRot="1" noChangeAspect="1" noMove="1" noResize="1" noEditPoints="1" noAdjustHandles="1" noChangeArrowheads="1" noChangeShapeType="1" noTextEdit="1"/>
              </p:cNvSpPr>
              <p:nvPr/>
            </p:nvSpPr>
            <p:spPr>
              <a:xfrm>
                <a:off x="9164695" y="3733524"/>
                <a:ext cx="2441826" cy="461665"/>
              </a:xfrm>
              <a:prstGeom prst="rect">
                <a:avLst/>
              </a:prstGeom>
              <a:blipFill>
                <a:blip r:embed="rId12"/>
                <a:stretch>
                  <a:fillRect r="-748" b="-9211"/>
                </a:stretch>
              </a:blipFill>
            </p:spPr>
            <p:txBody>
              <a:bodyPr/>
              <a:lstStyle/>
              <a:p>
                <a:r>
                  <a:rPr lang="en-US">
                    <a:noFill/>
                  </a:rPr>
                  <a:t> </a:t>
                </a:r>
              </a:p>
            </p:txBody>
          </p:sp>
        </mc:Fallback>
      </mc:AlternateContent>
      <p:sp>
        <p:nvSpPr>
          <p:cNvPr id="49" name="Right Brace 48">
            <a:extLst>
              <a:ext uri="{FF2B5EF4-FFF2-40B4-BE49-F238E27FC236}">
                <a16:creationId xmlns:a16="http://schemas.microsoft.com/office/drawing/2014/main" id="{E9174ADE-E8D7-FC78-5409-2642E3EC4998}"/>
              </a:ext>
            </a:extLst>
          </p:cNvPr>
          <p:cNvSpPr/>
          <p:nvPr/>
        </p:nvSpPr>
        <p:spPr>
          <a:xfrm rot="16200000">
            <a:off x="10242700" y="1708411"/>
            <a:ext cx="227724" cy="2146877"/>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61DBDAC-0146-AF5C-50FE-1FA25F650617}"/>
                  </a:ext>
                </a:extLst>
              </p:cNvPr>
              <p:cNvSpPr txBox="1"/>
              <p:nvPr/>
            </p:nvSpPr>
            <p:spPr>
              <a:xfrm>
                <a:off x="8873994" y="2296224"/>
                <a:ext cx="2895024" cy="461665"/>
              </a:xfrm>
              <a:prstGeom prst="rect">
                <a:avLst/>
              </a:prstGeom>
              <a:noFill/>
            </p:spPr>
            <p:txBody>
              <a:bodyPr wrap="square" rtlCol="0">
                <a:spAutoFit/>
              </a:bodyPr>
              <a:lstStyle/>
              <a:p>
                <a:pPr algn="ctr"/>
                <a:r>
                  <a:rPr lang="en-US" sz="1200" dirty="0">
                    <a:solidFill>
                      <a:schemeClr val="accent5"/>
                    </a:solidFill>
                  </a:rPr>
                  <a:t>Change in branch </a:t>
                </a:r>
                <a14:m>
                  <m:oMath xmlns:m="http://schemas.openxmlformats.org/officeDocument/2006/math">
                    <m:r>
                      <a:rPr lang="en-US" sz="1200" b="0" i="1" smtClean="0">
                        <a:solidFill>
                          <a:schemeClr val="accent5"/>
                        </a:solidFill>
                        <a:latin typeface="Cambria Math" panose="02040503050406030204" pitchFamily="18" charset="0"/>
                      </a:rPr>
                      <m:t>𝑖</m:t>
                    </m:r>
                  </m:oMath>
                </a14:m>
                <a:r>
                  <a:rPr lang="en-US" sz="1200" dirty="0">
                    <a:solidFill>
                      <a:schemeClr val="accent5"/>
                    </a:solidFill>
                  </a:rPr>
                  <a:t>’s flow per 1MW transfer from branch </a:t>
                </a:r>
                <a14:m>
                  <m:oMath xmlns:m="http://schemas.openxmlformats.org/officeDocument/2006/math">
                    <m:r>
                      <a:rPr lang="en-US" sz="1200" b="0" i="1" smtClean="0">
                        <a:solidFill>
                          <a:schemeClr val="accent5"/>
                        </a:solidFill>
                        <a:latin typeface="Cambria Math" panose="02040503050406030204" pitchFamily="18" charset="0"/>
                      </a:rPr>
                      <m:t>𝑗</m:t>
                    </m:r>
                  </m:oMath>
                </a14:m>
                <a:r>
                  <a:rPr lang="en-US" sz="1200" dirty="0">
                    <a:solidFill>
                      <a:schemeClr val="accent5"/>
                    </a:solidFill>
                  </a:rPr>
                  <a:t>’s (from bus) </a:t>
                </a:r>
                <a:r>
                  <a:rPr lang="en-US" sz="1200" dirty="0">
                    <a:solidFill>
                      <a:schemeClr val="accent5"/>
                    </a:solidFill>
                    <a:sym typeface="Wingdings" panose="05000000000000000000" pitchFamily="2" charset="2"/>
                  </a:rPr>
                  <a:t> (to bus)</a:t>
                </a:r>
                <a:endParaRPr lang="en-US" sz="1200" dirty="0">
                  <a:solidFill>
                    <a:schemeClr val="accent5"/>
                  </a:solidFill>
                </a:endParaRPr>
              </a:p>
            </p:txBody>
          </p:sp>
        </mc:Choice>
        <mc:Fallback xmlns="">
          <p:sp>
            <p:nvSpPr>
              <p:cNvPr id="50" name="TextBox 49">
                <a:extLst>
                  <a:ext uri="{FF2B5EF4-FFF2-40B4-BE49-F238E27FC236}">
                    <a16:creationId xmlns:a16="http://schemas.microsoft.com/office/drawing/2014/main" id="{961DBDAC-0146-AF5C-50FE-1FA25F650617}"/>
                  </a:ext>
                </a:extLst>
              </p:cNvPr>
              <p:cNvSpPr txBox="1">
                <a:spLocks noRot="1" noChangeAspect="1" noMove="1" noResize="1" noEditPoints="1" noAdjustHandles="1" noChangeArrowheads="1" noChangeShapeType="1" noTextEdit="1"/>
              </p:cNvSpPr>
              <p:nvPr/>
            </p:nvSpPr>
            <p:spPr>
              <a:xfrm>
                <a:off x="8873994" y="2296224"/>
                <a:ext cx="2895024" cy="461665"/>
              </a:xfrm>
              <a:prstGeom prst="rect">
                <a:avLst/>
              </a:prstGeom>
              <a:blipFill>
                <a:blip r:embed="rId13"/>
                <a:stretch>
                  <a:fillRect t="-1333" r="-842" b="-12000"/>
                </a:stretch>
              </a:blipFill>
            </p:spPr>
            <p:txBody>
              <a:bodyPr/>
              <a:lstStyle/>
              <a:p>
                <a:r>
                  <a:rPr lang="en-US">
                    <a:noFill/>
                  </a:rPr>
                  <a:t> </a:t>
                </a:r>
              </a:p>
            </p:txBody>
          </p:sp>
        </mc:Fallback>
      </mc:AlternateContent>
      <p:sp>
        <p:nvSpPr>
          <p:cNvPr id="51" name="Right Brace 50">
            <a:extLst>
              <a:ext uri="{FF2B5EF4-FFF2-40B4-BE49-F238E27FC236}">
                <a16:creationId xmlns:a16="http://schemas.microsoft.com/office/drawing/2014/main" id="{22296AE8-92F5-5B60-AC24-732210585903}"/>
              </a:ext>
            </a:extLst>
          </p:cNvPr>
          <p:cNvSpPr/>
          <p:nvPr/>
        </p:nvSpPr>
        <p:spPr>
          <a:xfrm rot="5400000">
            <a:off x="10266143" y="2357901"/>
            <a:ext cx="238930" cy="2726178"/>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92889ADC-BBB6-1A7E-002D-628F499F21B9}"/>
              </a:ext>
            </a:extLst>
          </p:cNvPr>
          <p:cNvCxnSpPr>
            <a:cxnSpLocks/>
          </p:cNvCxnSpPr>
          <p:nvPr/>
        </p:nvCxnSpPr>
        <p:spPr>
          <a:xfrm flipH="1">
            <a:off x="6715760" y="4717584"/>
            <a:ext cx="1178174"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3397DEA-9418-BD9D-2B36-2DDB25DB3790}"/>
              </a:ext>
            </a:extLst>
          </p:cNvPr>
          <p:cNvCxnSpPr>
            <a:cxnSpLocks/>
          </p:cNvCxnSpPr>
          <p:nvPr/>
        </p:nvCxnSpPr>
        <p:spPr>
          <a:xfrm flipH="1">
            <a:off x="7552173" y="5628640"/>
            <a:ext cx="341761"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2874B0A-BF28-C781-8F8E-63084D7ABECF}"/>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5" name="TextBox 4">
            <a:extLst>
              <a:ext uri="{FF2B5EF4-FFF2-40B4-BE49-F238E27FC236}">
                <a16:creationId xmlns:a16="http://schemas.microsoft.com/office/drawing/2014/main" id="{AB1004AE-DB38-23E7-04A4-4B2813FE5B6B}"/>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6685574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077E4-5DAE-964F-594F-9FFA74A57B8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01EDF16-5B65-3C2A-AC6D-2CF7EEF21218}"/>
              </a:ext>
            </a:extLst>
          </p:cNvPr>
          <p:cNvSpPr/>
          <p:nvPr/>
        </p:nvSpPr>
        <p:spPr>
          <a:xfrm>
            <a:off x="422982" y="174467"/>
            <a:ext cx="10915669" cy="646331"/>
          </a:xfrm>
          <a:prstGeom prst="rect">
            <a:avLst/>
          </a:prstGeom>
        </p:spPr>
        <p:txBody>
          <a:bodyPr wrap="square" lIns="0">
            <a:spAutoFit/>
          </a:bodyPr>
          <a:lstStyle/>
          <a:p>
            <a:r>
              <a:rPr lang="en-US" sz="3600" dirty="0"/>
              <a:t>Contingencies in generator interconnection</a:t>
            </a:r>
          </a:p>
        </p:txBody>
      </p:sp>
      <p:sp>
        <p:nvSpPr>
          <p:cNvPr id="4" name="TextBox 3">
            <a:extLst>
              <a:ext uri="{FF2B5EF4-FFF2-40B4-BE49-F238E27FC236}">
                <a16:creationId xmlns:a16="http://schemas.microsoft.com/office/drawing/2014/main" id="{6BDE3E5C-CE04-9077-AE20-A0851DAA40CB}"/>
              </a:ext>
            </a:extLst>
          </p:cNvPr>
          <p:cNvSpPr txBox="1"/>
          <p:nvPr/>
        </p:nvSpPr>
        <p:spPr>
          <a:xfrm>
            <a:off x="422982" y="800318"/>
            <a:ext cx="9299021" cy="369332"/>
          </a:xfrm>
          <a:prstGeom prst="rect">
            <a:avLst/>
          </a:prstGeom>
          <a:noFill/>
        </p:spPr>
        <p:txBody>
          <a:bodyPr wrap="none" rtlCol="0">
            <a:spAutoFit/>
          </a:bodyPr>
          <a:lstStyle/>
          <a:p>
            <a:r>
              <a:rPr lang="en-US" i="1" u="sng" dirty="0"/>
              <a:t>PJM example:</a:t>
            </a:r>
            <a:r>
              <a:rPr lang="en-US" i="1" dirty="0"/>
              <a:t> </a:t>
            </a:r>
            <a:r>
              <a:rPr lang="en-US" dirty="0"/>
              <a:t>Example upgrades allocated to </a:t>
            </a:r>
            <a:r>
              <a:rPr lang="en-US" b="1" dirty="0"/>
              <a:t>AF1-123-5: Coastal Virginia Offshore Wind (2.6GW)</a:t>
            </a:r>
          </a:p>
        </p:txBody>
      </p:sp>
      <p:pic>
        <p:nvPicPr>
          <p:cNvPr id="12" name="Picture 11">
            <a:extLst>
              <a:ext uri="{FF2B5EF4-FFF2-40B4-BE49-F238E27FC236}">
                <a16:creationId xmlns:a16="http://schemas.microsoft.com/office/drawing/2014/main" id="{55499CD9-C8D0-761F-031B-A90EB77C5F8A}"/>
              </a:ext>
            </a:extLst>
          </p:cNvPr>
          <p:cNvPicPr>
            <a:picLocks noChangeAspect="1"/>
          </p:cNvPicPr>
          <p:nvPr/>
        </p:nvPicPr>
        <p:blipFill>
          <a:blip r:embed="rId3"/>
          <a:srcRect r="697"/>
          <a:stretch>
            <a:fillRect/>
          </a:stretch>
        </p:blipFill>
        <p:spPr>
          <a:xfrm>
            <a:off x="471242" y="1568008"/>
            <a:ext cx="6874438" cy="2722110"/>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E5E256AA-EFE3-58ED-26E8-91A94D01EFA6}"/>
              </a:ext>
            </a:extLst>
          </p:cNvPr>
          <p:cNvPicPr>
            <a:picLocks noChangeAspect="1"/>
          </p:cNvPicPr>
          <p:nvPr/>
        </p:nvPicPr>
        <p:blipFill>
          <a:blip r:embed="rId4"/>
          <a:stretch>
            <a:fillRect/>
          </a:stretch>
        </p:blipFill>
        <p:spPr>
          <a:xfrm>
            <a:off x="422982" y="4658799"/>
            <a:ext cx="6922698" cy="1612773"/>
          </a:xfrm>
          <a:prstGeom prst="rect">
            <a:avLst/>
          </a:prstGeom>
          <a:effectLst>
            <a:outerShdw blurRad="50800" dist="38100" dir="2700000" algn="tl" rotWithShape="0">
              <a:prstClr val="black">
                <a:alpha val="40000"/>
              </a:prstClr>
            </a:outerShdw>
          </a:effectLst>
        </p:spPr>
      </p:pic>
      <p:sp>
        <p:nvSpPr>
          <p:cNvPr id="16" name="TextBox 15">
            <a:extLst>
              <a:ext uri="{FF2B5EF4-FFF2-40B4-BE49-F238E27FC236}">
                <a16:creationId xmlns:a16="http://schemas.microsoft.com/office/drawing/2014/main" id="{4DCB3201-59C6-C318-8145-B793877EFC92}"/>
              </a:ext>
            </a:extLst>
          </p:cNvPr>
          <p:cNvSpPr txBox="1"/>
          <p:nvPr/>
        </p:nvSpPr>
        <p:spPr>
          <a:xfrm>
            <a:off x="422982" y="1288782"/>
            <a:ext cx="7308778" cy="307777"/>
          </a:xfrm>
          <a:prstGeom prst="rect">
            <a:avLst/>
          </a:prstGeom>
          <a:noFill/>
        </p:spPr>
        <p:txBody>
          <a:bodyPr wrap="square">
            <a:spAutoFit/>
          </a:bodyPr>
          <a:lstStyle/>
          <a:p>
            <a:r>
              <a:rPr lang="en-US" sz="1400" b="1" dirty="0"/>
              <a:t>$16M upgrade project</a:t>
            </a:r>
            <a:r>
              <a:rPr lang="en-US" sz="1000" dirty="0"/>
              <a:t>: “Wreck and rebuild 5.86 miles of 230 kV line 2028 between AF2-397 Tap to Grape Vine (Cunningham)”</a:t>
            </a:r>
          </a:p>
        </p:txBody>
      </p:sp>
      <p:sp>
        <p:nvSpPr>
          <p:cNvPr id="17" name="Rectangle 16">
            <a:extLst>
              <a:ext uri="{FF2B5EF4-FFF2-40B4-BE49-F238E27FC236}">
                <a16:creationId xmlns:a16="http://schemas.microsoft.com/office/drawing/2014/main" id="{A540CA33-FA34-4DB6-6C61-CFB1B4356FF5}"/>
              </a:ext>
            </a:extLst>
          </p:cNvPr>
          <p:cNvSpPr/>
          <p:nvPr/>
        </p:nvSpPr>
        <p:spPr>
          <a:xfrm>
            <a:off x="471242" y="2004503"/>
            <a:ext cx="6874438" cy="2025396"/>
          </a:xfrm>
          <a:prstGeom prst="rect">
            <a:avLst/>
          </a:prstGeom>
          <a:solidFill>
            <a:srgbClr val="FFF2CC">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D68C63B-67DE-09A2-9B85-7EFD12FD62FF}"/>
              </a:ext>
            </a:extLst>
          </p:cNvPr>
          <p:cNvSpPr/>
          <p:nvPr/>
        </p:nvSpPr>
        <p:spPr>
          <a:xfrm>
            <a:off x="2501902" y="4041593"/>
            <a:ext cx="1179899" cy="248525"/>
          </a:xfrm>
          <a:prstGeom prst="rect">
            <a:avLst/>
          </a:prstGeom>
          <a:solidFill>
            <a:schemeClr val="accent5">
              <a:lumMod val="40000"/>
              <a:lumOff val="60000"/>
              <a:alpha val="5019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DC18649-F598-B6E8-EEEE-80F768297E32}"/>
              </a:ext>
            </a:extLst>
          </p:cNvPr>
          <p:cNvSpPr txBox="1"/>
          <p:nvPr/>
        </p:nvSpPr>
        <p:spPr>
          <a:xfrm>
            <a:off x="2522223" y="3981189"/>
            <a:ext cx="1178918" cy="369332"/>
          </a:xfrm>
          <a:prstGeom prst="rect">
            <a:avLst/>
          </a:prstGeom>
          <a:noFill/>
        </p:spPr>
        <p:txBody>
          <a:bodyPr wrap="square" rtlCol="0">
            <a:spAutoFit/>
          </a:bodyPr>
          <a:lstStyle/>
          <a:p>
            <a:r>
              <a:rPr lang="en-US" b="1" dirty="0">
                <a:solidFill>
                  <a:schemeClr val="accent1"/>
                </a:solidFill>
              </a:rPr>
              <a:t>Base Case</a:t>
            </a:r>
          </a:p>
        </p:txBody>
      </p:sp>
      <p:sp>
        <p:nvSpPr>
          <p:cNvPr id="23" name="TextBox 22">
            <a:extLst>
              <a:ext uri="{FF2B5EF4-FFF2-40B4-BE49-F238E27FC236}">
                <a16:creationId xmlns:a16="http://schemas.microsoft.com/office/drawing/2014/main" id="{285A8FE5-B903-99BC-1315-B44268C6163E}"/>
              </a:ext>
            </a:extLst>
          </p:cNvPr>
          <p:cNvSpPr txBox="1"/>
          <p:nvPr/>
        </p:nvSpPr>
        <p:spPr>
          <a:xfrm>
            <a:off x="374722" y="4435366"/>
            <a:ext cx="7019218" cy="307777"/>
          </a:xfrm>
          <a:prstGeom prst="rect">
            <a:avLst/>
          </a:prstGeom>
          <a:noFill/>
        </p:spPr>
        <p:txBody>
          <a:bodyPr wrap="square">
            <a:spAutoFit/>
          </a:bodyPr>
          <a:lstStyle/>
          <a:p>
            <a:r>
              <a:rPr lang="en-US" sz="1400" b="1" dirty="0"/>
              <a:t>$273M upgrade project</a:t>
            </a:r>
            <a:r>
              <a:rPr lang="en-US" sz="1000" dirty="0"/>
              <a:t>: “Wreck and rebuild existing Line 568 Ladysmith - Possum Point for single circuit”</a:t>
            </a:r>
          </a:p>
        </p:txBody>
      </p:sp>
      <p:sp>
        <p:nvSpPr>
          <p:cNvPr id="24" name="Rectangle 23">
            <a:extLst>
              <a:ext uri="{FF2B5EF4-FFF2-40B4-BE49-F238E27FC236}">
                <a16:creationId xmlns:a16="http://schemas.microsoft.com/office/drawing/2014/main" id="{A54A9ED5-8C81-0185-4EC5-69329EA536B4}"/>
              </a:ext>
            </a:extLst>
          </p:cNvPr>
          <p:cNvSpPr/>
          <p:nvPr/>
        </p:nvSpPr>
        <p:spPr>
          <a:xfrm>
            <a:off x="422982" y="5091650"/>
            <a:ext cx="6922698" cy="1179922"/>
          </a:xfrm>
          <a:prstGeom prst="rect">
            <a:avLst/>
          </a:prstGeom>
          <a:solidFill>
            <a:srgbClr val="FFF2CC">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2F5A394-21FD-2487-6BD1-169E33DF8A91}"/>
              </a:ext>
            </a:extLst>
          </p:cNvPr>
          <p:cNvSpPr txBox="1"/>
          <p:nvPr/>
        </p:nvSpPr>
        <p:spPr>
          <a:xfrm rot="18904457">
            <a:off x="2429571" y="5422396"/>
            <a:ext cx="1361463" cy="646331"/>
          </a:xfrm>
          <a:prstGeom prst="rect">
            <a:avLst/>
          </a:prstGeom>
          <a:noFill/>
        </p:spPr>
        <p:txBody>
          <a:bodyPr wrap="none" rtlCol="0">
            <a:spAutoFit/>
          </a:bodyPr>
          <a:lstStyle/>
          <a:p>
            <a:pPr algn="ctr"/>
            <a:r>
              <a:rPr lang="en-US" b="1" dirty="0">
                <a:solidFill>
                  <a:srgbClr val="C00000"/>
                </a:solidFill>
              </a:rPr>
              <a:t>Contingency</a:t>
            </a:r>
            <a:br>
              <a:rPr lang="en-US" b="1" dirty="0">
                <a:solidFill>
                  <a:srgbClr val="C00000"/>
                </a:solidFill>
              </a:rPr>
            </a:br>
            <a:r>
              <a:rPr lang="en-US" b="1" dirty="0">
                <a:solidFill>
                  <a:srgbClr val="C00000"/>
                </a:solidFill>
              </a:rPr>
              <a:t>Branch</a:t>
            </a:r>
          </a:p>
        </p:txBody>
      </p:sp>
      <p:sp>
        <p:nvSpPr>
          <p:cNvPr id="27" name="TextBox 26">
            <a:extLst>
              <a:ext uri="{FF2B5EF4-FFF2-40B4-BE49-F238E27FC236}">
                <a16:creationId xmlns:a16="http://schemas.microsoft.com/office/drawing/2014/main" id="{AA1F08D6-8994-7262-CD6F-99A00482466A}"/>
              </a:ext>
            </a:extLst>
          </p:cNvPr>
          <p:cNvSpPr txBox="1"/>
          <p:nvPr/>
        </p:nvSpPr>
        <p:spPr>
          <a:xfrm rot="18904457">
            <a:off x="2442272" y="2755881"/>
            <a:ext cx="1361463" cy="646331"/>
          </a:xfrm>
          <a:prstGeom prst="rect">
            <a:avLst/>
          </a:prstGeom>
          <a:noFill/>
        </p:spPr>
        <p:txBody>
          <a:bodyPr wrap="none" rtlCol="0">
            <a:spAutoFit/>
          </a:bodyPr>
          <a:lstStyle/>
          <a:p>
            <a:pPr algn="ctr"/>
            <a:r>
              <a:rPr lang="en-US" b="1" dirty="0">
                <a:solidFill>
                  <a:srgbClr val="C00000"/>
                </a:solidFill>
              </a:rPr>
              <a:t>Contingency</a:t>
            </a:r>
            <a:br>
              <a:rPr lang="en-US" b="1" dirty="0">
                <a:solidFill>
                  <a:srgbClr val="C00000"/>
                </a:solidFill>
              </a:rPr>
            </a:br>
            <a:r>
              <a:rPr lang="en-US" b="1" dirty="0">
                <a:solidFill>
                  <a:srgbClr val="C00000"/>
                </a:solidFill>
              </a:rPr>
              <a:t>Branches</a:t>
            </a:r>
          </a:p>
        </p:txBody>
      </p:sp>
      <p:sp>
        <p:nvSpPr>
          <p:cNvPr id="29" name="TextBox 28">
            <a:extLst>
              <a:ext uri="{FF2B5EF4-FFF2-40B4-BE49-F238E27FC236}">
                <a16:creationId xmlns:a16="http://schemas.microsoft.com/office/drawing/2014/main" id="{E5A47699-E131-99C7-0BCB-777192D43167}"/>
              </a:ext>
            </a:extLst>
          </p:cNvPr>
          <p:cNvSpPr txBox="1"/>
          <p:nvPr/>
        </p:nvSpPr>
        <p:spPr>
          <a:xfrm>
            <a:off x="1035124" y="6336024"/>
            <a:ext cx="8921890" cy="553998"/>
          </a:xfrm>
          <a:prstGeom prst="rect">
            <a:avLst/>
          </a:prstGeom>
          <a:noFill/>
        </p:spPr>
        <p:txBody>
          <a:bodyPr wrap="square">
            <a:spAutoFit/>
          </a:bodyPr>
          <a:lstStyle/>
          <a:p>
            <a:r>
              <a:rPr lang="en-US" sz="1000" dirty="0">
                <a:solidFill>
                  <a:schemeClr val="bg1"/>
                </a:solidFill>
              </a:rPr>
              <a:t>Source: </a:t>
            </a:r>
            <a:r>
              <a:rPr lang="en-US" sz="1000" dirty="0">
                <a:solidFill>
                  <a:schemeClr val="bg1"/>
                </a:solidFill>
                <a:hlinkClick r:id="rId5">
                  <a:extLst>
                    <a:ext uri="{A12FA001-AC4F-418D-AE19-62706E023703}">
                      <ahyp:hlinkClr xmlns:ahyp="http://schemas.microsoft.com/office/drawing/2018/hyperlinkcolor" val="tx"/>
                    </a:ext>
                  </a:extLst>
                </a:hlinkClick>
              </a:rPr>
              <a:t>https://www.pjm.com/pjmfiles/pub/planning/project-queues/Cluster-Reports/TC1/TC1_PH1_Executive_Summary.htm</a:t>
            </a:r>
            <a:endParaRPr lang="en-US" sz="1000" dirty="0">
              <a:solidFill>
                <a:schemeClr val="bg1"/>
              </a:solidFill>
            </a:endParaRPr>
          </a:p>
          <a:p>
            <a:r>
              <a:rPr lang="en-US" sz="1000" dirty="0">
                <a:solidFill>
                  <a:schemeClr val="bg1"/>
                </a:solidFill>
              </a:rPr>
              <a:t>LN 581 is Chancellor-Ladysmiwth 500kV: </a:t>
            </a:r>
            <a:r>
              <a:rPr lang="en-US" sz="1000" dirty="0">
                <a:solidFill>
                  <a:schemeClr val="bg1"/>
                </a:solidFill>
                <a:hlinkClick r:id="rId6">
                  <a:extLst>
                    <a:ext uri="{A12FA001-AC4F-418D-AE19-62706E023703}">
                      <ahyp:hlinkClr xmlns:ahyp="http://schemas.microsoft.com/office/drawing/2018/hyperlinkcolor" val="tx"/>
                    </a:ext>
                  </a:extLst>
                </a:hlinkClick>
              </a:rPr>
              <a:t>https://www.dominionenergy.com/-/media/content/about/power-line-projects/bristers-ladysmith/pdfs/scc/applicationbristersladysmithappendix-iaiib5.pdf</a:t>
            </a:r>
            <a:r>
              <a:rPr lang="en-US" sz="1000" dirty="0">
                <a:solidFill>
                  <a:schemeClr val="bg1"/>
                </a:solidFill>
              </a:rPr>
              <a:t> </a:t>
            </a:r>
          </a:p>
        </p:txBody>
      </p:sp>
      <p:pic>
        <p:nvPicPr>
          <p:cNvPr id="5" name="Picture 4">
            <a:extLst>
              <a:ext uri="{FF2B5EF4-FFF2-40B4-BE49-F238E27FC236}">
                <a16:creationId xmlns:a16="http://schemas.microsoft.com/office/drawing/2014/main" id="{631FA595-2ECA-62C8-4A65-E9775F64AC89}"/>
              </a:ext>
            </a:extLst>
          </p:cNvPr>
          <p:cNvPicPr>
            <a:picLocks noChangeAspect="1"/>
          </p:cNvPicPr>
          <p:nvPr/>
        </p:nvPicPr>
        <p:blipFill>
          <a:blip r:embed="rId7"/>
          <a:stretch>
            <a:fillRect/>
          </a:stretch>
        </p:blipFill>
        <p:spPr>
          <a:xfrm>
            <a:off x="7573611" y="1959014"/>
            <a:ext cx="4243667" cy="4308598"/>
          </a:xfrm>
          <a:prstGeom prst="rect">
            <a:avLst/>
          </a:prstGeom>
        </p:spPr>
      </p:pic>
      <p:sp>
        <p:nvSpPr>
          <p:cNvPr id="6" name="TextBox 5">
            <a:extLst>
              <a:ext uri="{FF2B5EF4-FFF2-40B4-BE49-F238E27FC236}">
                <a16:creationId xmlns:a16="http://schemas.microsoft.com/office/drawing/2014/main" id="{DB44924F-F1DA-C798-DF7E-E563098547BF}"/>
              </a:ext>
            </a:extLst>
          </p:cNvPr>
          <p:cNvSpPr txBox="1"/>
          <p:nvPr/>
        </p:nvSpPr>
        <p:spPr>
          <a:xfrm rot="18904457">
            <a:off x="1003682" y="2790607"/>
            <a:ext cx="1208985" cy="646331"/>
          </a:xfrm>
          <a:prstGeom prst="rect">
            <a:avLst/>
          </a:prstGeom>
          <a:noFill/>
        </p:spPr>
        <p:txBody>
          <a:bodyPr wrap="none" rtlCol="0">
            <a:spAutoFit/>
          </a:bodyPr>
          <a:lstStyle/>
          <a:p>
            <a:pPr algn="ctr"/>
            <a:r>
              <a:rPr lang="en-US" b="1" dirty="0">
                <a:solidFill>
                  <a:schemeClr val="accent5"/>
                </a:solidFill>
              </a:rPr>
              <a:t>Monitored</a:t>
            </a:r>
            <a:br>
              <a:rPr lang="en-US" b="1" dirty="0">
                <a:solidFill>
                  <a:schemeClr val="accent5"/>
                </a:solidFill>
              </a:rPr>
            </a:br>
            <a:r>
              <a:rPr lang="en-US" b="1" dirty="0">
                <a:solidFill>
                  <a:schemeClr val="accent5"/>
                </a:solidFill>
              </a:rPr>
              <a:t>Branch</a:t>
            </a:r>
          </a:p>
        </p:txBody>
      </p:sp>
      <p:sp>
        <p:nvSpPr>
          <p:cNvPr id="7" name="TextBox 6">
            <a:extLst>
              <a:ext uri="{FF2B5EF4-FFF2-40B4-BE49-F238E27FC236}">
                <a16:creationId xmlns:a16="http://schemas.microsoft.com/office/drawing/2014/main" id="{7C81B783-A972-87E6-90E2-C7AB994179A0}"/>
              </a:ext>
            </a:extLst>
          </p:cNvPr>
          <p:cNvSpPr txBox="1"/>
          <p:nvPr/>
        </p:nvSpPr>
        <p:spPr>
          <a:xfrm rot="18904457">
            <a:off x="911741" y="5422396"/>
            <a:ext cx="1208985" cy="646331"/>
          </a:xfrm>
          <a:prstGeom prst="rect">
            <a:avLst/>
          </a:prstGeom>
          <a:noFill/>
        </p:spPr>
        <p:txBody>
          <a:bodyPr wrap="none" rtlCol="0">
            <a:spAutoFit/>
          </a:bodyPr>
          <a:lstStyle/>
          <a:p>
            <a:pPr algn="ctr"/>
            <a:r>
              <a:rPr lang="en-US" b="1" dirty="0">
                <a:solidFill>
                  <a:schemeClr val="accent5"/>
                </a:solidFill>
              </a:rPr>
              <a:t>Monitored</a:t>
            </a:r>
            <a:br>
              <a:rPr lang="en-US" b="1" dirty="0">
                <a:solidFill>
                  <a:schemeClr val="accent5"/>
                </a:solidFill>
              </a:rPr>
            </a:br>
            <a:r>
              <a:rPr lang="en-US" b="1" dirty="0">
                <a:solidFill>
                  <a:schemeClr val="accent5"/>
                </a:solidFill>
              </a:rPr>
              <a:t>Branch</a:t>
            </a:r>
          </a:p>
        </p:txBody>
      </p:sp>
      <p:sp>
        <p:nvSpPr>
          <p:cNvPr id="8" name="Oval 7">
            <a:extLst>
              <a:ext uri="{FF2B5EF4-FFF2-40B4-BE49-F238E27FC236}">
                <a16:creationId xmlns:a16="http://schemas.microsoft.com/office/drawing/2014/main" id="{66AA2684-356E-7A2C-93F6-43B9F96FF15B}"/>
              </a:ext>
            </a:extLst>
          </p:cNvPr>
          <p:cNvSpPr/>
          <p:nvPr/>
        </p:nvSpPr>
        <p:spPr>
          <a:xfrm>
            <a:off x="11241741" y="5630061"/>
            <a:ext cx="575537" cy="487380"/>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25C73DD-0DFF-5186-488E-431A9889DAC6}"/>
              </a:ext>
            </a:extLst>
          </p:cNvPr>
          <p:cNvSpPr/>
          <p:nvPr/>
        </p:nvSpPr>
        <p:spPr>
          <a:xfrm>
            <a:off x="8027785" y="3493809"/>
            <a:ext cx="394856" cy="351751"/>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95CA4B4-4C1C-4682-9EAC-68CFB1334ECA}"/>
              </a:ext>
            </a:extLst>
          </p:cNvPr>
          <p:cNvSpPr/>
          <p:nvPr/>
        </p:nvSpPr>
        <p:spPr>
          <a:xfrm>
            <a:off x="8422641" y="2597987"/>
            <a:ext cx="341001" cy="297613"/>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1689B17-8F5F-AC44-48A9-4460CC4091A1}"/>
              </a:ext>
            </a:extLst>
          </p:cNvPr>
          <p:cNvSpPr/>
          <p:nvPr/>
        </p:nvSpPr>
        <p:spPr>
          <a:xfrm>
            <a:off x="8032865" y="3153334"/>
            <a:ext cx="167639" cy="165251"/>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97ED9F64-49E7-0E68-E092-DD59E79AB256}"/>
              </a:ext>
            </a:extLst>
          </p:cNvPr>
          <p:cNvCxnSpPr/>
          <p:nvPr/>
        </p:nvCxnSpPr>
        <p:spPr>
          <a:xfrm flipH="1" flipV="1">
            <a:off x="8106524" y="3235959"/>
            <a:ext cx="83820" cy="396241"/>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F363C6B-7975-8AFB-C01D-97860A07A269}"/>
              </a:ext>
            </a:extLst>
          </p:cNvPr>
          <p:cNvCxnSpPr>
            <a:cxnSpLocks/>
          </p:cNvCxnSpPr>
          <p:nvPr/>
        </p:nvCxnSpPr>
        <p:spPr>
          <a:xfrm flipV="1">
            <a:off x="8190344" y="2704445"/>
            <a:ext cx="402797" cy="927755"/>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146" name="Picture 2" descr="Project Timeline | CVOW | Dominion Energy">
            <a:extLst>
              <a:ext uri="{FF2B5EF4-FFF2-40B4-BE49-F238E27FC236}">
                <a16:creationId xmlns:a16="http://schemas.microsoft.com/office/drawing/2014/main" id="{44C43369-A636-0C7E-8BA0-2AA6BA5CED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89459" y="179885"/>
            <a:ext cx="2027819" cy="167802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JM Interconnection - Wikipedia">
            <a:extLst>
              <a:ext uri="{FF2B5EF4-FFF2-40B4-BE49-F238E27FC236}">
                <a16:creationId xmlns:a16="http://schemas.microsoft.com/office/drawing/2014/main" id="{4D64DB0C-1107-9C95-00E3-226021E5A6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6268" y="1222415"/>
            <a:ext cx="1471189" cy="54357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38492A-C759-019C-133E-A465D8821749}"/>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9" name="Rectangle 8">
            <a:extLst>
              <a:ext uri="{FF2B5EF4-FFF2-40B4-BE49-F238E27FC236}">
                <a16:creationId xmlns:a16="http://schemas.microsoft.com/office/drawing/2014/main" id="{70EF890C-8383-5CBC-B789-9BE8ED2421D6}"/>
              </a:ext>
            </a:extLst>
          </p:cNvPr>
          <p:cNvSpPr/>
          <p:nvPr/>
        </p:nvSpPr>
        <p:spPr>
          <a:xfrm>
            <a:off x="2825822" y="2242073"/>
            <a:ext cx="6474822" cy="2382520"/>
          </a:xfrm>
          <a:prstGeom prst="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dirty="0"/>
              <a:t>When you read “interconnection queue delays”</a:t>
            </a:r>
          </a:p>
          <a:p>
            <a:pPr algn="ctr"/>
            <a:endParaRPr lang="en-US" sz="2500" dirty="0"/>
          </a:p>
          <a:p>
            <a:pPr algn="ctr"/>
            <a:r>
              <a:rPr lang="en-US" sz="2500" dirty="0"/>
              <a:t>That effectively means “contingency constraints”</a:t>
            </a:r>
          </a:p>
        </p:txBody>
      </p:sp>
    </p:spTree>
    <p:extLst>
      <p:ext uri="{BB962C8B-B14F-4D97-AF65-F5344CB8AC3E}">
        <p14:creationId xmlns:p14="http://schemas.microsoft.com/office/powerpoint/2010/main" val="877224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C3429-4148-7D49-E2E1-C91FCBCDAD5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DF8C998-97A9-BC67-42B5-6839F5D8C63D}"/>
              </a:ext>
            </a:extLst>
          </p:cNvPr>
          <p:cNvSpPr/>
          <p:nvPr/>
        </p:nvSpPr>
        <p:spPr>
          <a:xfrm>
            <a:off x="422982" y="174467"/>
            <a:ext cx="6656148" cy="646331"/>
          </a:xfrm>
          <a:prstGeom prst="rect">
            <a:avLst/>
          </a:prstGeom>
        </p:spPr>
        <p:txBody>
          <a:bodyPr wrap="square" lIns="0">
            <a:spAutoFit/>
          </a:bodyPr>
          <a:lstStyle/>
          <a:p>
            <a:r>
              <a:rPr lang="en-US" sz="3600" dirty="0"/>
              <a:t>Contingencies in the energy market</a:t>
            </a:r>
          </a:p>
        </p:txBody>
      </p:sp>
      <p:pic>
        <p:nvPicPr>
          <p:cNvPr id="7" name="Picture 6">
            <a:extLst>
              <a:ext uri="{FF2B5EF4-FFF2-40B4-BE49-F238E27FC236}">
                <a16:creationId xmlns:a16="http://schemas.microsoft.com/office/drawing/2014/main" id="{7CC49E33-D209-5B22-B09C-4B8C1ABF5BD8}"/>
              </a:ext>
            </a:extLst>
          </p:cNvPr>
          <p:cNvPicPr>
            <a:picLocks noChangeAspect="1"/>
          </p:cNvPicPr>
          <p:nvPr/>
        </p:nvPicPr>
        <p:blipFill>
          <a:blip r:embed="rId3"/>
          <a:stretch>
            <a:fillRect/>
          </a:stretch>
        </p:blipFill>
        <p:spPr>
          <a:xfrm>
            <a:off x="7355840" y="174467"/>
            <a:ext cx="4315610" cy="1053733"/>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1D9EE712-E2B2-C917-27B9-152861E9DE6C}"/>
              </a:ext>
            </a:extLst>
          </p:cNvPr>
          <p:cNvSpPr txBox="1"/>
          <p:nvPr/>
        </p:nvSpPr>
        <p:spPr>
          <a:xfrm>
            <a:off x="1035124" y="6407144"/>
            <a:ext cx="4847516" cy="246221"/>
          </a:xfrm>
          <a:prstGeom prst="rect">
            <a:avLst/>
          </a:prstGeom>
          <a:noFill/>
        </p:spPr>
        <p:txBody>
          <a:bodyPr wrap="square">
            <a:spAutoFit/>
          </a:bodyPr>
          <a:lstStyle/>
          <a:p>
            <a:r>
              <a:rPr lang="en-US" sz="1000" dirty="0">
                <a:solidFill>
                  <a:schemeClr val="bg1"/>
                </a:solidFill>
              </a:rPr>
              <a:t>Source: https://www.ercot.com/mp/data-products/data-product-details?id=NP4-191-CD </a:t>
            </a:r>
          </a:p>
        </p:txBody>
      </p:sp>
      <p:pic>
        <p:nvPicPr>
          <p:cNvPr id="13" name="Picture 12">
            <a:extLst>
              <a:ext uri="{FF2B5EF4-FFF2-40B4-BE49-F238E27FC236}">
                <a16:creationId xmlns:a16="http://schemas.microsoft.com/office/drawing/2014/main" id="{540AC49A-8B9B-2E77-3292-FB1FF93EC148}"/>
              </a:ext>
            </a:extLst>
          </p:cNvPr>
          <p:cNvPicPr>
            <a:picLocks noChangeAspect="1"/>
          </p:cNvPicPr>
          <p:nvPr/>
        </p:nvPicPr>
        <p:blipFill>
          <a:blip r:embed="rId4"/>
          <a:stretch>
            <a:fillRect/>
          </a:stretch>
        </p:blipFill>
        <p:spPr>
          <a:xfrm>
            <a:off x="1849930" y="1429257"/>
            <a:ext cx="8492140" cy="4776829"/>
          </a:xfrm>
          <a:prstGeom prst="rect">
            <a:avLst/>
          </a:prstGeom>
          <a:effectLst>
            <a:outerShdw blurRad="63500" sx="102000" sy="102000" algn="ctr" rotWithShape="0">
              <a:prstClr val="black">
                <a:alpha val="40000"/>
              </a:prstClr>
            </a:outerShdw>
          </a:effectLst>
        </p:spPr>
      </p:pic>
      <p:sp>
        <p:nvSpPr>
          <p:cNvPr id="15" name="TextBox 14">
            <a:extLst>
              <a:ext uri="{FF2B5EF4-FFF2-40B4-BE49-F238E27FC236}">
                <a16:creationId xmlns:a16="http://schemas.microsoft.com/office/drawing/2014/main" id="{047C29D5-90BA-4FE7-2807-5BD78C39A58C}"/>
              </a:ext>
            </a:extLst>
          </p:cNvPr>
          <p:cNvSpPr txBox="1"/>
          <p:nvPr/>
        </p:nvSpPr>
        <p:spPr>
          <a:xfrm>
            <a:off x="3452949" y="966590"/>
            <a:ext cx="984052" cy="453907"/>
          </a:xfrm>
          <a:prstGeom prst="rect">
            <a:avLst/>
          </a:prstGeom>
          <a:noFill/>
        </p:spPr>
        <p:txBody>
          <a:bodyPr wrap="none" rtlCol="0">
            <a:spAutoFit/>
          </a:bodyPr>
          <a:lstStyle/>
          <a:p>
            <a:pPr algn="ctr">
              <a:lnSpc>
                <a:spcPts val="1400"/>
              </a:lnSpc>
            </a:pPr>
            <a:r>
              <a:rPr lang="en-US" sz="1400" b="1" dirty="0">
                <a:solidFill>
                  <a:schemeClr val="accent5"/>
                </a:solidFill>
              </a:rPr>
              <a:t>Monitored</a:t>
            </a:r>
            <a:br>
              <a:rPr lang="en-US" sz="1400" b="1" dirty="0">
                <a:solidFill>
                  <a:schemeClr val="accent5"/>
                </a:solidFill>
              </a:rPr>
            </a:br>
            <a:r>
              <a:rPr lang="en-US" sz="1400" b="1" dirty="0">
                <a:solidFill>
                  <a:schemeClr val="accent5"/>
                </a:solidFill>
              </a:rPr>
              <a:t>Branch</a:t>
            </a:r>
          </a:p>
        </p:txBody>
      </p:sp>
      <p:sp>
        <p:nvSpPr>
          <p:cNvPr id="16" name="TextBox 15">
            <a:extLst>
              <a:ext uri="{FF2B5EF4-FFF2-40B4-BE49-F238E27FC236}">
                <a16:creationId xmlns:a16="http://schemas.microsoft.com/office/drawing/2014/main" id="{DC29E67C-6CCB-9A02-EFE3-884BA7220785}"/>
              </a:ext>
            </a:extLst>
          </p:cNvPr>
          <p:cNvSpPr txBox="1"/>
          <p:nvPr/>
        </p:nvSpPr>
        <p:spPr>
          <a:xfrm>
            <a:off x="4329905" y="966590"/>
            <a:ext cx="1102802" cy="453907"/>
          </a:xfrm>
          <a:prstGeom prst="rect">
            <a:avLst/>
          </a:prstGeom>
          <a:noFill/>
        </p:spPr>
        <p:txBody>
          <a:bodyPr wrap="none" rtlCol="0">
            <a:spAutoFit/>
          </a:bodyPr>
          <a:lstStyle/>
          <a:p>
            <a:pPr algn="ctr">
              <a:lnSpc>
                <a:spcPts val="1400"/>
              </a:lnSpc>
            </a:pPr>
            <a:r>
              <a:rPr lang="en-US" sz="1400" b="1" dirty="0">
                <a:solidFill>
                  <a:srgbClr val="C00000"/>
                </a:solidFill>
              </a:rPr>
              <a:t>Contingency</a:t>
            </a:r>
          </a:p>
          <a:p>
            <a:pPr algn="ctr">
              <a:lnSpc>
                <a:spcPts val="1400"/>
              </a:lnSpc>
            </a:pPr>
            <a:r>
              <a:rPr lang="en-US" sz="1400" b="1" dirty="0">
                <a:solidFill>
                  <a:srgbClr val="C00000"/>
                </a:solidFill>
              </a:rPr>
              <a:t>Branch</a:t>
            </a:r>
          </a:p>
        </p:txBody>
      </p:sp>
      <p:sp>
        <p:nvSpPr>
          <p:cNvPr id="2" name="TextBox 1">
            <a:extLst>
              <a:ext uri="{FF2B5EF4-FFF2-40B4-BE49-F238E27FC236}">
                <a16:creationId xmlns:a16="http://schemas.microsoft.com/office/drawing/2014/main" id="{2B982B8A-1E24-B85E-A248-01B8D21BD678}"/>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4" name="Rectangle 3">
            <a:extLst>
              <a:ext uri="{FF2B5EF4-FFF2-40B4-BE49-F238E27FC236}">
                <a16:creationId xmlns:a16="http://schemas.microsoft.com/office/drawing/2014/main" id="{FD7891E8-8824-005C-194C-A11BDBB58DF1}"/>
              </a:ext>
            </a:extLst>
          </p:cNvPr>
          <p:cNvSpPr/>
          <p:nvPr/>
        </p:nvSpPr>
        <p:spPr>
          <a:xfrm>
            <a:off x="2825822" y="2242073"/>
            <a:ext cx="6474822" cy="2382520"/>
          </a:xfrm>
          <a:prstGeom prst="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dirty="0"/>
              <a:t>When you read “congestion costs” or “renewables curtailment”</a:t>
            </a:r>
          </a:p>
          <a:p>
            <a:pPr algn="ctr"/>
            <a:endParaRPr lang="en-US" sz="2500" dirty="0"/>
          </a:p>
          <a:p>
            <a:pPr algn="ctr"/>
            <a:r>
              <a:rPr lang="en-US" sz="2500" dirty="0"/>
              <a:t>That effectively means “contingency constraints”</a:t>
            </a:r>
          </a:p>
        </p:txBody>
      </p:sp>
    </p:spTree>
    <p:extLst>
      <p:ext uri="{BB962C8B-B14F-4D97-AF65-F5344CB8AC3E}">
        <p14:creationId xmlns:p14="http://schemas.microsoft.com/office/powerpoint/2010/main" val="3083581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B807-2C55-ED06-D374-7BC20551BDB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2B623F0-4F8A-536D-9854-662E9FF99A99}"/>
              </a:ext>
            </a:extLst>
          </p:cNvPr>
          <p:cNvSpPr/>
          <p:nvPr/>
        </p:nvSpPr>
        <p:spPr>
          <a:xfrm>
            <a:off x="422982" y="174467"/>
            <a:ext cx="10915669" cy="646331"/>
          </a:xfrm>
          <a:prstGeom prst="rect">
            <a:avLst/>
          </a:prstGeom>
        </p:spPr>
        <p:txBody>
          <a:bodyPr wrap="square" lIns="0">
            <a:spAutoFit/>
          </a:bodyPr>
          <a:lstStyle/>
          <a:p>
            <a:r>
              <a:rPr lang="en-US" sz="3600" dirty="0"/>
              <a:t>How can CEMs incorporate transmission contingencies?</a:t>
            </a:r>
          </a:p>
        </p:txBody>
      </p:sp>
      <p:sp>
        <p:nvSpPr>
          <p:cNvPr id="4" name="TextBox 3">
            <a:extLst>
              <a:ext uri="{FF2B5EF4-FFF2-40B4-BE49-F238E27FC236}">
                <a16:creationId xmlns:a16="http://schemas.microsoft.com/office/drawing/2014/main" id="{ACD05E7F-B287-1978-F7A6-601140666B32}"/>
              </a:ext>
            </a:extLst>
          </p:cNvPr>
          <p:cNvSpPr txBox="1"/>
          <p:nvPr/>
        </p:nvSpPr>
        <p:spPr>
          <a:xfrm>
            <a:off x="402463" y="1067816"/>
            <a:ext cx="3749040" cy="5078313"/>
          </a:xfrm>
          <a:prstGeom prst="rect">
            <a:avLst/>
          </a:prstGeom>
          <a:solidFill>
            <a:schemeClr val="bg1"/>
          </a:solidFill>
          <a:ln w="19050">
            <a:solidFill>
              <a:schemeClr val="tx1">
                <a:lumMod val="50000"/>
                <a:lumOff val="50000"/>
              </a:schemeClr>
            </a:solidFill>
          </a:ln>
          <a:effectLst/>
        </p:spPr>
        <p:txBody>
          <a:bodyPr wrap="square" rtlCol="0">
            <a:spAutoFit/>
          </a:bodyPr>
          <a:lstStyle/>
          <a:p>
            <a:r>
              <a:rPr lang="en-US" b="1" u="sng" dirty="0"/>
              <a:t>Zonal network with network flows.</a:t>
            </a:r>
          </a:p>
          <a:p>
            <a:endParaRPr lang="en-US" dirty="0"/>
          </a:p>
          <a:p>
            <a:r>
              <a:rPr lang="en-US" i="1" dirty="0"/>
              <a:t>Examples</a:t>
            </a:r>
            <a:r>
              <a:rPr lang="en-US" dirty="0"/>
              <a:t>:</a:t>
            </a:r>
          </a:p>
          <a:p>
            <a:endParaRPr lang="en-US" dirty="0"/>
          </a:p>
          <a:p>
            <a:br>
              <a:rPr lang="en-US" dirty="0"/>
            </a:br>
            <a:endParaRPr lang="en-US" dirty="0"/>
          </a:p>
          <a:p>
            <a:r>
              <a:rPr lang="en-US" b="1" dirty="0"/>
              <a:t>Benefits</a:t>
            </a:r>
          </a:p>
          <a:p>
            <a:pPr marL="285750" indent="-285750">
              <a:buFont typeface="Arial" panose="020B0604020202020204" pitchFamily="34" charset="0"/>
              <a:buChar char="•"/>
            </a:pPr>
            <a:r>
              <a:rPr lang="en-US" dirty="0"/>
              <a:t>In theory, </a:t>
            </a:r>
            <a:r>
              <a:rPr lang="en-US" i="1" dirty="0"/>
              <a:t>n-1</a:t>
            </a:r>
            <a:r>
              <a:rPr lang="en-US" dirty="0"/>
              <a:t> transfer limits could be derived from an underlying nodal network and account</a:t>
            </a:r>
            <a:br>
              <a:rPr lang="en-US" dirty="0"/>
            </a:br>
            <a:r>
              <a:rPr lang="en-US" b="1" dirty="0">
                <a:solidFill>
                  <a:schemeClr val="accent1"/>
                </a:solidFill>
              </a:rPr>
              <a:t>(NLR ReEDS zonal and county-level transfer limits)</a:t>
            </a:r>
            <a:r>
              <a:rPr lang="en-US" dirty="0"/>
              <a:t>.</a:t>
            </a:r>
          </a:p>
          <a:p>
            <a:pPr marL="285750" indent="-285750">
              <a:buFont typeface="Arial" panose="020B0604020202020204" pitchFamily="34" charset="0"/>
              <a:buChar char="•"/>
            </a:pPr>
            <a:endParaRPr lang="en-US" dirty="0"/>
          </a:p>
          <a:p>
            <a:r>
              <a:rPr lang="en-US" b="1" dirty="0"/>
              <a:t>Drawbacks</a:t>
            </a:r>
            <a:r>
              <a:rPr lang="en-US" dirty="0"/>
              <a:t> </a:t>
            </a:r>
          </a:p>
          <a:p>
            <a:pPr marL="285750" indent="-285750">
              <a:buFont typeface="Arial" panose="020B0604020202020204" pitchFamily="34" charset="0"/>
              <a:buChar char="•"/>
            </a:pPr>
            <a:r>
              <a:rPr lang="en-US" dirty="0"/>
              <a:t>In reality, transfer limits evolve under different loading conditions.</a:t>
            </a:r>
          </a:p>
          <a:p>
            <a:pPr marL="285750" indent="-285750">
              <a:buFont typeface="Arial" panose="020B0604020202020204" pitchFamily="34" charset="0"/>
              <a:buChar char="•"/>
            </a:pPr>
            <a:r>
              <a:rPr lang="en-US" dirty="0"/>
              <a:t>Contingency patterns shift based on endogenous investments.</a:t>
            </a:r>
          </a:p>
        </p:txBody>
      </p:sp>
      <p:sp>
        <p:nvSpPr>
          <p:cNvPr id="5" name="TextBox 4">
            <a:extLst>
              <a:ext uri="{FF2B5EF4-FFF2-40B4-BE49-F238E27FC236}">
                <a16:creationId xmlns:a16="http://schemas.microsoft.com/office/drawing/2014/main" id="{71EFD07E-82D2-29DD-EEF4-12C68158AFEE}"/>
              </a:ext>
            </a:extLst>
          </p:cNvPr>
          <p:cNvSpPr txBox="1"/>
          <p:nvPr/>
        </p:nvSpPr>
        <p:spPr>
          <a:xfrm>
            <a:off x="4263806" y="1067817"/>
            <a:ext cx="3749040" cy="5078313"/>
          </a:xfrm>
          <a:prstGeom prst="rect">
            <a:avLst/>
          </a:prstGeom>
          <a:solidFill>
            <a:schemeClr val="bg1"/>
          </a:solidFill>
          <a:ln w="19050">
            <a:solidFill>
              <a:schemeClr val="tx1">
                <a:lumMod val="50000"/>
                <a:lumOff val="50000"/>
              </a:schemeClr>
            </a:solidFill>
          </a:ln>
          <a:effectLst/>
        </p:spPr>
        <p:txBody>
          <a:bodyPr wrap="square" rtlCol="0">
            <a:spAutoFit/>
          </a:bodyPr>
          <a:lstStyle/>
          <a:p>
            <a:r>
              <a:rPr lang="en-US" b="1" u="sng" dirty="0"/>
              <a:t>Nodal DC power flow, derated limits.</a:t>
            </a:r>
          </a:p>
          <a:p>
            <a:endParaRPr lang="en-US" dirty="0"/>
          </a:p>
          <a:p>
            <a:r>
              <a:rPr lang="en-US" i="1" dirty="0"/>
              <a:t>Example</a:t>
            </a:r>
            <a:r>
              <a:rPr lang="en-US" dirty="0"/>
              <a:t>:</a:t>
            </a:r>
          </a:p>
          <a:p>
            <a:br>
              <a:rPr lang="en-US" dirty="0"/>
            </a:br>
            <a:br>
              <a:rPr lang="en-US" dirty="0"/>
            </a:br>
            <a:endParaRPr lang="en-US" dirty="0"/>
          </a:p>
          <a:p>
            <a:r>
              <a:rPr lang="en-US" b="1" dirty="0"/>
              <a:t>Benefits</a:t>
            </a:r>
          </a:p>
          <a:p>
            <a:pPr marL="285750" indent="-285750">
              <a:buFont typeface="Arial" panose="020B0604020202020204" pitchFamily="34" charset="0"/>
              <a:buChar char="•"/>
            </a:pPr>
            <a:r>
              <a:rPr lang="en-US" dirty="0"/>
              <a:t>Nodal DC </a:t>
            </a:r>
            <a:r>
              <a:rPr lang="en-US" i="1" dirty="0"/>
              <a:t>base-case</a:t>
            </a:r>
            <a:r>
              <a:rPr lang="en-US" dirty="0"/>
              <a:t> power flow can be exactly represented.</a:t>
            </a:r>
          </a:p>
          <a:p>
            <a:pPr marL="285750" indent="-285750">
              <a:buFont typeface="Arial" panose="020B0604020202020204" pitchFamily="34" charset="0"/>
              <a:buChar char="•"/>
            </a:pPr>
            <a:r>
              <a:rPr lang="en-US" dirty="0"/>
              <a:t>Setting ratings to </a:t>
            </a:r>
            <a:r>
              <a:rPr lang="en-US" b="1" dirty="0">
                <a:solidFill>
                  <a:schemeClr val="accent1"/>
                </a:solidFill>
              </a:rPr>
              <a:t>70%</a:t>
            </a:r>
            <a:r>
              <a:rPr lang="en-US" dirty="0"/>
              <a:t> is heuristic approximation of </a:t>
            </a:r>
            <a:r>
              <a:rPr lang="en-US" i="1" dirty="0"/>
              <a:t>n-1</a:t>
            </a:r>
            <a:r>
              <a:rPr lang="en-US" dirty="0"/>
              <a:t> limits.</a:t>
            </a:r>
          </a:p>
          <a:p>
            <a:br>
              <a:rPr lang="en-US" dirty="0"/>
            </a:br>
            <a:endParaRPr lang="en-US" dirty="0"/>
          </a:p>
          <a:p>
            <a:r>
              <a:rPr lang="en-US" b="1" dirty="0"/>
              <a:t>Drawbacks</a:t>
            </a:r>
            <a:r>
              <a:rPr lang="en-US" dirty="0"/>
              <a:t> </a:t>
            </a:r>
          </a:p>
          <a:p>
            <a:pPr marL="285750" indent="-285750">
              <a:buFont typeface="Arial" panose="020B0604020202020204" pitchFamily="34" charset="0"/>
              <a:buChar char="•"/>
            </a:pPr>
            <a:r>
              <a:rPr lang="en-US" dirty="0"/>
              <a:t>The derating heuristic’s accuracy is not theoretically guaranteed.</a:t>
            </a:r>
          </a:p>
          <a:p>
            <a:pPr marL="285750" indent="-285750">
              <a:buFont typeface="Arial" panose="020B0604020202020204" pitchFamily="34" charset="0"/>
              <a:buChar char="•"/>
            </a:pPr>
            <a:r>
              <a:rPr lang="en-US" dirty="0"/>
              <a:t>Contingencies are 90% of transmission constraints.</a:t>
            </a:r>
          </a:p>
        </p:txBody>
      </p:sp>
      <p:pic>
        <p:nvPicPr>
          <p:cNvPr id="4098" name="Picture 2" descr="Regional Energy Deployment System | Energy Systems Analysis | NLR">
            <a:extLst>
              <a:ext uri="{FF2B5EF4-FFF2-40B4-BE49-F238E27FC236}">
                <a16:creationId xmlns:a16="http://schemas.microsoft.com/office/drawing/2014/main" id="{1246D226-63FC-8FE2-25DE-A241B0287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8158" y="1720215"/>
            <a:ext cx="758825" cy="758825"/>
          </a:xfrm>
          <a:prstGeom prst="rect">
            <a:avLst/>
          </a:prstGeom>
          <a:noFill/>
          <a:extLst>
            <a:ext uri="{909E8E84-426E-40DD-AFC4-6F175D3DCCD1}">
              <a14:hiddenFill xmlns:a14="http://schemas.microsoft.com/office/drawing/2010/main">
                <a:solidFill>
                  <a:srgbClr val="FFFFFF"/>
                </a:solidFill>
              </a14:hiddenFill>
            </a:ext>
          </a:extLst>
        </p:spPr>
      </p:pic>
      <p:pic>
        <p:nvPicPr>
          <p:cNvPr id="10" name="Graphic 9">
            <a:extLst>
              <a:ext uri="{FF2B5EF4-FFF2-40B4-BE49-F238E27FC236}">
                <a16:creationId xmlns:a16="http://schemas.microsoft.com/office/drawing/2014/main" id="{8490882A-5835-12AF-8072-2347F05621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43916" y="1867026"/>
            <a:ext cx="1396580" cy="418974"/>
          </a:xfrm>
          <a:prstGeom prst="rect">
            <a:avLst/>
          </a:prstGeom>
        </p:spPr>
      </p:pic>
      <p:pic>
        <p:nvPicPr>
          <p:cNvPr id="4104" name="Picture 8" descr="Home - Documentation">
            <a:extLst>
              <a:ext uri="{FF2B5EF4-FFF2-40B4-BE49-F238E27FC236}">
                <a16:creationId xmlns:a16="http://schemas.microsoft.com/office/drawing/2014/main" id="{BA2801F2-1326-AA5F-BAF0-CD3EB78919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9864" y="1725871"/>
            <a:ext cx="1571114" cy="48900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03F304-9711-6F00-0AE0-AC2E790930E2}"/>
                  </a:ext>
                </a:extLst>
              </p:cNvPr>
              <p:cNvSpPr txBox="1"/>
              <p:nvPr/>
            </p:nvSpPr>
            <p:spPr>
              <a:xfrm>
                <a:off x="8104630" y="1067817"/>
                <a:ext cx="3749040" cy="5078313"/>
              </a:xfrm>
              <a:prstGeom prst="rect">
                <a:avLst/>
              </a:prstGeom>
              <a:solidFill>
                <a:schemeClr val="accent5">
                  <a:lumMod val="20000"/>
                  <a:lumOff val="80000"/>
                </a:schemeClr>
              </a:solidFill>
              <a:ln w="19050">
                <a:solidFill>
                  <a:schemeClr val="tx1">
                    <a:lumMod val="85000"/>
                    <a:lumOff val="15000"/>
                  </a:schemeClr>
                </a:solidFill>
              </a:ln>
            </p:spPr>
            <p:txBody>
              <a:bodyPr wrap="square" rtlCol="0">
                <a:spAutoFit/>
              </a:bodyPr>
              <a:lstStyle/>
              <a:p>
                <a:r>
                  <a:rPr lang="en-US" b="1" u="sng" dirty="0"/>
                  <a:t>Nodal security-constrained DC PF</a:t>
                </a:r>
                <a:endParaRPr lang="en-US" dirty="0"/>
              </a:p>
              <a:p>
                <a:endParaRPr lang="en-US" i="1" dirty="0"/>
              </a:p>
              <a:p>
                <a:r>
                  <a:rPr lang="en-US" i="1" dirty="0"/>
                  <a:t>Example</a:t>
                </a:r>
                <a:r>
                  <a:rPr lang="en-US" dirty="0"/>
                  <a:t>: This work</a:t>
                </a:r>
              </a:p>
              <a:p>
                <a:r>
                  <a:rPr lang="en-US" dirty="0">
                    <a:solidFill>
                      <a:schemeClr val="accent1">
                        <a:lumMod val="50000"/>
                      </a:schemeClr>
                    </a:solidFill>
                  </a:rPr>
                  <a:t>                 </a:t>
                </a:r>
                <a:r>
                  <a:rPr lang="en-US" b="1" dirty="0">
                    <a:solidFill>
                      <a:schemeClr val="accent1">
                        <a:lumMod val="50000"/>
                      </a:schemeClr>
                    </a:solidFill>
                  </a:rPr>
                  <a:t>CANOPI</a:t>
                </a:r>
              </a:p>
              <a:p>
                <a:r>
                  <a:rPr lang="en-US" dirty="0">
                    <a:solidFill>
                      <a:schemeClr val="accent1">
                        <a:lumMod val="50000"/>
                      </a:schemeClr>
                    </a:solidFill>
                  </a:rPr>
                  <a:t>                 (Contingency-Aware Nodal 	Optimal Power Investments)</a:t>
                </a:r>
              </a:p>
              <a:p>
                <a:r>
                  <a:rPr lang="en-US" b="1" dirty="0"/>
                  <a:t>Benefits</a:t>
                </a:r>
              </a:p>
              <a:p>
                <a:pPr marL="285750" indent="-285750">
                  <a:buFont typeface="Arial" panose="020B0604020202020204" pitchFamily="34" charset="0"/>
                  <a:buChar char="•"/>
                </a:pPr>
                <a:r>
                  <a:rPr lang="en-US" dirty="0"/>
                  <a:t>Exact representation of </a:t>
                </a:r>
                <a:r>
                  <a:rPr lang="en-US" i="1" dirty="0"/>
                  <a:t>n-1</a:t>
                </a:r>
                <a:r>
                  <a:rPr lang="en-US" dirty="0"/>
                  <a:t>.</a:t>
                </a:r>
              </a:p>
              <a:p>
                <a:pPr marL="285750" indent="-285750">
                  <a:buFont typeface="Arial" panose="020B0604020202020204" pitchFamily="34" charset="0"/>
                  <a:buChar char="•"/>
                </a:pPr>
                <a:r>
                  <a:rPr lang="en-US" dirty="0"/>
                  <a:t>Endogenously captures transfer limit changes caused by large system investments (which is the whole point of CEMs).</a:t>
                </a:r>
              </a:p>
              <a:p>
                <a:endParaRPr lang="en-US" dirty="0"/>
              </a:p>
              <a:p>
                <a:r>
                  <a:rPr lang="en-US" b="1" dirty="0"/>
                  <a:t>Research question</a:t>
                </a:r>
                <a:endParaRPr lang="en-US" dirty="0"/>
              </a:p>
              <a:p>
                <a:r>
                  <a:rPr lang="en-US" dirty="0"/>
                  <a:t>How could this be solved efficiently?</a:t>
                </a:r>
              </a:p>
              <a:p>
                <a:pPr algn="ctr"/>
                <a:r>
                  <a:rPr lang="en-US" dirty="0">
                    <a:solidFill>
                      <a:schemeClr val="accent1"/>
                    </a:solidFill>
                  </a:rPr>
                  <a:t>1,000 branches with 8,760 hours</a:t>
                </a:r>
              </a:p>
              <a:p>
                <a:pPr algn="ctr"/>
                <a:r>
                  <a:rPr lang="en-US" dirty="0">
                    <a:solidFill>
                      <a:schemeClr val="accent1"/>
                    </a:solidFill>
                    <a:sym typeface="Wingdings" panose="05000000000000000000" pitchFamily="2" charset="2"/>
                  </a:rPr>
                  <a:t> ~1,000</a:t>
                </a:r>
                <a:r>
                  <a:rPr lang="en-US" baseline="30000" dirty="0">
                    <a:solidFill>
                      <a:schemeClr val="accent1"/>
                    </a:solidFill>
                    <a:sym typeface="Wingdings" panose="05000000000000000000" pitchFamily="2" charset="2"/>
                  </a:rPr>
                  <a:t>2</a:t>
                </a:r>
                <a:r>
                  <a:rPr lang="en-US" dirty="0">
                    <a:solidFill>
                      <a:schemeClr val="accent1"/>
                    </a:solidFill>
                    <a:sym typeface="Wingdings" panose="05000000000000000000" pitchFamily="2" charset="2"/>
                  </a:rPr>
                  <a:t> </a:t>
                </a:r>
                <a14:m>
                  <m:oMath xmlns:m="http://schemas.openxmlformats.org/officeDocument/2006/math">
                    <m:r>
                      <a:rPr lang="en-US" b="0" i="1" smtClean="0">
                        <a:solidFill>
                          <a:schemeClr val="accent1"/>
                        </a:solidFill>
                        <a:latin typeface="Cambria Math" panose="02040503050406030204" pitchFamily="18" charset="0"/>
                        <a:sym typeface="Wingdings" panose="05000000000000000000" pitchFamily="2" charset="2"/>
                      </a:rPr>
                      <m:t>×</m:t>
                    </m:r>
                  </m:oMath>
                </a14:m>
                <a:r>
                  <a:rPr lang="en-US" dirty="0">
                    <a:solidFill>
                      <a:schemeClr val="accent1"/>
                    </a:solidFill>
                  </a:rPr>
                  <a:t> 8,760 = ~</a:t>
                </a:r>
                <a:r>
                  <a:rPr lang="en-US" b="1" dirty="0">
                    <a:solidFill>
                      <a:schemeClr val="accent1"/>
                    </a:solidFill>
                  </a:rPr>
                  <a:t>18 billion </a:t>
                </a:r>
                <a:r>
                  <a:rPr lang="en-US" dirty="0">
                    <a:solidFill>
                      <a:schemeClr val="accent1"/>
                    </a:solidFill>
                  </a:rPr>
                  <a:t>potential contingency constraints</a:t>
                </a:r>
              </a:p>
            </p:txBody>
          </p:sp>
        </mc:Choice>
        <mc:Fallback xmlns="">
          <p:sp>
            <p:nvSpPr>
              <p:cNvPr id="11" name="TextBox 10">
                <a:extLst>
                  <a:ext uri="{FF2B5EF4-FFF2-40B4-BE49-F238E27FC236}">
                    <a16:creationId xmlns:a16="http://schemas.microsoft.com/office/drawing/2014/main" id="{DC03F304-9711-6F00-0AE0-AC2E790930E2}"/>
                  </a:ext>
                </a:extLst>
              </p:cNvPr>
              <p:cNvSpPr txBox="1">
                <a:spLocks noRot="1" noChangeAspect="1" noMove="1" noResize="1" noEditPoints="1" noAdjustHandles="1" noChangeArrowheads="1" noChangeShapeType="1" noTextEdit="1"/>
              </p:cNvSpPr>
              <p:nvPr/>
            </p:nvSpPr>
            <p:spPr>
              <a:xfrm>
                <a:off x="8104630" y="1067817"/>
                <a:ext cx="3749040" cy="5078313"/>
              </a:xfrm>
              <a:prstGeom prst="rect">
                <a:avLst/>
              </a:prstGeom>
              <a:blipFill>
                <a:blip r:embed="rId6"/>
                <a:stretch>
                  <a:fillRect l="-1133" t="-478" r="-1133" b="-718"/>
                </a:stretch>
              </a:blipFill>
              <a:ln w="19050">
                <a:solidFill>
                  <a:schemeClr val="tx1">
                    <a:lumMod val="85000"/>
                    <a:lumOff val="15000"/>
                  </a:schemeClr>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A0141531-31D3-C2CC-6A78-78D5BD3A3FB2}"/>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8" name="TextBox 7">
            <a:extLst>
              <a:ext uri="{FF2B5EF4-FFF2-40B4-BE49-F238E27FC236}">
                <a16:creationId xmlns:a16="http://schemas.microsoft.com/office/drawing/2014/main" id="{C638C05F-E64C-B588-6286-230F156AEEB8}"/>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29043708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fade">
                                      <p:cBhvr>
                                        <p:cTn id="10" dur="500"/>
                                        <p:tgtEl>
                                          <p:spTgt spid="4098"/>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nodeType="withEffect">
                                  <p:stCondLst>
                                    <p:cond delay="0"/>
                                  </p:stCondLst>
                                  <p:childTnLst>
                                    <p:set>
                                      <p:cBhvr>
                                        <p:cTn id="20" dur="1" fill="hold">
                                          <p:stCondLst>
                                            <p:cond delay="0"/>
                                          </p:stCondLst>
                                        </p:cTn>
                                        <p:tgtEl>
                                          <p:spTgt spid="4104"/>
                                        </p:tgtEl>
                                        <p:attrNameLst>
                                          <p:attrName>style.visibility</p:attrName>
                                        </p:attrNameLst>
                                      </p:cBhvr>
                                      <p:to>
                                        <p:strVal val="visible"/>
                                      </p:to>
                                    </p:set>
                                    <p:animEffect transition="in" filter="fade">
                                      <p:cBhvr>
                                        <p:cTn id="21" dur="500"/>
                                        <p:tgtEl>
                                          <p:spTgt spid="410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EC5E6-D5E7-A1B5-4DCE-23550C49C7C8}"/>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FB617820-296C-2BE6-5796-AADC631278C3}"/>
              </a:ext>
            </a:extLst>
          </p:cNvPr>
          <p:cNvSpPr/>
          <p:nvPr/>
        </p:nvSpPr>
        <p:spPr>
          <a:xfrm>
            <a:off x="3662685" y="3062611"/>
            <a:ext cx="7838332" cy="1689134"/>
          </a:xfrm>
          <a:prstGeom prst="rect">
            <a:avLst/>
          </a:prstGeom>
          <a:solidFill>
            <a:schemeClr val="bg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5D00B09-D901-0969-D4EA-7D4838390E0A}"/>
              </a:ext>
            </a:extLst>
          </p:cNvPr>
          <p:cNvSpPr/>
          <p:nvPr/>
        </p:nvSpPr>
        <p:spPr>
          <a:xfrm>
            <a:off x="3662685" y="4967517"/>
            <a:ext cx="7838332" cy="1180777"/>
          </a:xfrm>
          <a:prstGeom prst="rect">
            <a:avLst/>
          </a:prstGeom>
          <a:solidFill>
            <a:schemeClr val="bg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0662FA-1B7E-DAFF-0095-5D989A0FA442}"/>
              </a:ext>
            </a:extLst>
          </p:cNvPr>
          <p:cNvSpPr/>
          <p:nvPr/>
        </p:nvSpPr>
        <p:spPr>
          <a:xfrm>
            <a:off x="422982" y="174467"/>
            <a:ext cx="10915669" cy="646331"/>
          </a:xfrm>
          <a:prstGeom prst="rect">
            <a:avLst/>
          </a:prstGeom>
        </p:spPr>
        <p:txBody>
          <a:bodyPr wrap="square" lIns="0">
            <a:spAutoFit/>
          </a:bodyPr>
          <a:lstStyle/>
          <a:p>
            <a:r>
              <a:rPr lang="en-US" sz="3600" dirty="0"/>
              <a:t>CANOPI algorithm</a:t>
            </a:r>
          </a:p>
        </p:txBody>
      </p:sp>
      <p:grpSp>
        <p:nvGrpSpPr>
          <p:cNvPr id="57" name="Group 56">
            <a:extLst>
              <a:ext uri="{FF2B5EF4-FFF2-40B4-BE49-F238E27FC236}">
                <a16:creationId xmlns:a16="http://schemas.microsoft.com/office/drawing/2014/main" id="{55F2F40F-6C18-D5B3-3C80-C2846995850D}"/>
              </a:ext>
            </a:extLst>
          </p:cNvPr>
          <p:cNvGrpSpPr/>
          <p:nvPr/>
        </p:nvGrpSpPr>
        <p:grpSpPr>
          <a:xfrm>
            <a:off x="3661577" y="95420"/>
            <a:ext cx="7997752" cy="2409576"/>
            <a:chOff x="3610777" y="186860"/>
            <a:chExt cx="8158241" cy="2457928"/>
          </a:xfrm>
        </p:grpSpPr>
        <p:grpSp>
          <p:nvGrpSpPr>
            <p:cNvPr id="10" name="Group 9">
              <a:extLst>
                <a:ext uri="{FF2B5EF4-FFF2-40B4-BE49-F238E27FC236}">
                  <a16:creationId xmlns:a16="http://schemas.microsoft.com/office/drawing/2014/main" id="{E3329FC0-F23C-0998-CC0C-05B97F80B4D2}"/>
                </a:ext>
              </a:extLst>
            </p:cNvPr>
            <p:cNvGrpSpPr/>
            <p:nvPr/>
          </p:nvGrpSpPr>
          <p:grpSpPr>
            <a:xfrm>
              <a:off x="3610777" y="958567"/>
              <a:ext cx="8158241" cy="1686221"/>
              <a:chOff x="1816779" y="1749446"/>
              <a:chExt cx="8158241" cy="1686221"/>
            </a:xfrm>
          </p:grpSpPr>
          <p:sp>
            <p:nvSpPr>
              <p:cNvPr id="13" name="Rectangle 12">
                <a:extLst>
                  <a:ext uri="{FF2B5EF4-FFF2-40B4-BE49-F238E27FC236}">
                    <a16:creationId xmlns:a16="http://schemas.microsoft.com/office/drawing/2014/main" id="{CE8D9A39-AFEA-402E-1EEA-FE151D0F64F2}"/>
                  </a:ext>
                </a:extLst>
              </p:cNvPr>
              <p:cNvSpPr/>
              <p:nvPr/>
            </p:nvSpPr>
            <p:spPr>
              <a:xfrm>
                <a:off x="3150531" y="1756113"/>
                <a:ext cx="3787918" cy="167955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19EFFE8E-E353-C3C2-7109-5041F5DD4262}"/>
                  </a:ext>
                </a:extLst>
              </p:cNvPr>
              <p:cNvSpPr txBox="1"/>
              <p:nvPr/>
            </p:nvSpPr>
            <p:spPr>
              <a:xfrm>
                <a:off x="1816779" y="2775432"/>
                <a:ext cx="1085638" cy="64633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rIns="0" anchor="ctr">
                <a:spAutoFit/>
              </a:bodyPr>
              <a:lstStyle/>
              <a:p>
                <a:pPr algn="ctr"/>
                <a:r>
                  <a:rPr lang="en-US" dirty="0">
                    <a:latin typeface="Cambria Math" panose="02040503050406030204" pitchFamily="18" charset="0"/>
                  </a:rPr>
                  <a:t>Minimal cycle basis</a:t>
                </a:r>
              </a:p>
            </p:txBody>
          </p:sp>
          <p:sp>
            <p:nvSpPr>
              <p:cNvPr id="15" name="TextBox 14">
                <a:extLst>
                  <a:ext uri="{FF2B5EF4-FFF2-40B4-BE49-F238E27FC236}">
                    <a16:creationId xmlns:a16="http://schemas.microsoft.com/office/drawing/2014/main" id="{82D15C70-CC80-533A-83B9-326BDA285858}"/>
                  </a:ext>
                </a:extLst>
              </p:cNvPr>
              <p:cNvSpPr txBox="1"/>
              <p:nvPr/>
            </p:nvSpPr>
            <p:spPr>
              <a:xfrm>
                <a:off x="4001847" y="1749446"/>
                <a:ext cx="1924085" cy="369332"/>
              </a:xfrm>
              <a:prstGeom prst="rect">
                <a:avLst/>
              </a:prstGeom>
              <a:noFill/>
              <a:ln>
                <a:noFill/>
              </a:ln>
            </p:spPr>
            <p:txBody>
              <a:bodyPr wrap="square" anchor="ctr">
                <a:spAutoFit/>
              </a:bodyPr>
              <a:lstStyle/>
              <a:p>
                <a:pPr algn="ctr"/>
                <a:r>
                  <a:rPr lang="en-US" dirty="0">
                    <a:latin typeface="Cambria Math" panose="02040503050406030204" pitchFamily="18" charset="0"/>
                  </a:rPr>
                  <a:t>Bundle method</a:t>
                </a:r>
              </a:p>
            </p:txBody>
          </p:sp>
          <p:sp>
            <p:nvSpPr>
              <p:cNvPr id="16" name="TextBox 15">
                <a:extLst>
                  <a:ext uri="{FF2B5EF4-FFF2-40B4-BE49-F238E27FC236}">
                    <a16:creationId xmlns:a16="http://schemas.microsoft.com/office/drawing/2014/main" id="{7A3BADFA-07A9-4D48-7A44-B39BF330894A}"/>
                  </a:ext>
                </a:extLst>
              </p:cNvPr>
              <p:cNvSpPr txBox="1"/>
              <p:nvPr/>
            </p:nvSpPr>
            <p:spPr>
              <a:xfrm>
                <a:off x="4296104" y="2132518"/>
                <a:ext cx="1335568" cy="55399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tIns="0" bIns="0" anchor="ctr">
                <a:spAutoFit/>
              </a:bodyPr>
              <a:lstStyle/>
              <a:p>
                <a:pPr algn="ctr"/>
                <a:r>
                  <a:rPr lang="en-US" dirty="0">
                    <a:latin typeface="Cambria Math" panose="02040503050406030204" pitchFamily="18" charset="0"/>
                  </a:rPr>
                  <a:t>Investment problem</a:t>
                </a:r>
              </a:p>
            </p:txBody>
          </p:sp>
          <p:sp>
            <p:nvSpPr>
              <p:cNvPr id="17" name="TextBox 16">
                <a:extLst>
                  <a:ext uri="{FF2B5EF4-FFF2-40B4-BE49-F238E27FC236}">
                    <a16:creationId xmlns:a16="http://schemas.microsoft.com/office/drawing/2014/main" id="{9356883C-5894-0439-CAD4-2DF201F0F11C}"/>
                  </a:ext>
                </a:extLst>
              </p:cNvPr>
              <p:cNvSpPr txBox="1"/>
              <p:nvPr/>
            </p:nvSpPr>
            <p:spPr>
              <a:xfrm>
                <a:off x="4296104" y="2775588"/>
                <a:ext cx="1335568" cy="553998"/>
              </a:xfrm>
              <a:prstGeom prst="rect">
                <a:avLst/>
              </a:prstGeom>
              <a:solidFill>
                <a:schemeClr val="accent5">
                  <a:lumMod val="40000"/>
                  <a:lumOff val="60000"/>
                </a:schemeClr>
              </a:solidFill>
              <a:ln>
                <a:solidFill>
                  <a:schemeClr val="tx1"/>
                </a:solidFill>
              </a:ln>
              <a:effectLst>
                <a:outerShdw blurRad="50800" dist="38100" dir="2700000" algn="tl" rotWithShape="0">
                  <a:prstClr val="black">
                    <a:alpha val="40000"/>
                  </a:prstClr>
                </a:outerShdw>
              </a:effectLst>
            </p:spPr>
            <p:txBody>
              <a:bodyPr wrap="square" tIns="0" bIns="0" anchor="ctr">
                <a:spAutoFit/>
              </a:bodyPr>
              <a:lstStyle/>
              <a:p>
                <a:pPr algn="ctr"/>
                <a:r>
                  <a:rPr lang="en-US" dirty="0">
                    <a:latin typeface="Cambria Math" panose="02040503050406030204" pitchFamily="18" charset="0"/>
                  </a:rPr>
                  <a:t>Inexact oracle</a:t>
                </a:r>
              </a:p>
            </p:txBody>
          </p:sp>
          <p:sp>
            <p:nvSpPr>
              <p:cNvPr id="18" name="TextBox 17">
                <a:extLst>
                  <a:ext uri="{FF2B5EF4-FFF2-40B4-BE49-F238E27FC236}">
                    <a16:creationId xmlns:a16="http://schemas.microsoft.com/office/drawing/2014/main" id="{4F0495E1-6A31-1AE1-D13D-D0551474E44D}"/>
                  </a:ext>
                </a:extLst>
              </p:cNvPr>
              <p:cNvSpPr txBox="1"/>
              <p:nvPr/>
            </p:nvSpPr>
            <p:spPr>
              <a:xfrm>
                <a:off x="7216448" y="2266059"/>
                <a:ext cx="1408561" cy="64633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rIns="0" anchor="ctr">
                <a:spAutoFit/>
              </a:bodyPr>
              <a:lstStyle/>
              <a:p>
                <a:pPr algn="ctr"/>
                <a:r>
                  <a:rPr lang="en-US" dirty="0">
                    <a:latin typeface="Cambria Math" panose="02040503050406030204" pitchFamily="18" charset="0"/>
                  </a:rPr>
                  <a:t>Transmission correction</a:t>
                </a:r>
              </a:p>
            </p:txBody>
          </p:sp>
          <p:sp>
            <p:nvSpPr>
              <p:cNvPr id="19" name="TextBox 18">
                <a:extLst>
                  <a:ext uri="{FF2B5EF4-FFF2-40B4-BE49-F238E27FC236}">
                    <a16:creationId xmlns:a16="http://schemas.microsoft.com/office/drawing/2014/main" id="{0117AA46-ED31-6885-92E6-D36D77A56F49}"/>
                  </a:ext>
                </a:extLst>
              </p:cNvPr>
              <p:cNvSpPr txBox="1"/>
              <p:nvPr/>
            </p:nvSpPr>
            <p:spPr>
              <a:xfrm>
                <a:off x="8906040" y="2404557"/>
                <a:ext cx="1068980" cy="36933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lIns="0" rIns="0" anchor="ctr">
                <a:spAutoFit/>
              </a:bodyPr>
              <a:lstStyle/>
              <a:p>
                <a:pPr algn="ctr"/>
                <a:r>
                  <a:rPr lang="en-US" dirty="0">
                    <a:latin typeface="Cambria Math" panose="02040503050406030204" pitchFamily="18" charset="0"/>
                  </a:rPr>
                  <a:t>Evaluation</a:t>
                </a:r>
              </a:p>
            </p:txBody>
          </p:sp>
          <p:sp>
            <p:nvSpPr>
              <p:cNvPr id="20" name="TextBox 19">
                <a:extLst>
                  <a:ext uri="{FF2B5EF4-FFF2-40B4-BE49-F238E27FC236}">
                    <a16:creationId xmlns:a16="http://schemas.microsoft.com/office/drawing/2014/main" id="{727CDC30-8BD2-D7C8-1B5C-F6FBAA6996AA}"/>
                  </a:ext>
                </a:extLst>
              </p:cNvPr>
              <p:cNvSpPr txBox="1"/>
              <p:nvPr/>
            </p:nvSpPr>
            <p:spPr>
              <a:xfrm>
                <a:off x="3063877" y="2594363"/>
                <a:ext cx="997586" cy="307777"/>
              </a:xfrm>
              <a:prstGeom prst="rect">
                <a:avLst/>
              </a:prstGeom>
              <a:noFill/>
              <a:ln>
                <a:noFill/>
              </a:ln>
            </p:spPr>
            <p:txBody>
              <a:bodyPr wrap="square" anchor="ctr">
                <a:spAutoFit/>
              </a:bodyPr>
              <a:lstStyle/>
              <a:p>
                <a:pPr algn="ctr"/>
                <a:r>
                  <a:rPr lang="en-US" sz="1400" i="1" dirty="0">
                    <a:latin typeface="Cambria Math" panose="02040503050406030204" pitchFamily="18" charset="0"/>
                  </a:rPr>
                  <a:t>Capacities</a:t>
                </a:r>
              </a:p>
            </p:txBody>
          </p:sp>
          <p:sp>
            <p:nvSpPr>
              <p:cNvPr id="21" name="TextBox 20">
                <a:extLst>
                  <a:ext uri="{FF2B5EF4-FFF2-40B4-BE49-F238E27FC236}">
                    <a16:creationId xmlns:a16="http://schemas.microsoft.com/office/drawing/2014/main" id="{3B43693B-8589-6ADF-5AA5-D5947028091B}"/>
                  </a:ext>
                </a:extLst>
              </p:cNvPr>
              <p:cNvSpPr txBox="1"/>
              <p:nvPr/>
            </p:nvSpPr>
            <p:spPr>
              <a:xfrm>
                <a:off x="5820288" y="2366057"/>
                <a:ext cx="1182515" cy="738664"/>
              </a:xfrm>
              <a:prstGeom prst="rect">
                <a:avLst/>
              </a:prstGeom>
              <a:noFill/>
              <a:ln>
                <a:noFill/>
              </a:ln>
            </p:spPr>
            <p:txBody>
              <a:bodyPr wrap="square" anchor="ctr">
                <a:spAutoFit/>
              </a:bodyPr>
              <a:lstStyle/>
              <a:p>
                <a:pPr algn="ctr"/>
                <a:r>
                  <a:rPr lang="en-US" sz="1400" i="1" dirty="0">
                    <a:latin typeface="Cambria Math" panose="02040503050406030204" pitchFamily="18" charset="0"/>
                  </a:rPr>
                  <a:t>Cuts &amp;</a:t>
                </a:r>
              </a:p>
              <a:p>
                <a:pPr algn="ctr"/>
                <a:r>
                  <a:rPr lang="en-US" sz="1400" i="1" dirty="0">
                    <a:latin typeface="Cambria Math" panose="02040503050406030204" pitchFamily="18" charset="0"/>
                  </a:rPr>
                  <a:t>Contingency violations</a:t>
                </a:r>
              </a:p>
            </p:txBody>
          </p:sp>
          <p:cxnSp>
            <p:nvCxnSpPr>
              <p:cNvPr id="22" name="Straight Arrow Connector 21">
                <a:extLst>
                  <a:ext uri="{FF2B5EF4-FFF2-40B4-BE49-F238E27FC236}">
                    <a16:creationId xmlns:a16="http://schemas.microsoft.com/office/drawing/2014/main" id="{FFEFF177-FFFE-2558-279B-A78F5B165E32}"/>
                  </a:ext>
                </a:extLst>
              </p:cNvPr>
              <p:cNvCxnSpPr>
                <a:cxnSpLocks/>
              </p:cNvCxnSpPr>
              <p:nvPr/>
            </p:nvCxnSpPr>
            <p:spPr>
              <a:xfrm>
                <a:off x="2910006" y="3241093"/>
                <a:ext cx="1375938" cy="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D7210365-450F-D4EB-86A9-65A4F1956AA7}"/>
                  </a:ext>
                </a:extLst>
              </p:cNvPr>
              <p:cNvSpPr/>
              <p:nvPr/>
            </p:nvSpPr>
            <p:spPr>
              <a:xfrm>
                <a:off x="5381366" y="2425069"/>
                <a:ext cx="524234" cy="666748"/>
              </a:xfrm>
              <a:prstGeom prst="arc">
                <a:avLst>
                  <a:gd name="adj1" fmla="val 16089066"/>
                  <a:gd name="adj2" fmla="val 5489176"/>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Arc 23">
                <a:extLst>
                  <a:ext uri="{FF2B5EF4-FFF2-40B4-BE49-F238E27FC236}">
                    <a16:creationId xmlns:a16="http://schemas.microsoft.com/office/drawing/2014/main" id="{548964D7-065F-0FFE-146B-471DE5B466BC}"/>
                  </a:ext>
                </a:extLst>
              </p:cNvPr>
              <p:cNvSpPr/>
              <p:nvPr/>
            </p:nvSpPr>
            <p:spPr>
              <a:xfrm rot="10800000">
                <a:off x="4021798" y="2425068"/>
                <a:ext cx="524234" cy="693417"/>
              </a:xfrm>
              <a:prstGeom prst="arc">
                <a:avLst>
                  <a:gd name="adj1" fmla="val 16103376"/>
                  <a:gd name="adj2" fmla="val 5489176"/>
                </a:avLst>
              </a:prstGeom>
              <a:ln w="127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3F6C4490-7337-43DE-D41A-5BA9CDEC8D03}"/>
                  </a:ext>
                </a:extLst>
              </p:cNvPr>
              <p:cNvCxnSpPr>
                <a:cxnSpLocks/>
              </p:cNvCxnSpPr>
              <p:nvPr/>
            </p:nvCxnSpPr>
            <p:spPr>
              <a:xfrm>
                <a:off x="8627057" y="2589221"/>
                <a:ext cx="274320" cy="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D6CAA41-5304-9DD0-C358-9D22E562262B}"/>
                  </a:ext>
                </a:extLst>
              </p:cNvPr>
              <p:cNvCxnSpPr>
                <a:cxnSpLocks/>
              </p:cNvCxnSpPr>
              <p:nvPr/>
            </p:nvCxnSpPr>
            <p:spPr>
              <a:xfrm flipH="1">
                <a:off x="6955975" y="3160992"/>
                <a:ext cx="964754" cy="0"/>
              </a:xfrm>
              <a:prstGeom prst="straightConnector1">
                <a:avLst/>
              </a:prstGeom>
              <a:ln w="1905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1C50E07-DC38-0311-9DDF-9F7226B771F0}"/>
                  </a:ext>
                </a:extLst>
              </p:cNvPr>
              <p:cNvCxnSpPr>
                <a:cxnSpLocks/>
                <a:stCxn id="18" idx="2"/>
              </p:cNvCxnSpPr>
              <p:nvPr/>
            </p:nvCxnSpPr>
            <p:spPr>
              <a:xfrm>
                <a:off x="7920729" y="2912390"/>
                <a:ext cx="0" cy="24860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CEC194A-55AB-C091-AC34-91B59BED5D18}"/>
                  </a:ext>
                </a:extLst>
              </p:cNvPr>
              <p:cNvCxnSpPr>
                <a:cxnSpLocks/>
              </p:cNvCxnSpPr>
              <p:nvPr/>
            </p:nvCxnSpPr>
            <p:spPr>
              <a:xfrm>
                <a:off x="6940007" y="2589221"/>
                <a:ext cx="274320" cy="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2B38DB07-A63A-2A76-2EB3-C584B79328ED}"/>
                </a:ext>
              </a:extLst>
            </p:cNvPr>
            <p:cNvSpPr txBox="1"/>
            <p:nvPr/>
          </p:nvSpPr>
          <p:spPr>
            <a:xfrm>
              <a:off x="6869717" y="186860"/>
              <a:ext cx="1925848" cy="307777"/>
            </a:xfrm>
            <a:prstGeom prst="rect">
              <a:avLst/>
            </a:prstGeom>
            <a:noFill/>
          </p:spPr>
          <p:txBody>
            <a:bodyPr wrap="none" rtlCol="0">
              <a:spAutoFit/>
            </a:bodyPr>
            <a:lstStyle/>
            <a:p>
              <a:r>
                <a:rPr lang="en-US" sz="1400" dirty="0">
                  <a:solidFill>
                    <a:schemeClr val="bg1">
                      <a:lumMod val="50000"/>
                    </a:schemeClr>
                  </a:solidFill>
                </a:rPr>
                <a:t>Full problem is (MI)NLP </a:t>
              </a:r>
            </a:p>
          </p:txBody>
        </p:sp>
        <p:sp>
          <p:nvSpPr>
            <p:cNvPr id="42" name="Right Brace 41">
              <a:extLst>
                <a:ext uri="{FF2B5EF4-FFF2-40B4-BE49-F238E27FC236}">
                  <a16:creationId xmlns:a16="http://schemas.microsoft.com/office/drawing/2014/main" id="{D33814C6-219F-00D2-978E-A5E90969A560}"/>
                </a:ext>
              </a:extLst>
            </p:cNvPr>
            <p:cNvSpPr/>
            <p:nvPr/>
          </p:nvSpPr>
          <p:spPr>
            <a:xfrm rot="16200000">
              <a:off x="7545378" y="-2230472"/>
              <a:ext cx="240568" cy="5510791"/>
            </a:xfrm>
            <a:prstGeom prst="righ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360004E-F452-AAA1-28CA-3657AD500082}"/>
                    </a:ext>
                  </a:extLst>
                </p:cNvPr>
                <p:cNvSpPr txBox="1"/>
                <p:nvPr/>
              </p:nvSpPr>
              <p:spPr>
                <a:xfrm>
                  <a:off x="5551529" y="548547"/>
                  <a:ext cx="2726644" cy="317074"/>
                </a:xfrm>
                <a:prstGeom prst="rect">
                  <a:avLst/>
                </a:prstGeom>
                <a:noFill/>
              </p:spPr>
              <p:txBody>
                <a:bodyPr wrap="none" rtlCol="0">
                  <a:spAutoFit/>
                </a:bodyPr>
                <a:lstStyle/>
                <a:p>
                  <a:r>
                    <a:rPr lang="en-US" sz="1400" dirty="0">
                      <a:solidFill>
                        <a:schemeClr val="bg1">
                          <a:lumMod val="50000"/>
                        </a:schemeClr>
                      </a:solidFill>
                    </a:rPr>
                    <a:t>Fixed-</a:t>
                  </a:r>
                  <a14:m>
                    <m:oMath xmlns:m="http://schemas.openxmlformats.org/officeDocument/2006/math">
                      <m:sSup>
                        <m:sSupPr>
                          <m:ctrlPr>
                            <a:rPr lang="en-US" sz="1400" b="0" i="1" dirty="0" smtClean="0">
                              <a:solidFill>
                                <a:schemeClr val="bg1">
                                  <a:lumMod val="50000"/>
                                </a:schemeClr>
                              </a:solidFill>
                              <a:latin typeface="Cambria Math" panose="02040503050406030204" pitchFamily="18" charset="0"/>
                            </a:rPr>
                          </m:ctrlPr>
                        </m:sSupPr>
                        <m:e>
                          <m:acc>
                            <m:accPr>
                              <m:chr m:val="̂"/>
                              <m:ctrlPr>
                                <a:rPr lang="en-US" sz="1400" b="0" i="1" smtClean="0">
                                  <a:solidFill>
                                    <a:schemeClr val="bg1">
                                      <a:lumMod val="50000"/>
                                    </a:schemeClr>
                                  </a:solidFill>
                                  <a:latin typeface="Cambria Math" panose="02040503050406030204" pitchFamily="18" charset="0"/>
                                </a:rPr>
                              </m:ctrlPr>
                            </m:accPr>
                            <m:e>
                              <m:r>
                                <a:rPr lang="en-US" sz="1400" b="0" i="1" smtClean="0">
                                  <a:solidFill>
                                    <a:schemeClr val="bg1">
                                      <a:lumMod val="50000"/>
                                    </a:schemeClr>
                                  </a:solidFill>
                                  <a:latin typeface="Cambria Math" panose="02040503050406030204" pitchFamily="18" charset="0"/>
                                </a:rPr>
                                <m:t>𝑥</m:t>
                              </m:r>
                            </m:e>
                          </m:acc>
                        </m:e>
                        <m:sup>
                          <m:r>
                            <m:rPr>
                              <m:sty m:val="p"/>
                            </m:rPr>
                            <a:rPr lang="en-US" sz="1400" b="0" i="0" dirty="0" smtClean="0">
                              <a:solidFill>
                                <a:schemeClr val="bg1">
                                  <a:lumMod val="50000"/>
                                </a:schemeClr>
                              </a:solidFill>
                              <a:latin typeface="Cambria Math" panose="02040503050406030204" pitchFamily="18" charset="0"/>
                            </a:rPr>
                            <m:t>br</m:t>
                          </m:r>
                        </m:sup>
                      </m:sSup>
                    </m:oMath>
                  </a14:m>
                  <a:r>
                    <a:rPr lang="en-US" sz="1400" dirty="0">
                      <a:solidFill>
                        <a:schemeClr val="bg1">
                          <a:lumMod val="50000"/>
                        </a:schemeClr>
                      </a:solidFill>
                    </a:rPr>
                    <a:t> problem is large-scale LP</a:t>
                  </a:r>
                </a:p>
              </p:txBody>
            </p:sp>
          </mc:Choice>
          <mc:Fallback xmlns="">
            <p:sp>
              <p:nvSpPr>
                <p:cNvPr id="43" name="TextBox 42">
                  <a:extLst>
                    <a:ext uri="{FF2B5EF4-FFF2-40B4-BE49-F238E27FC236}">
                      <a16:creationId xmlns:a16="http://schemas.microsoft.com/office/drawing/2014/main" id="{D360004E-F452-AAA1-28CA-3657AD500082}"/>
                    </a:ext>
                  </a:extLst>
                </p:cNvPr>
                <p:cNvSpPr txBox="1">
                  <a:spLocks noRot="1" noChangeAspect="1" noMove="1" noResize="1" noEditPoints="1" noAdjustHandles="1" noChangeArrowheads="1" noChangeShapeType="1" noTextEdit="1"/>
                </p:cNvSpPr>
                <p:nvPr/>
              </p:nvSpPr>
              <p:spPr>
                <a:xfrm>
                  <a:off x="5551529" y="548547"/>
                  <a:ext cx="2726644" cy="317074"/>
                </a:xfrm>
                <a:prstGeom prst="rect">
                  <a:avLst/>
                </a:prstGeom>
                <a:blipFill>
                  <a:blip r:embed="rId3"/>
                  <a:stretch>
                    <a:fillRect l="-685" r="-1370" b="-21569"/>
                  </a:stretch>
                </a:blipFill>
              </p:spPr>
              <p:txBody>
                <a:bodyPr/>
                <a:lstStyle/>
                <a:p>
                  <a:r>
                    <a:rPr lang="en-US">
                      <a:noFill/>
                    </a:rPr>
                    <a:t> </a:t>
                  </a:r>
                </a:p>
              </p:txBody>
            </p:sp>
          </mc:Fallback>
        </mc:AlternateContent>
        <p:sp>
          <p:nvSpPr>
            <p:cNvPr id="44" name="Right Brace 43">
              <a:extLst>
                <a:ext uri="{FF2B5EF4-FFF2-40B4-BE49-F238E27FC236}">
                  <a16:creationId xmlns:a16="http://schemas.microsoft.com/office/drawing/2014/main" id="{19EA6838-5397-DB60-8F80-49FDC41D7B11}"/>
                </a:ext>
              </a:extLst>
            </p:cNvPr>
            <p:cNvSpPr/>
            <p:nvPr/>
          </p:nvSpPr>
          <p:spPr>
            <a:xfrm rot="16200000">
              <a:off x="6741593" y="-1076466"/>
              <a:ext cx="188718" cy="3886534"/>
            </a:xfrm>
            <a:prstGeom prst="rightBrac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2" name="Picture 1">
            <a:extLst>
              <a:ext uri="{FF2B5EF4-FFF2-40B4-BE49-F238E27FC236}">
                <a16:creationId xmlns:a16="http://schemas.microsoft.com/office/drawing/2014/main" id="{6C2F2862-3E08-E6B7-24D7-94F7908E7CFB}"/>
              </a:ext>
            </a:extLst>
          </p:cNvPr>
          <p:cNvPicPr>
            <a:picLocks noChangeAspect="1"/>
          </p:cNvPicPr>
          <p:nvPr/>
        </p:nvPicPr>
        <p:blipFill>
          <a:blip r:embed="rId4"/>
          <a:srcRect b="54796"/>
          <a:stretch>
            <a:fillRect/>
          </a:stretch>
        </p:blipFill>
        <p:spPr>
          <a:xfrm>
            <a:off x="4852967" y="3372881"/>
            <a:ext cx="6638845" cy="538187"/>
          </a:xfrm>
          <a:prstGeom prst="rect">
            <a:avLst/>
          </a:prstGeom>
        </p:spPr>
      </p:pic>
      <p:sp>
        <p:nvSpPr>
          <p:cNvPr id="4" name="Right Brace 3">
            <a:extLst>
              <a:ext uri="{FF2B5EF4-FFF2-40B4-BE49-F238E27FC236}">
                <a16:creationId xmlns:a16="http://schemas.microsoft.com/office/drawing/2014/main" id="{46320AA1-6D90-8B78-FD6B-BBC5CA6C0CF0}"/>
              </a:ext>
            </a:extLst>
          </p:cNvPr>
          <p:cNvSpPr/>
          <p:nvPr/>
        </p:nvSpPr>
        <p:spPr>
          <a:xfrm rot="5400000">
            <a:off x="10232504" y="3230465"/>
            <a:ext cx="274948" cy="132177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C4B63BF-414D-E3A4-71A4-ACAC4E579FB7}"/>
              </a:ext>
            </a:extLst>
          </p:cNvPr>
          <p:cNvSpPr txBox="1"/>
          <p:nvPr/>
        </p:nvSpPr>
        <p:spPr>
          <a:xfrm>
            <a:off x="9911575" y="3937388"/>
            <a:ext cx="951992" cy="307777"/>
          </a:xfrm>
          <a:prstGeom prst="rect">
            <a:avLst/>
          </a:prstGeom>
          <a:noFill/>
        </p:spPr>
        <p:txBody>
          <a:bodyPr wrap="none" rtlCol="0">
            <a:spAutoFit/>
          </a:bodyPr>
          <a:lstStyle/>
          <a:p>
            <a:r>
              <a:rPr lang="en-US" sz="1400" dirty="0">
                <a:solidFill>
                  <a:schemeClr val="accent1"/>
                </a:solidFill>
              </a:rPr>
              <a:t>Line rating</a:t>
            </a:r>
          </a:p>
        </p:txBody>
      </p:sp>
      <p:sp>
        <p:nvSpPr>
          <p:cNvPr id="6" name="TextBox 5">
            <a:extLst>
              <a:ext uri="{FF2B5EF4-FFF2-40B4-BE49-F238E27FC236}">
                <a16:creationId xmlns:a16="http://schemas.microsoft.com/office/drawing/2014/main" id="{19C24CD5-E66C-6503-5078-41FD9AC4EACD}"/>
              </a:ext>
            </a:extLst>
          </p:cNvPr>
          <p:cNvSpPr txBox="1"/>
          <p:nvPr/>
        </p:nvSpPr>
        <p:spPr>
          <a:xfrm>
            <a:off x="9199197" y="4338887"/>
            <a:ext cx="1493520" cy="307777"/>
          </a:xfrm>
          <a:prstGeom prst="rect">
            <a:avLst/>
          </a:prstGeom>
          <a:noFill/>
        </p:spPr>
        <p:txBody>
          <a:bodyPr wrap="square" rtlCol="0">
            <a:spAutoFit/>
          </a:bodyPr>
          <a:lstStyle/>
          <a:p>
            <a:pPr algn="ctr"/>
            <a:r>
              <a:rPr lang="en-US" sz="1400" dirty="0">
                <a:solidFill>
                  <a:schemeClr val="accent1"/>
                </a:solidFill>
              </a:rPr>
              <a:t>Rating multiplier</a:t>
            </a:r>
          </a:p>
        </p:txBody>
      </p:sp>
      <p:cxnSp>
        <p:nvCxnSpPr>
          <p:cNvPr id="7" name="Straight Connector 6">
            <a:extLst>
              <a:ext uri="{FF2B5EF4-FFF2-40B4-BE49-F238E27FC236}">
                <a16:creationId xmlns:a16="http://schemas.microsoft.com/office/drawing/2014/main" id="{E4276C99-B673-A8C6-1777-E22889A8A50B}"/>
              </a:ext>
            </a:extLst>
          </p:cNvPr>
          <p:cNvCxnSpPr>
            <a:cxnSpLocks/>
          </p:cNvCxnSpPr>
          <p:nvPr/>
        </p:nvCxnSpPr>
        <p:spPr>
          <a:xfrm>
            <a:off x="9464535" y="3792908"/>
            <a:ext cx="220275" cy="656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922AB1-C6A2-BBED-06F9-61801C58A54A}"/>
              </a:ext>
            </a:extLst>
          </p:cNvPr>
          <p:cNvCxnSpPr>
            <a:cxnSpLocks/>
          </p:cNvCxnSpPr>
          <p:nvPr/>
        </p:nvCxnSpPr>
        <p:spPr>
          <a:xfrm flipV="1">
            <a:off x="6223967" y="3785441"/>
            <a:ext cx="0" cy="325875"/>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76BCA38-1FB0-B200-D4AC-3CF88252DFCB}"/>
              </a:ext>
            </a:extLst>
          </p:cNvPr>
          <p:cNvSpPr txBox="1"/>
          <p:nvPr/>
        </p:nvSpPr>
        <p:spPr>
          <a:xfrm>
            <a:off x="6183686" y="3929837"/>
            <a:ext cx="2092601" cy="307777"/>
          </a:xfrm>
          <a:prstGeom prst="rect">
            <a:avLst/>
          </a:prstGeom>
          <a:noFill/>
        </p:spPr>
        <p:txBody>
          <a:bodyPr wrap="square" rtlCol="0">
            <a:spAutoFit/>
          </a:bodyPr>
          <a:lstStyle/>
          <a:p>
            <a:pPr algn="ctr"/>
            <a:r>
              <a:rPr lang="en-US" sz="1400" b="1" dirty="0">
                <a:solidFill>
                  <a:schemeClr val="accent1">
                    <a:lumMod val="75000"/>
                  </a:schemeClr>
                </a:solidFill>
              </a:rPr>
              <a:t>LODF</a:t>
            </a:r>
            <a:endParaRPr lang="en-US" sz="1400" i="1" dirty="0">
              <a:solidFill>
                <a:schemeClr val="accent1"/>
              </a:solidFill>
            </a:endParaRPr>
          </a:p>
        </p:txBody>
      </p:sp>
      <p:sp>
        <p:nvSpPr>
          <p:cNvPr id="11" name="TextBox 10">
            <a:extLst>
              <a:ext uri="{FF2B5EF4-FFF2-40B4-BE49-F238E27FC236}">
                <a16:creationId xmlns:a16="http://schemas.microsoft.com/office/drawing/2014/main" id="{FCA02B71-B016-9ECB-C876-4D1AB09411C6}"/>
              </a:ext>
            </a:extLst>
          </p:cNvPr>
          <p:cNvSpPr txBox="1"/>
          <p:nvPr/>
        </p:nvSpPr>
        <p:spPr>
          <a:xfrm>
            <a:off x="5770138" y="3897805"/>
            <a:ext cx="993310" cy="523220"/>
          </a:xfrm>
          <a:prstGeom prst="rect">
            <a:avLst/>
          </a:prstGeom>
          <a:noFill/>
        </p:spPr>
        <p:txBody>
          <a:bodyPr wrap="square" rtlCol="0">
            <a:spAutoFit/>
          </a:bodyPr>
          <a:lstStyle/>
          <a:p>
            <a:pPr algn="ctr"/>
            <a:r>
              <a:rPr lang="en-US" sz="1400" dirty="0">
                <a:solidFill>
                  <a:schemeClr val="accent1"/>
                </a:solidFill>
              </a:rPr>
              <a:t>Pre-outage flow on </a:t>
            </a:r>
            <a:r>
              <a:rPr lang="en-US" sz="1400" i="1" dirty="0">
                <a:solidFill>
                  <a:schemeClr val="accent1"/>
                </a:solidFill>
              </a:rPr>
              <a:t>i</a:t>
            </a:r>
          </a:p>
        </p:txBody>
      </p:sp>
      <p:sp>
        <p:nvSpPr>
          <p:cNvPr id="12" name="TextBox 11">
            <a:extLst>
              <a:ext uri="{FF2B5EF4-FFF2-40B4-BE49-F238E27FC236}">
                <a16:creationId xmlns:a16="http://schemas.microsoft.com/office/drawing/2014/main" id="{4DBD922A-4D70-EFF4-9C2D-EE5B2F0105CD}"/>
              </a:ext>
            </a:extLst>
          </p:cNvPr>
          <p:cNvSpPr txBox="1"/>
          <p:nvPr/>
        </p:nvSpPr>
        <p:spPr>
          <a:xfrm>
            <a:off x="3766944" y="3969555"/>
            <a:ext cx="1862899" cy="738664"/>
          </a:xfrm>
          <a:prstGeom prst="rect">
            <a:avLst/>
          </a:prstGeom>
          <a:noFill/>
        </p:spPr>
        <p:txBody>
          <a:bodyPr wrap="square" rtlCol="0">
            <a:spAutoFit/>
          </a:bodyPr>
          <a:lstStyle/>
          <a:p>
            <a:pPr algn="ctr"/>
            <a:r>
              <a:rPr lang="en-US" sz="1400" b="1" dirty="0">
                <a:solidFill>
                  <a:schemeClr val="accent1">
                    <a:lumMod val="75000"/>
                  </a:schemeClr>
                </a:solidFill>
              </a:rPr>
              <a:t>Implied upper bound on contingency slack</a:t>
            </a:r>
            <a:r>
              <a:rPr lang="en-US" sz="1400" dirty="0">
                <a:solidFill>
                  <a:schemeClr val="accent1"/>
                </a:solidFill>
              </a:rPr>
              <a:t>:</a:t>
            </a:r>
          </a:p>
          <a:p>
            <a:pPr algn="ctr"/>
            <a:r>
              <a:rPr lang="en-US" sz="1400" dirty="0">
                <a:solidFill>
                  <a:schemeClr val="accent1"/>
                </a:solidFill>
              </a:rPr>
              <a:t>Flow on </a:t>
            </a:r>
            <a:r>
              <a:rPr lang="en-US" sz="1400" i="1" dirty="0">
                <a:solidFill>
                  <a:schemeClr val="accent1"/>
                </a:solidFill>
              </a:rPr>
              <a:t>i</a:t>
            </a:r>
            <a:r>
              <a:rPr lang="en-US" sz="1400" dirty="0">
                <a:solidFill>
                  <a:schemeClr val="accent1"/>
                </a:solidFill>
              </a:rPr>
              <a:t>, for outage </a:t>
            </a:r>
            <a:r>
              <a:rPr lang="en-US" sz="1400" i="1" dirty="0">
                <a:solidFill>
                  <a:schemeClr val="accent1"/>
                </a:solidFill>
              </a:rPr>
              <a:t>j</a:t>
            </a:r>
          </a:p>
        </p:txBody>
      </p:sp>
      <p:cxnSp>
        <p:nvCxnSpPr>
          <p:cNvPr id="29" name="Straight Connector 28">
            <a:extLst>
              <a:ext uri="{FF2B5EF4-FFF2-40B4-BE49-F238E27FC236}">
                <a16:creationId xmlns:a16="http://schemas.microsoft.com/office/drawing/2014/main" id="{5C7AE6DA-7D7F-53DF-431B-8472B79033C7}"/>
              </a:ext>
            </a:extLst>
          </p:cNvPr>
          <p:cNvCxnSpPr>
            <a:cxnSpLocks/>
          </p:cNvCxnSpPr>
          <p:nvPr/>
        </p:nvCxnSpPr>
        <p:spPr>
          <a:xfrm flipV="1">
            <a:off x="4944879" y="3753751"/>
            <a:ext cx="0" cy="325875"/>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39ECB33-1A30-65AE-A924-CCE9ABAAE07A}"/>
              </a:ext>
            </a:extLst>
          </p:cNvPr>
          <p:cNvSpPr txBox="1"/>
          <p:nvPr/>
        </p:nvSpPr>
        <p:spPr>
          <a:xfrm>
            <a:off x="7848494" y="3915705"/>
            <a:ext cx="993310" cy="523220"/>
          </a:xfrm>
          <a:prstGeom prst="rect">
            <a:avLst/>
          </a:prstGeom>
          <a:noFill/>
        </p:spPr>
        <p:txBody>
          <a:bodyPr wrap="square" rtlCol="0">
            <a:spAutoFit/>
          </a:bodyPr>
          <a:lstStyle/>
          <a:p>
            <a:pPr algn="ctr"/>
            <a:r>
              <a:rPr lang="en-US" sz="1400" dirty="0">
                <a:solidFill>
                  <a:schemeClr val="accent1"/>
                </a:solidFill>
              </a:rPr>
              <a:t>Pre-outage flow on </a:t>
            </a:r>
            <a:r>
              <a:rPr lang="en-US" sz="1400" i="1" dirty="0">
                <a:solidFill>
                  <a:schemeClr val="accent1"/>
                </a:solidFill>
              </a:rPr>
              <a:t>j</a:t>
            </a:r>
          </a:p>
        </p:txBody>
      </p:sp>
      <p:cxnSp>
        <p:nvCxnSpPr>
          <p:cNvPr id="36" name="Straight Connector 35">
            <a:extLst>
              <a:ext uri="{FF2B5EF4-FFF2-40B4-BE49-F238E27FC236}">
                <a16:creationId xmlns:a16="http://schemas.microsoft.com/office/drawing/2014/main" id="{7E391D5B-FDD0-29CD-C162-161386A6E209}"/>
              </a:ext>
            </a:extLst>
          </p:cNvPr>
          <p:cNvCxnSpPr>
            <a:cxnSpLocks/>
          </p:cNvCxnSpPr>
          <p:nvPr/>
        </p:nvCxnSpPr>
        <p:spPr>
          <a:xfrm flipV="1">
            <a:off x="8276287" y="3753880"/>
            <a:ext cx="0" cy="32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1F072FE-AB80-4D40-8DF0-9C6FBD5E7007}"/>
              </a:ext>
            </a:extLst>
          </p:cNvPr>
          <p:cNvCxnSpPr>
            <a:cxnSpLocks/>
          </p:cNvCxnSpPr>
          <p:nvPr/>
        </p:nvCxnSpPr>
        <p:spPr>
          <a:xfrm flipV="1">
            <a:off x="7209487" y="3729378"/>
            <a:ext cx="0" cy="381938"/>
          </a:xfrm>
          <a:prstGeom prst="line">
            <a:avLst/>
          </a:prstGeom>
        </p:spPr>
        <p:style>
          <a:lnRef idx="1">
            <a:schemeClr val="accent1"/>
          </a:lnRef>
          <a:fillRef idx="0">
            <a:schemeClr val="accent1"/>
          </a:fillRef>
          <a:effectRef idx="0">
            <a:schemeClr val="accent1"/>
          </a:effectRef>
          <a:fontRef idx="minor">
            <a:schemeClr val="tx1"/>
          </a:fontRef>
        </p:style>
      </p:cxnSp>
      <p:sp>
        <p:nvSpPr>
          <p:cNvPr id="40" name="Right Brace 39">
            <a:extLst>
              <a:ext uri="{FF2B5EF4-FFF2-40B4-BE49-F238E27FC236}">
                <a16:creationId xmlns:a16="http://schemas.microsoft.com/office/drawing/2014/main" id="{18FC7277-72E8-CFF5-1485-731801DA769C}"/>
              </a:ext>
            </a:extLst>
          </p:cNvPr>
          <p:cNvSpPr/>
          <p:nvPr/>
        </p:nvSpPr>
        <p:spPr>
          <a:xfrm rot="5400000">
            <a:off x="7162576" y="3003635"/>
            <a:ext cx="274948" cy="27392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a:extLst>
              <a:ext uri="{FF2B5EF4-FFF2-40B4-BE49-F238E27FC236}">
                <a16:creationId xmlns:a16="http://schemas.microsoft.com/office/drawing/2014/main" id="{8EBF0ACA-5DA2-DA28-49C8-6B93D4DCC86E}"/>
              </a:ext>
            </a:extLst>
          </p:cNvPr>
          <p:cNvSpPr txBox="1"/>
          <p:nvPr/>
        </p:nvSpPr>
        <p:spPr>
          <a:xfrm>
            <a:off x="6394634" y="4402377"/>
            <a:ext cx="1936222" cy="307777"/>
          </a:xfrm>
          <a:prstGeom prst="rect">
            <a:avLst/>
          </a:prstGeom>
          <a:noFill/>
        </p:spPr>
        <p:txBody>
          <a:bodyPr wrap="square" rtlCol="0">
            <a:spAutoFit/>
          </a:bodyPr>
          <a:lstStyle/>
          <a:p>
            <a:pPr algn="ctr"/>
            <a:r>
              <a:rPr lang="en-US" sz="1400" b="1" dirty="0">
                <a:solidFill>
                  <a:schemeClr val="accent1">
                    <a:lumMod val="75000"/>
                  </a:schemeClr>
                </a:solidFill>
              </a:rPr>
              <a:t>Post-outage flow on </a:t>
            </a:r>
            <a:r>
              <a:rPr lang="en-US" sz="1400" b="1" i="1" dirty="0">
                <a:solidFill>
                  <a:schemeClr val="accent1">
                    <a:lumMod val="75000"/>
                  </a:schemeClr>
                </a:solidFill>
              </a:rPr>
              <a:t>i</a:t>
            </a:r>
          </a:p>
        </p:txBody>
      </p:sp>
      <p:pic>
        <p:nvPicPr>
          <p:cNvPr id="48" name="Picture 47">
            <a:extLst>
              <a:ext uri="{FF2B5EF4-FFF2-40B4-BE49-F238E27FC236}">
                <a16:creationId xmlns:a16="http://schemas.microsoft.com/office/drawing/2014/main" id="{7F4D7EE0-5774-FF3F-116E-008712632495}"/>
              </a:ext>
            </a:extLst>
          </p:cNvPr>
          <p:cNvPicPr>
            <a:picLocks noChangeAspect="1"/>
          </p:cNvPicPr>
          <p:nvPr/>
        </p:nvPicPr>
        <p:blipFill>
          <a:blip r:embed="rId5"/>
          <a:stretch>
            <a:fillRect/>
          </a:stretch>
        </p:blipFill>
        <p:spPr>
          <a:xfrm>
            <a:off x="8012891" y="5008769"/>
            <a:ext cx="3123561" cy="1098272"/>
          </a:xfrm>
          <a:prstGeom prst="rect">
            <a:avLst/>
          </a:prstGeom>
          <a:ln>
            <a:noFill/>
          </a:ln>
        </p:spPr>
      </p:pic>
      <p:sp>
        <p:nvSpPr>
          <p:cNvPr id="52" name="Content Placeholder 2">
            <a:extLst>
              <a:ext uri="{FF2B5EF4-FFF2-40B4-BE49-F238E27FC236}">
                <a16:creationId xmlns:a16="http://schemas.microsoft.com/office/drawing/2014/main" id="{58B0A025-0C70-21EF-E40A-28B30F29A0CD}"/>
              </a:ext>
            </a:extLst>
          </p:cNvPr>
          <p:cNvSpPr txBox="1">
            <a:spLocks/>
          </p:cNvSpPr>
          <p:nvPr/>
        </p:nvSpPr>
        <p:spPr>
          <a:xfrm>
            <a:off x="3756078" y="5042719"/>
            <a:ext cx="3465549" cy="1215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Valid lower bound &amp; subgradient</a:t>
            </a:r>
          </a:p>
          <a:p>
            <a:r>
              <a:rPr lang="en-US" sz="1800" dirty="0"/>
              <a:t>Solve the subproblem with a subset of contingencies</a:t>
            </a:r>
          </a:p>
        </p:txBody>
      </p:sp>
      <p:sp>
        <p:nvSpPr>
          <p:cNvPr id="53" name="Content Placeholder 2">
            <a:extLst>
              <a:ext uri="{FF2B5EF4-FFF2-40B4-BE49-F238E27FC236}">
                <a16:creationId xmlns:a16="http://schemas.microsoft.com/office/drawing/2014/main" id="{B4F62441-60EE-4864-2FC0-5196166BBA6D}"/>
              </a:ext>
            </a:extLst>
          </p:cNvPr>
          <p:cNvSpPr txBox="1">
            <a:spLocks/>
          </p:cNvSpPr>
          <p:nvPr/>
        </p:nvSpPr>
        <p:spPr>
          <a:xfrm>
            <a:off x="3756078" y="3145385"/>
            <a:ext cx="3465549" cy="1215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Feasible upper bound</a:t>
            </a:r>
            <a:endParaRPr lang="en-US" sz="1800" dirty="0"/>
          </a:p>
        </p:txBody>
      </p:sp>
      <p:sp>
        <p:nvSpPr>
          <p:cNvPr id="55" name="Left Brace 54">
            <a:extLst>
              <a:ext uri="{FF2B5EF4-FFF2-40B4-BE49-F238E27FC236}">
                <a16:creationId xmlns:a16="http://schemas.microsoft.com/office/drawing/2014/main" id="{CCDA2333-02B7-5AF1-7111-C76C0C5B76FB}"/>
              </a:ext>
            </a:extLst>
          </p:cNvPr>
          <p:cNvSpPr/>
          <p:nvPr/>
        </p:nvSpPr>
        <p:spPr>
          <a:xfrm rot="5400000">
            <a:off x="5602122" y="-2826343"/>
            <a:ext cx="835508" cy="11278901"/>
          </a:xfrm>
          <a:prstGeom prst="leftBrace">
            <a:avLst>
              <a:gd name="adj1" fmla="val 33693"/>
              <a:gd name="adj2" fmla="val 43695"/>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Content Placeholder 2">
            <a:extLst>
              <a:ext uri="{FF2B5EF4-FFF2-40B4-BE49-F238E27FC236}">
                <a16:creationId xmlns:a16="http://schemas.microsoft.com/office/drawing/2014/main" id="{62DD40BF-FA5F-C439-AE6D-0623326C98E0}"/>
              </a:ext>
            </a:extLst>
          </p:cNvPr>
          <p:cNvSpPr txBox="1">
            <a:spLocks/>
          </p:cNvSpPr>
          <p:nvPr/>
        </p:nvSpPr>
        <p:spPr>
          <a:xfrm>
            <a:off x="575421" y="3062611"/>
            <a:ext cx="2936972" cy="31935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500" b="1" dirty="0"/>
              <a:t>Inexact oracle</a:t>
            </a:r>
          </a:p>
          <a:p>
            <a:pPr marL="0" indent="0">
              <a:buNone/>
            </a:pPr>
            <a:r>
              <a:rPr lang="en-US" sz="1800" dirty="0"/>
              <a:t>Identifies and generates contingency constraints “on-the-fly” based on the current investment iterate.</a:t>
            </a:r>
          </a:p>
          <a:p>
            <a:pPr marL="0" indent="0">
              <a:buNone/>
            </a:pPr>
            <a:r>
              <a:rPr lang="en-US" sz="1800" dirty="0"/>
              <a:t>This can be “interleaved” with the bundle method major iterations.</a:t>
            </a:r>
          </a:p>
          <a:p>
            <a:pPr marL="0" indent="0">
              <a:buNone/>
            </a:pPr>
            <a:r>
              <a:rPr lang="en-US" sz="1800" dirty="0"/>
              <a:t>Avoids pre-enumerating all combinatorial contingencies.</a:t>
            </a:r>
          </a:p>
        </p:txBody>
      </p:sp>
      <p:sp>
        <p:nvSpPr>
          <p:cNvPr id="30" name="TextBox 29">
            <a:extLst>
              <a:ext uri="{FF2B5EF4-FFF2-40B4-BE49-F238E27FC236}">
                <a16:creationId xmlns:a16="http://schemas.microsoft.com/office/drawing/2014/main" id="{BC4FF426-B701-1C18-CCD1-335A1F53DF42}"/>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31" name="TextBox 30">
            <a:extLst>
              <a:ext uri="{FF2B5EF4-FFF2-40B4-BE49-F238E27FC236}">
                <a16:creationId xmlns:a16="http://schemas.microsoft.com/office/drawing/2014/main" id="{F54EF352-D840-66BE-ADE1-F268DCD6AEB5}"/>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2418967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79">
            <a:extLst>
              <a:ext uri="{FF2B5EF4-FFF2-40B4-BE49-F238E27FC236}">
                <a16:creationId xmlns:a16="http://schemas.microsoft.com/office/drawing/2014/main" id="{DC95D2AE-7408-4741-5A0A-4CBCB587A83E}"/>
              </a:ext>
            </a:extLst>
          </p:cNvPr>
          <p:cNvPicPr>
            <a:picLocks noChangeAspect="1"/>
          </p:cNvPicPr>
          <p:nvPr/>
        </p:nvPicPr>
        <p:blipFill>
          <a:blip r:embed="rId3"/>
          <a:stretch>
            <a:fillRect/>
          </a:stretch>
        </p:blipFill>
        <p:spPr>
          <a:xfrm>
            <a:off x="1084552" y="3484566"/>
            <a:ext cx="3858235" cy="2862533"/>
          </a:xfrm>
          <a:prstGeom prst="rect">
            <a:avLst/>
          </a:prstGeom>
        </p:spPr>
      </p:pic>
      <p:sp>
        <p:nvSpPr>
          <p:cNvPr id="2" name="Slide Number Placeholder 1">
            <a:extLst>
              <a:ext uri="{FF2B5EF4-FFF2-40B4-BE49-F238E27FC236}">
                <a16:creationId xmlns:a16="http://schemas.microsoft.com/office/drawing/2014/main" id="{281E81C7-B19B-20AD-1A6D-431F3F28136B}"/>
              </a:ext>
            </a:extLst>
          </p:cNvPr>
          <p:cNvSpPr>
            <a:spLocks noGrp="1"/>
          </p:cNvSpPr>
          <p:nvPr>
            <p:ph type="sldNum" sz="quarter" idx="12"/>
          </p:nvPr>
        </p:nvSpPr>
        <p:spPr/>
        <p:txBody>
          <a:bodyPr/>
          <a:lstStyle/>
          <a:p>
            <a:fld id="{4EDB0E62-2E6A-4D80-A426-E94CA1197D32}" type="slidenum">
              <a:rPr lang="en-US" smtClean="0"/>
              <a:t>9</a:t>
            </a:fld>
            <a:endParaRPr lang="en-US" dirty="0"/>
          </a:p>
        </p:txBody>
      </p:sp>
      <p:grpSp>
        <p:nvGrpSpPr>
          <p:cNvPr id="3" name="Group 2">
            <a:extLst>
              <a:ext uri="{FF2B5EF4-FFF2-40B4-BE49-F238E27FC236}">
                <a16:creationId xmlns:a16="http://schemas.microsoft.com/office/drawing/2014/main" id="{ABDF4B3D-42E7-CEC7-81B4-95468FCC8286}"/>
              </a:ext>
            </a:extLst>
          </p:cNvPr>
          <p:cNvGrpSpPr>
            <a:grpSpLocks noChangeAspect="1"/>
          </p:cNvGrpSpPr>
          <p:nvPr/>
        </p:nvGrpSpPr>
        <p:grpSpPr>
          <a:xfrm>
            <a:off x="5693682" y="3453964"/>
            <a:ext cx="2820982" cy="2875233"/>
            <a:chOff x="3223449" y="4408098"/>
            <a:chExt cx="3588588" cy="3657600"/>
          </a:xfrm>
        </p:grpSpPr>
        <p:pic>
          <p:nvPicPr>
            <p:cNvPr id="4" name="Picture 3">
              <a:extLst>
                <a:ext uri="{FF2B5EF4-FFF2-40B4-BE49-F238E27FC236}">
                  <a16:creationId xmlns:a16="http://schemas.microsoft.com/office/drawing/2014/main" id="{E8C76F62-CA76-771D-B2DC-160E16392A21}"/>
                </a:ext>
              </a:extLst>
            </p:cNvPr>
            <p:cNvPicPr>
              <a:picLocks noChangeAspect="1"/>
            </p:cNvPicPr>
            <p:nvPr/>
          </p:nvPicPr>
          <p:blipFill>
            <a:blip r:embed="rId4"/>
            <a:stretch>
              <a:fillRect/>
            </a:stretch>
          </p:blipFill>
          <p:spPr>
            <a:xfrm>
              <a:off x="3223449" y="4408098"/>
              <a:ext cx="3588588" cy="3657600"/>
            </a:xfrm>
            <a:prstGeom prst="rect">
              <a:avLst/>
            </a:prstGeom>
          </p:spPr>
        </p:pic>
        <p:sp>
          <p:nvSpPr>
            <p:cNvPr id="5" name="TextBox 4">
              <a:extLst>
                <a:ext uri="{FF2B5EF4-FFF2-40B4-BE49-F238E27FC236}">
                  <a16:creationId xmlns:a16="http://schemas.microsoft.com/office/drawing/2014/main" id="{DFD1600E-A1C1-CD82-37E4-F1F6A544BAC7}"/>
                </a:ext>
              </a:extLst>
            </p:cNvPr>
            <p:cNvSpPr txBox="1"/>
            <p:nvPr/>
          </p:nvSpPr>
          <p:spPr>
            <a:xfrm>
              <a:off x="3464292" y="5794638"/>
              <a:ext cx="975415" cy="391525"/>
            </a:xfrm>
            <a:prstGeom prst="rect">
              <a:avLst/>
            </a:prstGeom>
            <a:noFill/>
          </p:spPr>
          <p:txBody>
            <a:bodyPr wrap="square">
              <a:spAutoFit/>
            </a:bodyPr>
            <a:lstStyle/>
            <a:p>
              <a:r>
                <a:rPr lang="en-US" sz="1400" i="1" dirty="0">
                  <a:solidFill>
                    <a:schemeClr val="accent1"/>
                  </a:solidFill>
                </a:rPr>
                <a:t>191</a:t>
              </a:r>
            </a:p>
          </p:txBody>
        </p:sp>
        <p:sp>
          <p:nvSpPr>
            <p:cNvPr id="6" name="TextBox 5">
              <a:extLst>
                <a:ext uri="{FF2B5EF4-FFF2-40B4-BE49-F238E27FC236}">
                  <a16:creationId xmlns:a16="http://schemas.microsoft.com/office/drawing/2014/main" id="{C2441956-4101-787A-C6E3-3B41F2FD31F6}"/>
                </a:ext>
              </a:extLst>
            </p:cNvPr>
            <p:cNvSpPr txBox="1"/>
            <p:nvPr/>
          </p:nvSpPr>
          <p:spPr>
            <a:xfrm>
              <a:off x="3724203" y="6007413"/>
              <a:ext cx="956346" cy="391525"/>
            </a:xfrm>
            <a:prstGeom prst="rect">
              <a:avLst/>
            </a:prstGeom>
            <a:noFill/>
          </p:spPr>
          <p:txBody>
            <a:bodyPr wrap="square">
              <a:spAutoFit/>
            </a:bodyPr>
            <a:lstStyle/>
            <a:p>
              <a:r>
                <a:rPr lang="en-US" sz="1400" i="1" dirty="0">
                  <a:solidFill>
                    <a:schemeClr val="accent2"/>
                  </a:solidFill>
                </a:rPr>
                <a:t>191</a:t>
              </a:r>
            </a:p>
          </p:txBody>
        </p:sp>
        <p:sp>
          <p:nvSpPr>
            <p:cNvPr id="7" name="TextBox 6">
              <a:extLst>
                <a:ext uri="{FF2B5EF4-FFF2-40B4-BE49-F238E27FC236}">
                  <a16:creationId xmlns:a16="http://schemas.microsoft.com/office/drawing/2014/main" id="{27977BEC-D458-C621-AE25-05F75AF1BB9F}"/>
                </a:ext>
              </a:extLst>
            </p:cNvPr>
            <p:cNvSpPr txBox="1"/>
            <p:nvPr/>
          </p:nvSpPr>
          <p:spPr>
            <a:xfrm>
              <a:off x="4665136" y="5443292"/>
              <a:ext cx="788273" cy="391525"/>
            </a:xfrm>
            <a:prstGeom prst="rect">
              <a:avLst/>
            </a:prstGeom>
            <a:noFill/>
          </p:spPr>
          <p:txBody>
            <a:bodyPr wrap="square">
              <a:spAutoFit/>
            </a:bodyPr>
            <a:lstStyle/>
            <a:p>
              <a:r>
                <a:rPr lang="en-US" sz="1400" i="1" dirty="0">
                  <a:solidFill>
                    <a:schemeClr val="accent6"/>
                  </a:solidFill>
                </a:rPr>
                <a:t>154</a:t>
              </a:r>
            </a:p>
          </p:txBody>
        </p:sp>
      </p:grpSp>
      <p:grpSp>
        <p:nvGrpSpPr>
          <p:cNvPr id="11" name="Group 10">
            <a:extLst>
              <a:ext uri="{FF2B5EF4-FFF2-40B4-BE49-F238E27FC236}">
                <a16:creationId xmlns:a16="http://schemas.microsoft.com/office/drawing/2014/main" id="{8E9E9668-FBB7-0C9E-9FF0-4779F7E84040}"/>
              </a:ext>
            </a:extLst>
          </p:cNvPr>
          <p:cNvGrpSpPr>
            <a:grpSpLocks noChangeAspect="1"/>
          </p:cNvGrpSpPr>
          <p:nvPr/>
        </p:nvGrpSpPr>
        <p:grpSpPr>
          <a:xfrm>
            <a:off x="8935808" y="3455972"/>
            <a:ext cx="2817041" cy="2871216"/>
            <a:chOff x="7652614" y="4030117"/>
            <a:chExt cx="3588588" cy="3657600"/>
          </a:xfrm>
        </p:grpSpPr>
        <p:pic>
          <p:nvPicPr>
            <p:cNvPr id="12" name="Picture 11">
              <a:extLst>
                <a:ext uri="{FF2B5EF4-FFF2-40B4-BE49-F238E27FC236}">
                  <a16:creationId xmlns:a16="http://schemas.microsoft.com/office/drawing/2014/main" id="{9289F6C2-6AED-55AB-6C5B-B1BF2999E926}"/>
                </a:ext>
              </a:extLst>
            </p:cNvPr>
            <p:cNvPicPr>
              <a:picLocks noChangeAspect="1"/>
            </p:cNvPicPr>
            <p:nvPr/>
          </p:nvPicPr>
          <p:blipFill>
            <a:blip r:embed="rId5"/>
            <a:stretch>
              <a:fillRect/>
            </a:stretch>
          </p:blipFill>
          <p:spPr>
            <a:xfrm>
              <a:off x="7652614" y="4030117"/>
              <a:ext cx="3588588" cy="3657600"/>
            </a:xfrm>
            <a:prstGeom prst="rect">
              <a:avLst/>
            </a:prstGeom>
          </p:spPr>
        </p:pic>
        <p:sp>
          <p:nvSpPr>
            <p:cNvPr id="13" name="TextBox 12">
              <a:extLst>
                <a:ext uri="{FF2B5EF4-FFF2-40B4-BE49-F238E27FC236}">
                  <a16:creationId xmlns:a16="http://schemas.microsoft.com/office/drawing/2014/main" id="{DB27BFBB-CD98-51AA-8B9D-811EB64F06A6}"/>
                </a:ext>
              </a:extLst>
            </p:cNvPr>
            <p:cNvSpPr txBox="1"/>
            <p:nvPr/>
          </p:nvSpPr>
          <p:spPr>
            <a:xfrm>
              <a:off x="8282384" y="4963813"/>
              <a:ext cx="558561" cy="307777"/>
            </a:xfrm>
            <a:prstGeom prst="rect">
              <a:avLst/>
            </a:prstGeom>
            <a:noFill/>
          </p:spPr>
          <p:txBody>
            <a:bodyPr wrap="square">
              <a:spAutoFit/>
            </a:bodyPr>
            <a:lstStyle/>
            <a:p>
              <a:r>
                <a:rPr lang="en-US" sz="1400" i="1" dirty="0">
                  <a:solidFill>
                    <a:schemeClr val="accent1"/>
                  </a:solidFill>
                </a:rPr>
                <a:t>33</a:t>
              </a:r>
            </a:p>
          </p:txBody>
        </p:sp>
        <p:sp>
          <p:nvSpPr>
            <p:cNvPr id="14" name="TextBox 13">
              <a:extLst>
                <a:ext uri="{FF2B5EF4-FFF2-40B4-BE49-F238E27FC236}">
                  <a16:creationId xmlns:a16="http://schemas.microsoft.com/office/drawing/2014/main" id="{FA76170C-ECD5-5F37-A577-CD22863A35A7}"/>
                </a:ext>
              </a:extLst>
            </p:cNvPr>
            <p:cNvSpPr txBox="1"/>
            <p:nvPr/>
          </p:nvSpPr>
          <p:spPr>
            <a:xfrm>
              <a:off x="10136827" y="5117481"/>
              <a:ext cx="558561" cy="307777"/>
            </a:xfrm>
            <a:prstGeom prst="rect">
              <a:avLst/>
            </a:prstGeom>
            <a:noFill/>
          </p:spPr>
          <p:txBody>
            <a:bodyPr wrap="square">
              <a:spAutoFit/>
            </a:bodyPr>
            <a:lstStyle/>
            <a:p>
              <a:r>
                <a:rPr lang="en-US" sz="1400" i="1" dirty="0">
                  <a:solidFill>
                    <a:schemeClr val="accent2"/>
                  </a:solidFill>
                </a:rPr>
                <a:t>27</a:t>
              </a:r>
            </a:p>
          </p:txBody>
        </p:sp>
        <p:sp>
          <p:nvSpPr>
            <p:cNvPr id="15" name="TextBox 14">
              <a:extLst>
                <a:ext uri="{FF2B5EF4-FFF2-40B4-BE49-F238E27FC236}">
                  <a16:creationId xmlns:a16="http://schemas.microsoft.com/office/drawing/2014/main" id="{2C86718F-6CAC-8D3D-1BF7-6DE798355814}"/>
                </a:ext>
              </a:extLst>
            </p:cNvPr>
            <p:cNvSpPr txBox="1"/>
            <p:nvPr/>
          </p:nvSpPr>
          <p:spPr>
            <a:xfrm>
              <a:off x="9012183" y="5741880"/>
              <a:ext cx="558561" cy="307777"/>
            </a:xfrm>
            <a:prstGeom prst="rect">
              <a:avLst/>
            </a:prstGeom>
            <a:noFill/>
          </p:spPr>
          <p:txBody>
            <a:bodyPr wrap="square">
              <a:spAutoFit/>
            </a:bodyPr>
            <a:lstStyle/>
            <a:p>
              <a:r>
                <a:rPr lang="en-US" sz="1400" i="1" dirty="0">
                  <a:solidFill>
                    <a:schemeClr val="accent6"/>
                  </a:solidFill>
                </a:rPr>
                <a:t>26</a:t>
              </a:r>
            </a:p>
          </p:txBody>
        </p:sp>
      </p:grpSp>
      <p:sp>
        <p:nvSpPr>
          <p:cNvPr id="20" name="TextBox 19">
            <a:extLst>
              <a:ext uri="{FF2B5EF4-FFF2-40B4-BE49-F238E27FC236}">
                <a16:creationId xmlns:a16="http://schemas.microsoft.com/office/drawing/2014/main" id="{A4937C0D-7461-17A5-509A-36D92EA32D31}"/>
              </a:ext>
            </a:extLst>
          </p:cNvPr>
          <p:cNvSpPr txBox="1"/>
          <p:nvPr/>
        </p:nvSpPr>
        <p:spPr>
          <a:xfrm>
            <a:off x="6577263" y="154660"/>
            <a:ext cx="1341395" cy="369332"/>
          </a:xfrm>
          <a:prstGeom prst="rect">
            <a:avLst/>
          </a:prstGeom>
          <a:noFill/>
        </p:spPr>
        <p:txBody>
          <a:bodyPr wrap="square" rtlCol="0">
            <a:spAutoFit/>
          </a:bodyPr>
          <a:lstStyle/>
          <a:p>
            <a:pPr algn="ctr"/>
            <a:r>
              <a:rPr lang="en-US" b="1" dirty="0"/>
              <a:t>Cycle basis</a:t>
            </a:r>
            <a:endParaRPr lang="en-US" b="1" i="1" dirty="0"/>
          </a:p>
        </p:txBody>
      </p:sp>
      <p:sp>
        <p:nvSpPr>
          <p:cNvPr id="24" name="TextBox 23">
            <a:extLst>
              <a:ext uri="{FF2B5EF4-FFF2-40B4-BE49-F238E27FC236}">
                <a16:creationId xmlns:a16="http://schemas.microsoft.com/office/drawing/2014/main" id="{D9F45FAC-72B1-5605-9F95-A15ADEA59F16}"/>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25" name="TextBox 24">
            <a:extLst>
              <a:ext uri="{FF2B5EF4-FFF2-40B4-BE49-F238E27FC236}">
                <a16:creationId xmlns:a16="http://schemas.microsoft.com/office/drawing/2014/main" id="{B27C1186-6055-442A-3E1B-415CA399D9CB}"/>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
        <p:nvSpPr>
          <p:cNvPr id="26" name="Rectangle 25">
            <a:extLst>
              <a:ext uri="{FF2B5EF4-FFF2-40B4-BE49-F238E27FC236}">
                <a16:creationId xmlns:a16="http://schemas.microsoft.com/office/drawing/2014/main" id="{A7DDEE15-2A3C-37EF-A030-ED5A1B43E471}"/>
              </a:ext>
            </a:extLst>
          </p:cNvPr>
          <p:cNvSpPr/>
          <p:nvPr/>
        </p:nvSpPr>
        <p:spPr>
          <a:xfrm>
            <a:off x="0" y="0"/>
            <a:ext cx="6898640" cy="2549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23AF2A7C-9937-F044-CD98-BA86ADBD16A5}"/>
              </a:ext>
            </a:extLst>
          </p:cNvPr>
          <p:cNvGrpSpPr/>
          <p:nvPr/>
        </p:nvGrpSpPr>
        <p:grpSpPr>
          <a:xfrm>
            <a:off x="3865315" y="4197284"/>
            <a:ext cx="638251" cy="559240"/>
            <a:chOff x="1547334" y="4769349"/>
            <a:chExt cx="1577251" cy="1381998"/>
          </a:xfrm>
          <a:effectLst/>
        </p:grpSpPr>
        <p:sp>
          <p:nvSpPr>
            <p:cNvPr id="30" name="Isosceles Triangle 29">
              <a:extLst>
                <a:ext uri="{FF2B5EF4-FFF2-40B4-BE49-F238E27FC236}">
                  <a16:creationId xmlns:a16="http://schemas.microsoft.com/office/drawing/2014/main" id="{875230D6-7218-CAEC-98E2-1986F7D4E03D}"/>
                </a:ext>
              </a:extLst>
            </p:cNvPr>
            <p:cNvSpPr/>
            <p:nvPr/>
          </p:nvSpPr>
          <p:spPr>
            <a:xfrm>
              <a:off x="1593054" y="4815067"/>
              <a:ext cx="1485812" cy="1280871"/>
            </a:xfrm>
            <a:prstGeom prst="triangle">
              <a:avLst/>
            </a:prstGeom>
            <a:noFill/>
            <a:ln w="19050">
              <a:solidFill>
                <a:schemeClr val="accent4"/>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BE61434-DC30-36CB-DAF5-D647354D6B6E}"/>
                </a:ext>
              </a:extLst>
            </p:cNvPr>
            <p:cNvSpPr/>
            <p:nvPr/>
          </p:nvSpPr>
          <p:spPr>
            <a:xfrm>
              <a:off x="2290239" y="4769349"/>
              <a:ext cx="91440" cy="91440"/>
            </a:xfrm>
            <a:prstGeom prst="ellipse">
              <a:avLst/>
            </a:prstGeom>
            <a:solidFill>
              <a:schemeClr val="tx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2CA9592-4E1A-CBAA-4165-3399EE5FADB5}"/>
                </a:ext>
              </a:extLst>
            </p:cNvPr>
            <p:cNvSpPr/>
            <p:nvPr/>
          </p:nvSpPr>
          <p:spPr>
            <a:xfrm>
              <a:off x="1547334" y="6050221"/>
              <a:ext cx="91440" cy="91440"/>
            </a:xfrm>
            <a:prstGeom prst="ellipse">
              <a:avLst/>
            </a:prstGeom>
            <a:solidFill>
              <a:schemeClr val="tx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C7504B5-9937-8DA3-CFB6-F2D2A9014407}"/>
                </a:ext>
              </a:extLst>
            </p:cNvPr>
            <p:cNvSpPr/>
            <p:nvPr/>
          </p:nvSpPr>
          <p:spPr>
            <a:xfrm>
              <a:off x="3033145" y="6059907"/>
              <a:ext cx="91440" cy="91440"/>
            </a:xfrm>
            <a:prstGeom prst="ellipse">
              <a:avLst/>
            </a:prstGeom>
            <a:solidFill>
              <a:schemeClr val="tx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FFFDD6BE-2F83-2225-1951-04B712227202}"/>
                  </a:ext>
                </a:extLst>
              </p:cNvPr>
              <p:cNvSpPr txBox="1"/>
              <p:nvPr/>
            </p:nvSpPr>
            <p:spPr>
              <a:xfrm>
                <a:off x="2642954" y="4210255"/>
                <a:ext cx="190061" cy="461665"/>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4" name="TextBox 33">
                <a:extLst>
                  <a:ext uri="{FF2B5EF4-FFF2-40B4-BE49-F238E27FC236}">
                    <a16:creationId xmlns:a16="http://schemas.microsoft.com/office/drawing/2014/main" id="{FFFDD6BE-2F83-2225-1951-04B712227202}"/>
                  </a:ext>
                </a:extLst>
              </p:cNvPr>
              <p:cNvSpPr txBox="1">
                <a:spLocks noRot="1" noChangeAspect="1" noMove="1" noResize="1" noEditPoints="1" noAdjustHandles="1" noChangeArrowheads="1" noChangeShapeType="1" noTextEdit="1"/>
              </p:cNvSpPr>
              <p:nvPr/>
            </p:nvSpPr>
            <p:spPr>
              <a:xfrm>
                <a:off x="2642954" y="4210255"/>
                <a:ext cx="190061" cy="461665"/>
              </a:xfrm>
              <a:prstGeom prst="rect">
                <a:avLst/>
              </a:prstGeom>
              <a:blipFill>
                <a:blip r:embed="rId6"/>
                <a:stretch>
                  <a:fillRect r="-87097"/>
                </a:stretch>
              </a:blipFill>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47853F74-C3B1-C479-5417-EE9025E73896}"/>
                  </a:ext>
                </a:extLst>
              </p:cNvPr>
              <p:cNvSpPr txBox="1"/>
              <p:nvPr/>
            </p:nvSpPr>
            <p:spPr>
              <a:xfrm>
                <a:off x="3590419" y="4210255"/>
                <a:ext cx="151140" cy="461665"/>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m:t>
                      </m:r>
                    </m:oMath>
                  </m:oMathPara>
                </a14:m>
                <a:endParaRPr lang="en-US" sz="3000" dirty="0"/>
              </a:p>
            </p:txBody>
          </p:sp>
        </mc:Choice>
        <mc:Fallback>
          <p:sp>
            <p:nvSpPr>
              <p:cNvPr id="35" name="TextBox 34">
                <a:extLst>
                  <a:ext uri="{FF2B5EF4-FFF2-40B4-BE49-F238E27FC236}">
                    <a16:creationId xmlns:a16="http://schemas.microsoft.com/office/drawing/2014/main" id="{47853F74-C3B1-C479-5417-EE9025E73896}"/>
                  </a:ext>
                </a:extLst>
              </p:cNvPr>
              <p:cNvSpPr txBox="1">
                <a:spLocks noRot="1" noChangeAspect="1" noMove="1" noResize="1" noEditPoints="1" noAdjustHandles="1" noChangeArrowheads="1" noChangeShapeType="1" noTextEdit="1"/>
              </p:cNvSpPr>
              <p:nvPr/>
            </p:nvSpPr>
            <p:spPr>
              <a:xfrm>
                <a:off x="3590419" y="4210255"/>
                <a:ext cx="151140" cy="461665"/>
              </a:xfrm>
              <a:prstGeom prst="rect">
                <a:avLst/>
              </a:prstGeom>
              <a:blipFill>
                <a:blip r:embed="rId7"/>
                <a:stretch>
                  <a:fillRect r="-72000"/>
                </a:stretch>
              </a:blipFill>
              <a:effectLst/>
            </p:spPr>
            <p:txBody>
              <a:bodyPr/>
              <a:lstStyle/>
              <a:p>
                <a:r>
                  <a:rPr lang="en-US">
                    <a:noFill/>
                  </a:rPr>
                  <a:t> </a:t>
                </a:r>
              </a:p>
            </p:txBody>
          </p:sp>
        </mc:Fallback>
      </mc:AlternateContent>
      <p:grpSp>
        <p:nvGrpSpPr>
          <p:cNvPr id="36" name="Group 35">
            <a:extLst>
              <a:ext uri="{FF2B5EF4-FFF2-40B4-BE49-F238E27FC236}">
                <a16:creationId xmlns:a16="http://schemas.microsoft.com/office/drawing/2014/main" id="{27A0DD61-9017-0322-8213-FDB6B61704E5}"/>
              </a:ext>
            </a:extLst>
          </p:cNvPr>
          <p:cNvGrpSpPr/>
          <p:nvPr/>
        </p:nvGrpSpPr>
        <p:grpSpPr>
          <a:xfrm>
            <a:off x="2102417" y="4197284"/>
            <a:ext cx="638251" cy="559240"/>
            <a:chOff x="1547334" y="4769349"/>
            <a:chExt cx="1577251" cy="1381998"/>
          </a:xfrm>
          <a:effectLst>
            <a:outerShdw blurRad="50800" dist="38100" dir="2700000" algn="tl" rotWithShape="0">
              <a:prstClr val="black">
                <a:alpha val="40000"/>
              </a:prstClr>
            </a:outerShdw>
          </a:effectLst>
        </p:grpSpPr>
        <p:sp>
          <p:nvSpPr>
            <p:cNvPr id="37" name="Isosceles Triangle 36">
              <a:extLst>
                <a:ext uri="{FF2B5EF4-FFF2-40B4-BE49-F238E27FC236}">
                  <a16:creationId xmlns:a16="http://schemas.microsoft.com/office/drawing/2014/main" id="{B4F0E8DD-6F81-5D5A-0C22-07490E69FEFA}"/>
                </a:ext>
              </a:extLst>
            </p:cNvPr>
            <p:cNvSpPr/>
            <p:nvPr/>
          </p:nvSpPr>
          <p:spPr>
            <a:xfrm>
              <a:off x="1593054" y="4815069"/>
              <a:ext cx="1485811" cy="1280872"/>
            </a:xfrm>
            <a:prstGeom prst="triangl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D5C312F-75C9-7AE5-2D40-D489F578DCE6}"/>
                </a:ext>
              </a:extLst>
            </p:cNvPr>
            <p:cNvSpPr/>
            <p:nvPr/>
          </p:nvSpPr>
          <p:spPr>
            <a:xfrm>
              <a:off x="2290239" y="4769349"/>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AB3222A-1C27-E85A-4B46-E0708EBF29AB}"/>
                </a:ext>
              </a:extLst>
            </p:cNvPr>
            <p:cNvSpPr/>
            <p:nvPr/>
          </p:nvSpPr>
          <p:spPr>
            <a:xfrm>
              <a:off x="1547334" y="6050221"/>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3877EB1B-22F5-C7EC-C136-93CB598CBB8E}"/>
                </a:ext>
              </a:extLst>
            </p:cNvPr>
            <p:cNvSpPr/>
            <p:nvPr/>
          </p:nvSpPr>
          <p:spPr>
            <a:xfrm>
              <a:off x="3033145" y="6059907"/>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EC0F7598-A9E3-0C3D-814C-4EB7578368CC}"/>
              </a:ext>
            </a:extLst>
          </p:cNvPr>
          <p:cNvGrpSpPr/>
          <p:nvPr/>
        </p:nvGrpSpPr>
        <p:grpSpPr>
          <a:xfrm>
            <a:off x="2953714" y="4192754"/>
            <a:ext cx="643948" cy="563770"/>
            <a:chOff x="3671425" y="4758154"/>
            <a:chExt cx="1591330" cy="1393193"/>
          </a:xfrm>
          <a:effectLst>
            <a:outerShdw blurRad="50800" dist="38100" dir="2700000" algn="tl" rotWithShape="0">
              <a:prstClr val="black">
                <a:alpha val="40000"/>
              </a:prstClr>
            </a:outerShdw>
          </a:effectLst>
        </p:grpSpPr>
        <p:sp>
          <p:nvSpPr>
            <p:cNvPr id="42" name="Isosceles Triangle 41">
              <a:extLst>
                <a:ext uri="{FF2B5EF4-FFF2-40B4-BE49-F238E27FC236}">
                  <a16:creationId xmlns:a16="http://schemas.microsoft.com/office/drawing/2014/main" id="{3C23348A-7ED2-9C2B-93B4-8BC4C2C091B4}"/>
                </a:ext>
              </a:extLst>
            </p:cNvPr>
            <p:cNvSpPr/>
            <p:nvPr/>
          </p:nvSpPr>
          <p:spPr>
            <a:xfrm rot="10800000">
              <a:off x="3736179" y="4815069"/>
              <a:ext cx="1485811" cy="1280872"/>
            </a:xfrm>
            <a:prstGeom prst="triangl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E47F6C5E-F1EA-BA5A-4B4D-2BA157EF57A5}"/>
                </a:ext>
              </a:extLst>
            </p:cNvPr>
            <p:cNvSpPr/>
            <p:nvPr/>
          </p:nvSpPr>
          <p:spPr>
            <a:xfrm>
              <a:off x="3671425" y="4769349"/>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AFF37410-10F7-4C38-4BF9-9C68BFC59900}"/>
                </a:ext>
              </a:extLst>
            </p:cNvPr>
            <p:cNvSpPr/>
            <p:nvPr/>
          </p:nvSpPr>
          <p:spPr>
            <a:xfrm>
              <a:off x="4428409" y="6059907"/>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BAA6CC3B-9E6D-EF3F-0A71-FB75AB290CA2}"/>
                </a:ext>
              </a:extLst>
            </p:cNvPr>
            <p:cNvSpPr/>
            <p:nvPr/>
          </p:nvSpPr>
          <p:spPr>
            <a:xfrm>
              <a:off x="5171315" y="4758154"/>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F566F8A7-2256-0707-6B56-D047694B5AE6}"/>
              </a:ext>
            </a:extLst>
          </p:cNvPr>
          <p:cNvGrpSpPr/>
          <p:nvPr/>
        </p:nvGrpSpPr>
        <p:grpSpPr>
          <a:xfrm>
            <a:off x="3868374" y="4193061"/>
            <a:ext cx="938874" cy="553277"/>
            <a:chOff x="8527267" y="4769189"/>
            <a:chExt cx="2320156" cy="1367263"/>
          </a:xfrm>
          <a:effectLst>
            <a:outerShdw blurRad="50800" dist="38100" dir="2700000" algn="tl" rotWithShape="0">
              <a:prstClr val="black">
                <a:alpha val="40000"/>
              </a:prstClr>
            </a:outerShdw>
          </a:effectLst>
        </p:grpSpPr>
        <p:sp>
          <p:nvSpPr>
            <p:cNvPr id="47" name="Parallelogram 46">
              <a:extLst>
                <a:ext uri="{FF2B5EF4-FFF2-40B4-BE49-F238E27FC236}">
                  <a16:creationId xmlns:a16="http://schemas.microsoft.com/office/drawing/2014/main" id="{CF37426F-D702-F470-9C8F-9D3105520889}"/>
                </a:ext>
              </a:extLst>
            </p:cNvPr>
            <p:cNvSpPr/>
            <p:nvPr/>
          </p:nvSpPr>
          <p:spPr>
            <a:xfrm>
              <a:off x="8572987" y="4815068"/>
              <a:ext cx="2228716" cy="1280873"/>
            </a:xfrm>
            <a:prstGeom prst="parallelogram">
              <a:avLst>
                <a:gd name="adj" fmla="val 57918"/>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44C4E07-C018-5AFB-170D-6D7ABF6596C8}"/>
                </a:ext>
              </a:extLst>
            </p:cNvPr>
            <p:cNvSpPr/>
            <p:nvPr/>
          </p:nvSpPr>
          <p:spPr>
            <a:xfrm>
              <a:off x="9264376" y="4769189"/>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8BD82DE2-DC95-D991-1B52-58341D793887}"/>
                </a:ext>
              </a:extLst>
            </p:cNvPr>
            <p:cNvSpPr/>
            <p:nvPr/>
          </p:nvSpPr>
          <p:spPr>
            <a:xfrm>
              <a:off x="8527267" y="6045012"/>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CABC8791-1F6B-BDE3-6B82-2B5C4A6066B1}"/>
                </a:ext>
              </a:extLst>
            </p:cNvPr>
            <p:cNvSpPr/>
            <p:nvPr/>
          </p:nvSpPr>
          <p:spPr>
            <a:xfrm>
              <a:off x="10755983" y="4769189"/>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CA70366F-9761-D7E0-0393-E8B09383437A}"/>
                </a:ext>
              </a:extLst>
            </p:cNvPr>
            <p:cNvSpPr/>
            <p:nvPr/>
          </p:nvSpPr>
          <p:spPr>
            <a:xfrm>
              <a:off x="10011265" y="6045012"/>
              <a:ext cx="91440" cy="914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10812BF2-60B8-D1C8-6C4F-BAEDC2B30C46}"/>
              </a:ext>
            </a:extLst>
          </p:cNvPr>
          <p:cNvSpPr txBox="1"/>
          <p:nvPr/>
        </p:nvSpPr>
        <p:spPr>
          <a:xfrm>
            <a:off x="10138638" y="3607109"/>
            <a:ext cx="1243646" cy="646331"/>
          </a:xfrm>
          <a:prstGeom prst="rect">
            <a:avLst/>
          </a:prstGeom>
          <a:noFill/>
        </p:spPr>
        <p:txBody>
          <a:bodyPr wrap="square" rtlCol="0">
            <a:spAutoFit/>
          </a:bodyPr>
          <a:lstStyle/>
          <a:p>
            <a:pPr algn="r"/>
            <a:r>
              <a:rPr lang="en-US" b="1" dirty="0"/>
              <a:t>Minimum</a:t>
            </a:r>
            <a:br>
              <a:rPr lang="en-US" b="1" dirty="0"/>
            </a:br>
            <a:r>
              <a:rPr lang="en-US" dirty="0"/>
              <a:t>cycle basis</a:t>
            </a:r>
            <a:endParaRPr lang="en-US" i="1" dirty="0"/>
          </a:p>
        </p:txBody>
      </p:sp>
      <p:sp>
        <p:nvSpPr>
          <p:cNvPr id="8" name="TextBox 7">
            <a:extLst>
              <a:ext uri="{FF2B5EF4-FFF2-40B4-BE49-F238E27FC236}">
                <a16:creationId xmlns:a16="http://schemas.microsoft.com/office/drawing/2014/main" id="{31FB004A-FD92-9F32-725D-309C17DA96D0}"/>
              </a:ext>
            </a:extLst>
          </p:cNvPr>
          <p:cNvSpPr txBox="1"/>
          <p:nvPr/>
        </p:nvSpPr>
        <p:spPr>
          <a:xfrm>
            <a:off x="6354500" y="3610747"/>
            <a:ext cx="1799234" cy="646331"/>
          </a:xfrm>
          <a:prstGeom prst="rect">
            <a:avLst/>
          </a:prstGeom>
          <a:noFill/>
        </p:spPr>
        <p:txBody>
          <a:bodyPr wrap="square" rtlCol="0">
            <a:spAutoFit/>
          </a:bodyPr>
          <a:lstStyle/>
          <a:p>
            <a:pPr algn="r"/>
            <a:r>
              <a:rPr lang="en-US" b="1" dirty="0"/>
              <a:t>Fundamental</a:t>
            </a:r>
            <a:br>
              <a:rPr lang="en-US" b="1" dirty="0"/>
            </a:br>
            <a:r>
              <a:rPr lang="en-US" dirty="0"/>
              <a:t>cycle basis</a:t>
            </a:r>
            <a:endParaRPr lang="en-US" i="1" dirty="0"/>
          </a:p>
        </p:txBody>
      </p:sp>
      <p:pic>
        <p:nvPicPr>
          <p:cNvPr id="55" name="Picture 54">
            <a:extLst>
              <a:ext uri="{FF2B5EF4-FFF2-40B4-BE49-F238E27FC236}">
                <a16:creationId xmlns:a16="http://schemas.microsoft.com/office/drawing/2014/main" id="{96EF810D-29C7-C232-873F-84E3E194180D}"/>
              </a:ext>
            </a:extLst>
          </p:cNvPr>
          <p:cNvPicPr>
            <a:picLocks noChangeAspect="1"/>
          </p:cNvPicPr>
          <p:nvPr/>
        </p:nvPicPr>
        <p:blipFill>
          <a:blip r:embed="rId8"/>
          <a:stretch>
            <a:fillRect/>
          </a:stretch>
        </p:blipFill>
        <p:spPr>
          <a:xfrm>
            <a:off x="155891" y="413589"/>
            <a:ext cx="2052494" cy="2423160"/>
          </a:xfrm>
          <a:prstGeom prst="rect">
            <a:avLst/>
          </a:prstGeom>
        </p:spPr>
      </p:pic>
      <p:pic>
        <p:nvPicPr>
          <p:cNvPr id="57" name="Picture 56">
            <a:extLst>
              <a:ext uri="{FF2B5EF4-FFF2-40B4-BE49-F238E27FC236}">
                <a16:creationId xmlns:a16="http://schemas.microsoft.com/office/drawing/2014/main" id="{7E388340-822A-4C75-ED55-AF4ED298EB63}"/>
              </a:ext>
            </a:extLst>
          </p:cNvPr>
          <p:cNvPicPr>
            <a:picLocks noChangeAspect="1"/>
          </p:cNvPicPr>
          <p:nvPr/>
        </p:nvPicPr>
        <p:blipFill>
          <a:blip r:embed="rId9"/>
          <a:stretch>
            <a:fillRect/>
          </a:stretch>
        </p:blipFill>
        <p:spPr>
          <a:xfrm>
            <a:off x="2779704" y="413589"/>
            <a:ext cx="2052494" cy="2423160"/>
          </a:xfrm>
          <a:prstGeom prst="rect">
            <a:avLst/>
          </a:prstGeom>
        </p:spPr>
      </p:pic>
      <p:pic>
        <p:nvPicPr>
          <p:cNvPr id="59" name="Picture 58">
            <a:extLst>
              <a:ext uri="{FF2B5EF4-FFF2-40B4-BE49-F238E27FC236}">
                <a16:creationId xmlns:a16="http://schemas.microsoft.com/office/drawing/2014/main" id="{953C9D99-8473-6250-B7DF-FA19FFA70936}"/>
              </a:ext>
            </a:extLst>
          </p:cNvPr>
          <p:cNvPicPr>
            <a:picLocks noChangeAspect="1"/>
          </p:cNvPicPr>
          <p:nvPr/>
        </p:nvPicPr>
        <p:blipFill>
          <a:blip r:embed="rId10"/>
          <a:srcRect l="14580"/>
          <a:stretch>
            <a:fillRect/>
          </a:stretch>
        </p:blipFill>
        <p:spPr>
          <a:xfrm>
            <a:off x="7576512" y="443685"/>
            <a:ext cx="784475" cy="2423160"/>
          </a:xfrm>
          <a:prstGeom prst="rect">
            <a:avLst/>
          </a:prstGeom>
        </p:spPr>
      </p:pic>
      <p:pic>
        <p:nvPicPr>
          <p:cNvPr id="61" name="Picture 60">
            <a:extLst>
              <a:ext uri="{FF2B5EF4-FFF2-40B4-BE49-F238E27FC236}">
                <a16:creationId xmlns:a16="http://schemas.microsoft.com/office/drawing/2014/main" id="{A2DDFA6B-F25B-D594-FC5D-74E9FCBEA4C2}"/>
              </a:ext>
            </a:extLst>
          </p:cNvPr>
          <p:cNvPicPr>
            <a:picLocks noChangeAspect="1"/>
          </p:cNvPicPr>
          <p:nvPr/>
        </p:nvPicPr>
        <p:blipFill>
          <a:blip r:embed="rId11"/>
          <a:srcRect l="12670"/>
          <a:stretch>
            <a:fillRect/>
          </a:stretch>
        </p:blipFill>
        <p:spPr>
          <a:xfrm>
            <a:off x="10781891" y="413589"/>
            <a:ext cx="802011" cy="2423160"/>
          </a:xfrm>
          <a:prstGeom prst="rect">
            <a:avLst/>
          </a:prstGeom>
        </p:spPr>
      </p:pic>
      <p:sp>
        <p:nvSpPr>
          <p:cNvPr id="64" name="TextBox 63">
            <a:extLst>
              <a:ext uri="{FF2B5EF4-FFF2-40B4-BE49-F238E27FC236}">
                <a16:creationId xmlns:a16="http://schemas.microsoft.com/office/drawing/2014/main" id="{2D7A3EC4-B8E1-0EDD-62DE-4F68C1EC08CA}"/>
              </a:ext>
            </a:extLst>
          </p:cNvPr>
          <p:cNvSpPr txBox="1"/>
          <p:nvPr/>
        </p:nvSpPr>
        <p:spPr>
          <a:xfrm>
            <a:off x="587828" y="2786794"/>
            <a:ext cx="1582456" cy="400110"/>
          </a:xfrm>
          <a:prstGeom prst="rect">
            <a:avLst/>
          </a:prstGeom>
          <a:noFill/>
        </p:spPr>
        <p:txBody>
          <a:bodyPr wrap="square">
            <a:spAutoFit/>
          </a:bodyPr>
          <a:lstStyle/>
          <a:p>
            <a:r>
              <a:rPr lang="en-US" sz="2000" b="1" dirty="0"/>
              <a:t>2,169,984 NZ</a:t>
            </a:r>
          </a:p>
        </p:txBody>
      </p:sp>
      <p:sp>
        <p:nvSpPr>
          <p:cNvPr id="66" name="TextBox 65">
            <a:extLst>
              <a:ext uri="{FF2B5EF4-FFF2-40B4-BE49-F238E27FC236}">
                <a16:creationId xmlns:a16="http://schemas.microsoft.com/office/drawing/2014/main" id="{1264E5BC-B3C4-7293-CA4B-C3C5029CDDDC}"/>
              </a:ext>
            </a:extLst>
          </p:cNvPr>
          <p:cNvSpPr txBox="1"/>
          <p:nvPr/>
        </p:nvSpPr>
        <p:spPr>
          <a:xfrm>
            <a:off x="3207634" y="2786794"/>
            <a:ext cx="1553765" cy="400110"/>
          </a:xfrm>
          <a:prstGeom prst="rect">
            <a:avLst/>
          </a:prstGeom>
          <a:noFill/>
        </p:spPr>
        <p:txBody>
          <a:bodyPr wrap="square">
            <a:spAutoFit/>
          </a:bodyPr>
          <a:lstStyle/>
          <a:p>
            <a:pPr algn="ctr"/>
            <a:r>
              <a:rPr lang="en-US" sz="2000" b="1" dirty="0"/>
              <a:t>842,033 NZ</a:t>
            </a:r>
          </a:p>
        </p:txBody>
      </p:sp>
      <p:sp>
        <p:nvSpPr>
          <p:cNvPr id="67" name="TextBox 66">
            <a:extLst>
              <a:ext uri="{FF2B5EF4-FFF2-40B4-BE49-F238E27FC236}">
                <a16:creationId xmlns:a16="http://schemas.microsoft.com/office/drawing/2014/main" id="{F5656C03-F1F9-BC0D-3402-FC5EFF19EBFD}"/>
              </a:ext>
            </a:extLst>
          </p:cNvPr>
          <p:cNvSpPr txBox="1"/>
          <p:nvPr/>
        </p:nvSpPr>
        <p:spPr>
          <a:xfrm>
            <a:off x="6611442" y="2786794"/>
            <a:ext cx="1417213" cy="400110"/>
          </a:xfrm>
          <a:prstGeom prst="rect">
            <a:avLst/>
          </a:prstGeom>
          <a:noFill/>
        </p:spPr>
        <p:txBody>
          <a:bodyPr wrap="square">
            <a:spAutoFit/>
          </a:bodyPr>
          <a:lstStyle/>
          <a:p>
            <a:pPr algn="ctr"/>
            <a:r>
              <a:rPr lang="en-US" sz="2000" b="1" dirty="0"/>
              <a:t>11,698 NZ</a:t>
            </a:r>
          </a:p>
        </p:txBody>
      </p:sp>
      <p:sp>
        <p:nvSpPr>
          <p:cNvPr id="69" name="TextBox 68">
            <a:extLst>
              <a:ext uri="{FF2B5EF4-FFF2-40B4-BE49-F238E27FC236}">
                <a16:creationId xmlns:a16="http://schemas.microsoft.com/office/drawing/2014/main" id="{67685EDF-26C2-0707-8454-447C063FDA85}"/>
              </a:ext>
            </a:extLst>
          </p:cNvPr>
          <p:cNvSpPr txBox="1"/>
          <p:nvPr/>
        </p:nvSpPr>
        <p:spPr>
          <a:xfrm>
            <a:off x="9211343" y="2786794"/>
            <a:ext cx="2824766" cy="707886"/>
          </a:xfrm>
          <a:prstGeom prst="rect">
            <a:avLst/>
          </a:prstGeom>
          <a:noFill/>
        </p:spPr>
        <p:txBody>
          <a:bodyPr wrap="square">
            <a:spAutoFit/>
          </a:bodyPr>
          <a:lstStyle/>
          <a:p>
            <a:r>
              <a:rPr lang="en-US" sz="2000" b="1" dirty="0">
                <a:solidFill>
                  <a:srgbClr val="FF0000"/>
                </a:solidFill>
              </a:rPr>
              <a:t>6,593 NZ </a:t>
            </a:r>
            <a:r>
              <a:rPr lang="en-US" sz="2000" dirty="0">
                <a:solidFill>
                  <a:srgbClr val="FF0000"/>
                </a:solidFill>
              </a:rPr>
              <a:t>(0.3% of PTDF)</a:t>
            </a:r>
          </a:p>
          <a:p>
            <a:r>
              <a:rPr lang="en-US" sz="2000" dirty="0">
                <a:solidFill>
                  <a:srgbClr val="FF0000"/>
                </a:solidFill>
              </a:rPr>
              <a:t>Exact. No angles needed.</a:t>
            </a:r>
          </a:p>
        </p:txBody>
      </p:sp>
      <p:pic>
        <p:nvPicPr>
          <p:cNvPr id="73" name="Picture 72">
            <a:extLst>
              <a:ext uri="{FF2B5EF4-FFF2-40B4-BE49-F238E27FC236}">
                <a16:creationId xmlns:a16="http://schemas.microsoft.com/office/drawing/2014/main" id="{C8B79EC0-174A-AE46-C1DD-64A4333E59AA}"/>
              </a:ext>
            </a:extLst>
          </p:cNvPr>
          <p:cNvPicPr>
            <a:picLocks noChangeAspect="1"/>
          </p:cNvPicPr>
          <p:nvPr/>
        </p:nvPicPr>
        <p:blipFill>
          <a:blip r:embed="rId12"/>
          <a:stretch>
            <a:fillRect/>
          </a:stretch>
        </p:blipFill>
        <p:spPr>
          <a:xfrm>
            <a:off x="5540598" y="443685"/>
            <a:ext cx="2052494" cy="2423160"/>
          </a:xfrm>
          <a:prstGeom prst="rect">
            <a:avLst/>
          </a:prstGeom>
        </p:spPr>
      </p:pic>
      <p:pic>
        <p:nvPicPr>
          <p:cNvPr id="74" name="Picture 73">
            <a:extLst>
              <a:ext uri="{FF2B5EF4-FFF2-40B4-BE49-F238E27FC236}">
                <a16:creationId xmlns:a16="http://schemas.microsoft.com/office/drawing/2014/main" id="{A51A0414-1C15-DDD3-9926-67C05B83BFD3}"/>
              </a:ext>
            </a:extLst>
          </p:cNvPr>
          <p:cNvPicPr>
            <a:picLocks noChangeAspect="1"/>
          </p:cNvPicPr>
          <p:nvPr/>
        </p:nvPicPr>
        <p:blipFill>
          <a:blip r:embed="rId12"/>
          <a:stretch>
            <a:fillRect/>
          </a:stretch>
        </p:blipFill>
        <p:spPr>
          <a:xfrm>
            <a:off x="8779922" y="413589"/>
            <a:ext cx="2052494" cy="2423160"/>
          </a:xfrm>
          <a:prstGeom prst="rect">
            <a:avLst/>
          </a:prstGeom>
        </p:spPr>
      </p:pic>
      <p:sp>
        <p:nvSpPr>
          <p:cNvPr id="75" name="Arrow: Right 74">
            <a:extLst>
              <a:ext uri="{FF2B5EF4-FFF2-40B4-BE49-F238E27FC236}">
                <a16:creationId xmlns:a16="http://schemas.microsoft.com/office/drawing/2014/main" id="{4F992D80-5499-FAA0-5362-BF08AEF12958}"/>
              </a:ext>
            </a:extLst>
          </p:cNvPr>
          <p:cNvSpPr/>
          <p:nvPr/>
        </p:nvSpPr>
        <p:spPr>
          <a:xfrm>
            <a:off x="8329877" y="2922103"/>
            <a:ext cx="657698" cy="281144"/>
          </a:xfrm>
          <a:prstGeom prst="rightArrow">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Left Brace 77">
            <a:extLst>
              <a:ext uri="{FF2B5EF4-FFF2-40B4-BE49-F238E27FC236}">
                <a16:creationId xmlns:a16="http://schemas.microsoft.com/office/drawing/2014/main" id="{8C4FED11-4305-DF53-8222-8E61212C3DDB}"/>
              </a:ext>
            </a:extLst>
          </p:cNvPr>
          <p:cNvSpPr/>
          <p:nvPr/>
        </p:nvSpPr>
        <p:spPr>
          <a:xfrm rot="5400000">
            <a:off x="5881600" y="-1870171"/>
            <a:ext cx="707883" cy="10716938"/>
          </a:xfrm>
          <a:prstGeom prst="leftBrace">
            <a:avLst>
              <a:gd name="adj1" fmla="val 31886"/>
              <a:gd name="adj2" fmla="val 27377"/>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6E11C8F2-4B7D-87B9-B763-4A3E525D38F5}"/>
              </a:ext>
            </a:extLst>
          </p:cNvPr>
          <p:cNvSpPr txBox="1"/>
          <p:nvPr/>
        </p:nvSpPr>
        <p:spPr>
          <a:xfrm>
            <a:off x="9226007" y="158851"/>
            <a:ext cx="2227758" cy="369332"/>
          </a:xfrm>
          <a:prstGeom prst="rect">
            <a:avLst/>
          </a:prstGeom>
          <a:noFill/>
        </p:spPr>
        <p:txBody>
          <a:bodyPr wrap="square" rtlCol="0">
            <a:spAutoFit/>
          </a:bodyPr>
          <a:lstStyle/>
          <a:p>
            <a:pPr algn="ctr"/>
            <a:r>
              <a:rPr lang="en-US" b="1" dirty="0"/>
              <a:t>Minimum cycle basis</a:t>
            </a:r>
            <a:endParaRPr lang="en-US" b="1" i="1" dirty="0"/>
          </a:p>
        </p:txBody>
      </p:sp>
      <p:sp>
        <p:nvSpPr>
          <p:cNvPr id="79" name="TextBox 78">
            <a:extLst>
              <a:ext uri="{FF2B5EF4-FFF2-40B4-BE49-F238E27FC236}">
                <a16:creationId xmlns:a16="http://schemas.microsoft.com/office/drawing/2014/main" id="{4ADA746F-83B1-EE05-A071-96FE04C5B953}"/>
              </a:ext>
            </a:extLst>
          </p:cNvPr>
          <p:cNvSpPr txBox="1"/>
          <p:nvPr/>
        </p:nvSpPr>
        <p:spPr>
          <a:xfrm>
            <a:off x="8120287" y="6026451"/>
            <a:ext cx="2078326" cy="323165"/>
          </a:xfrm>
          <a:prstGeom prst="rect">
            <a:avLst/>
          </a:prstGeom>
          <a:noFill/>
        </p:spPr>
        <p:txBody>
          <a:bodyPr wrap="none" rtlCol="0">
            <a:spAutoFit/>
          </a:bodyPr>
          <a:lstStyle/>
          <a:p>
            <a:r>
              <a:rPr lang="en-US" sz="1500" dirty="0">
                <a:solidFill>
                  <a:schemeClr val="accent1"/>
                </a:solidFill>
              </a:rPr>
              <a:t>(Visualizing top 3 cycles)</a:t>
            </a:r>
          </a:p>
        </p:txBody>
      </p:sp>
      <p:sp>
        <p:nvSpPr>
          <p:cNvPr id="19" name="TextBox 18">
            <a:extLst>
              <a:ext uri="{FF2B5EF4-FFF2-40B4-BE49-F238E27FC236}">
                <a16:creationId xmlns:a16="http://schemas.microsoft.com/office/drawing/2014/main" id="{DFDD6863-5923-C6DD-C339-AA3652B0D897}"/>
              </a:ext>
            </a:extLst>
          </p:cNvPr>
          <p:cNvSpPr txBox="1"/>
          <p:nvPr/>
        </p:nvSpPr>
        <p:spPr>
          <a:xfrm>
            <a:off x="3350559" y="154660"/>
            <a:ext cx="1341395" cy="369332"/>
          </a:xfrm>
          <a:prstGeom prst="rect">
            <a:avLst/>
          </a:prstGeom>
          <a:noFill/>
        </p:spPr>
        <p:txBody>
          <a:bodyPr wrap="square" rtlCol="0">
            <a:spAutoFit/>
          </a:bodyPr>
          <a:lstStyle/>
          <a:p>
            <a:pPr algn="ctr"/>
            <a:r>
              <a:rPr lang="en-US" b="1" dirty="0"/>
              <a:t>PTDF (1%)</a:t>
            </a:r>
            <a:endParaRPr lang="en-US" b="1" i="1" dirty="0"/>
          </a:p>
        </p:txBody>
      </p:sp>
      <p:sp>
        <p:nvSpPr>
          <p:cNvPr id="18" name="TextBox 17">
            <a:extLst>
              <a:ext uri="{FF2B5EF4-FFF2-40B4-BE49-F238E27FC236}">
                <a16:creationId xmlns:a16="http://schemas.microsoft.com/office/drawing/2014/main" id="{1A229302-7045-28F0-7A46-32FF2582F04E}"/>
              </a:ext>
            </a:extLst>
          </p:cNvPr>
          <p:cNvSpPr txBox="1"/>
          <p:nvPr/>
        </p:nvSpPr>
        <p:spPr>
          <a:xfrm>
            <a:off x="887235" y="154660"/>
            <a:ext cx="927515" cy="369332"/>
          </a:xfrm>
          <a:prstGeom prst="rect">
            <a:avLst/>
          </a:prstGeom>
          <a:noFill/>
        </p:spPr>
        <p:txBody>
          <a:bodyPr wrap="square" rtlCol="0">
            <a:spAutoFit/>
          </a:bodyPr>
          <a:lstStyle/>
          <a:p>
            <a:pPr algn="ctr"/>
            <a:r>
              <a:rPr lang="en-US" b="1" dirty="0"/>
              <a:t>PTDF</a:t>
            </a:r>
            <a:endParaRPr lang="en-US" b="1" i="1" dirty="0"/>
          </a:p>
        </p:txBody>
      </p:sp>
    </p:spTree>
    <p:extLst>
      <p:ext uri="{BB962C8B-B14F-4D97-AF65-F5344CB8AC3E}">
        <p14:creationId xmlns:p14="http://schemas.microsoft.com/office/powerpoint/2010/main" val="2324963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554D1-131E-2C3F-2307-EC6F17DCEB0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9AB2CC0-D7D1-D0AD-5322-2B3ED12612FF}"/>
              </a:ext>
            </a:extLst>
          </p:cNvPr>
          <p:cNvPicPr>
            <a:picLocks noChangeAspect="1"/>
          </p:cNvPicPr>
          <p:nvPr/>
        </p:nvPicPr>
        <p:blipFill>
          <a:blip r:embed="rId3">
            <a:extLst>
              <a:ext uri="{28A0092B-C50C-407E-A947-70E740481C1C}">
                <a14:useLocalDpi xmlns:a14="http://schemas.microsoft.com/office/drawing/2010/main" val="0"/>
              </a:ext>
            </a:extLst>
          </a:blip>
          <a:srcRect l="14139" t="13895" r="14707" b="15385"/>
          <a:stretch/>
        </p:blipFill>
        <p:spPr>
          <a:xfrm>
            <a:off x="243090" y="883980"/>
            <a:ext cx="5840756" cy="5805152"/>
          </a:xfrm>
          <a:prstGeom prst="rect">
            <a:avLst/>
          </a:prstGeom>
        </p:spPr>
      </p:pic>
      <p:sp>
        <p:nvSpPr>
          <p:cNvPr id="3" name="Text Box 170">
            <a:extLst>
              <a:ext uri="{FF2B5EF4-FFF2-40B4-BE49-F238E27FC236}">
                <a16:creationId xmlns:a16="http://schemas.microsoft.com/office/drawing/2014/main" id="{B59D4BB4-27CC-5C23-DCA1-24D1D59B80B4}"/>
              </a:ext>
            </a:extLst>
          </p:cNvPr>
          <p:cNvSpPr txBox="1">
            <a:spLocks noChangeArrowheads="1"/>
          </p:cNvSpPr>
          <p:nvPr/>
        </p:nvSpPr>
        <p:spPr bwMode="auto">
          <a:xfrm>
            <a:off x="1611903" y="246297"/>
            <a:ext cx="8968194" cy="430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416124" tIns="554832" rIns="416124" bIns="416124" anchor="ctr"/>
          <a:lstStyle>
            <a:lvl1pPr defTabSz="1057275">
              <a:spcBef>
                <a:spcPct val="20000"/>
              </a:spcBef>
              <a:buChar char="•"/>
              <a:defRPr sz="15400">
                <a:solidFill>
                  <a:schemeClr val="tx1"/>
                </a:solidFill>
                <a:latin typeface="Arial" panose="020B0604020202020204" pitchFamily="34" charset="0"/>
              </a:defRPr>
            </a:lvl1pPr>
            <a:lvl2pPr marL="742950" indent="-285750" defTabSz="1057275">
              <a:spcBef>
                <a:spcPct val="20000"/>
              </a:spcBef>
              <a:buChar char="–"/>
              <a:defRPr sz="13400">
                <a:solidFill>
                  <a:schemeClr val="tx1"/>
                </a:solidFill>
                <a:latin typeface="Arial" panose="020B0604020202020204" pitchFamily="34" charset="0"/>
              </a:defRPr>
            </a:lvl2pPr>
            <a:lvl3pPr marL="1143000" indent="-228600" defTabSz="1057275">
              <a:spcBef>
                <a:spcPct val="20000"/>
              </a:spcBef>
              <a:buChar char="•"/>
              <a:defRPr sz="11500">
                <a:solidFill>
                  <a:schemeClr val="tx1"/>
                </a:solidFill>
                <a:latin typeface="Arial" panose="020B0604020202020204" pitchFamily="34" charset="0"/>
              </a:defRPr>
            </a:lvl3pPr>
            <a:lvl4pPr marL="1600200" indent="-228600" defTabSz="1057275">
              <a:spcBef>
                <a:spcPct val="20000"/>
              </a:spcBef>
              <a:buChar char="–"/>
              <a:defRPr sz="9600">
                <a:solidFill>
                  <a:schemeClr val="tx1"/>
                </a:solidFill>
                <a:latin typeface="Arial" panose="020B0604020202020204" pitchFamily="34" charset="0"/>
              </a:defRPr>
            </a:lvl4pPr>
            <a:lvl5pPr marL="2057400" indent="-228600" defTabSz="1057275">
              <a:spcBef>
                <a:spcPct val="20000"/>
              </a:spcBef>
              <a:buChar char="»"/>
              <a:defRPr sz="9600">
                <a:solidFill>
                  <a:schemeClr val="tx1"/>
                </a:solidFill>
                <a:latin typeface="Arial" panose="020B0604020202020204" pitchFamily="34" charset="0"/>
              </a:defRPr>
            </a:lvl5pPr>
            <a:lvl6pPr marL="2514600" indent="-228600" defTabSz="1057275" eaLnBrk="0" fontAlgn="base" hangingPunct="0">
              <a:spcBef>
                <a:spcPct val="20000"/>
              </a:spcBef>
              <a:spcAft>
                <a:spcPct val="0"/>
              </a:spcAft>
              <a:buChar char="»"/>
              <a:defRPr sz="9600">
                <a:solidFill>
                  <a:schemeClr val="tx1"/>
                </a:solidFill>
                <a:latin typeface="Arial" panose="020B0604020202020204" pitchFamily="34" charset="0"/>
              </a:defRPr>
            </a:lvl6pPr>
            <a:lvl7pPr marL="2971800" indent="-228600" defTabSz="1057275" eaLnBrk="0" fontAlgn="base" hangingPunct="0">
              <a:spcBef>
                <a:spcPct val="20000"/>
              </a:spcBef>
              <a:spcAft>
                <a:spcPct val="0"/>
              </a:spcAft>
              <a:buChar char="»"/>
              <a:defRPr sz="9600">
                <a:solidFill>
                  <a:schemeClr val="tx1"/>
                </a:solidFill>
                <a:latin typeface="Arial" panose="020B0604020202020204" pitchFamily="34" charset="0"/>
              </a:defRPr>
            </a:lvl7pPr>
            <a:lvl8pPr marL="3429000" indent="-228600" defTabSz="1057275" eaLnBrk="0" fontAlgn="base" hangingPunct="0">
              <a:spcBef>
                <a:spcPct val="20000"/>
              </a:spcBef>
              <a:spcAft>
                <a:spcPct val="0"/>
              </a:spcAft>
              <a:buChar char="»"/>
              <a:defRPr sz="9600">
                <a:solidFill>
                  <a:schemeClr val="tx1"/>
                </a:solidFill>
                <a:latin typeface="Arial" panose="020B0604020202020204" pitchFamily="34" charset="0"/>
              </a:defRPr>
            </a:lvl8pPr>
            <a:lvl9pPr marL="3886200" indent="-228600" defTabSz="1057275" eaLnBrk="0" fontAlgn="base" hangingPunct="0">
              <a:spcBef>
                <a:spcPct val="20000"/>
              </a:spcBef>
              <a:spcAft>
                <a:spcPct val="0"/>
              </a:spcAft>
              <a:buChar char="»"/>
              <a:defRPr sz="9600">
                <a:solidFill>
                  <a:schemeClr val="tx1"/>
                </a:solidFill>
                <a:latin typeface="Arial" panose="020B0604020202020204" pitchFamily="34" charset="0"/>
              </a:defRPr>
            </a:lvl9pPr>
          </a:lstStyle>
          <a:p>
            <a:pPr algn="ctr">
              <a:buNone/>
            </a:pPr>
            <a:r>
              <a:rPr lang="en-US" sz="1800" dirty="0">
                <a:solidFill>
                  <a:srgbClr val="003399"/>
                </a:solidFill>
                <a:latin typeface="Verdana" panose="020B0604030504040204" pitchFamily="34" charset="0"/>
                <a:ea typeface="Verdana" panose="020B0604030504040204" pitchFamily="34" charset="0"/>
              </a:rPr>
              <a:t>Video demo:</a:t>
            </a:r>
            <a:br>
              <a:rPr lang="en-US" sz="1800" dirty="0">
                <a:solidFill>
                  <a:srgbClr val="003399"/>
                </a:solidFill>
                <a:latin typeface="Verdana" panose="020B0604030504040204" pitchFamily="34" charset="0"/>
                <a:ea typeface="Verdana" panose="020B0604030504040204" pitchFamily="34" charset="0"/>
              </a:rPr>
            </a:br>
            <a:r>
              <a:rPr lang="en-US" sz="1800" b="1" dirty="0">
                <a:solidFill>
                  <a:srgbClr val="003399"/>
                </a:solidFill>
                <a:latin typeface="Verdana" panose="020B0604030504040204" pitchFamily="34" charset="0"/>
                <a:ea typeface="Verdana" panose="020B0604030504040204" pitchFamily="34" charset="0"/>
              </a:rPr>
              <a:t>CANOPI</a:t>
            </a:r>
            <a:r>
              <a:rPr lang="en-US" sz="1800" dirty="0">
                <a:solidFill>
                  <a:srgbClr val="003399"/>
                </a:solidFill>
                <a:latin typeface="Verdana" panose="020B0604030504040204" pitchFamily="34" charset="0"/>
                <a:ea typeface="Verdana" panose="020B0604030504040204" pitchFamily="34" charset="0"/>
              </a:rPr>
              <a:t> (Contingency-Aware Nodal Optimal Power Investments)</a:t>
            </a:r>
          </a:p>
          <a:p>
            <a:pPr algn="ctr">
              <a:spcBef>
                <a:spcPct val="0"/>
              </a:spcBef>
              <a:buFontTx/>
              <a:buNone/>
            </a:pPr>
            <a:r>
              <a:rPr lang="en-US" altLang="en-US" sz="1500" i="1" dirty="0">
                <a:solidFill>
                  <a:schemeClr val="tx1">
                    <a:lumMod val="75000"/>
                    <a:lumOff val="25000"/>
                  </a:schemeClr>
                </a:solidFill>
                <a:latin typeface="Verdana" panose="020B0604030504040204" pitchFamily="34" charset="0"/>
                <a:ea typeface="Verdana" panose="020B0604030504040204" pitchFamily="34" charset="0"/>
              </a:rPr>
              <a:t>Co-Optimized Nodal Capacity Expansion with 8760-Hourly Resolution</a:t>
            </a:r>
          </a:p>
        </p:txBody>
      </p:sp>
      <p:pic>
        <p:nvPicPr>
          <p:cNvPr id="5" name="Picture 4">
            <a:extLst>
              <a:ext uri="{FF2B5EF4-FFF2-40B4-BE49-F238E27FC236}">
                <a16:creationId xmlns:a16="http://schemas.microsoft.com/office/drawing/2014/main" id="{41FDF7B2-C937-E7F5-85BA-BAC5C360976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482" b="98313" l="783" r="98434">
                        <a14:foregroundMark x1="196" y1="1446" x2="50489" y2="4337"/>
                        <a14:foregroundMark x1="50489" y1="4337" x2="98239" y2="80964"/>
                        <a14:foregroundMark x1="98239" y1="80964" x2="25440" y2="96145"/>
                        <a14:foregroundMark x1="25440" y1="96145" x2="6849" y2="90361"/>
                        <a14:foregroundMark x1="6849" y1="90361" x2="1370" y2="482"/>
                        <a14:foregroundMark x1="14677" y1="9880" x2="23483" y2="63855"/>
                        <a14:foregroundMark x1="23483" y1="63855" x2="27397" y2="67952"/>
                        <a14:foregroundMark x1="38552" y1="15663" x2="53620" y2="31566"/>
                        <a14:foregroundMark x1="53620" y1="31566" x2="66536" y2="28916"/>
                        <a14:foregroundMark x1="47358" y1="13253" x2="54207" y2="13253"/>
                        <a14:foregroundMark x1="54207" y1="13253" x2="26027" y2="11084"/>
                        <a14:foregroundMark x1="26027" y1="11084" x2="55773" y2="19518"/>
                        <a14:foregroundMark x1="61448" y1="57108" x2="58121" y2="28675"/>
                        <a14:foregroundMark x1="58121" y1="28675" x2="48532" y2="5301"/>
                        <a14:foregroundMark x1="48532" y1="5301" x2="44227" y2="3373"/>
                        <a14:foregroundMark x1="54990" y1="11325" x2="52250" y2="7229"/>
                        <a14:foregroundMark x1="50685" y1="6265" x2="61448" y2="12771"/>
                        <a14:foregroundMark x1="58121" y1="8193" x2="52642" y2="12289"/>
                        <a14:foregroundMark x1="74168" y1="68434" x2="53425" y2="7229"/>
                        <a14:foregroundMark x1="53425" y1="7229" x2="55969" y2="35181"/>
                        <a14:foregroundMark x1="55969" y1="35181" x2="57339" y2="9157"/>
                        <a14:foregroundMark x1="57339" y1="9157" x2="54990" y2="36867"/>
                        <a14:foregroundMark x1="54990" y1="36867" x2="57730" y2="7229"/>
                        <a14:foregroundMark x1="57730" y1="7229" x2="61840" y2="13253"/>
                        <a14:foregroundMark x1="64579" y1="39277" x2="56751" y2="6988"/>
                        <a14:foregroundMark x1="56751" y1="6988" x2="46967" y2="3373"/>
                        <a14:foregroundMark x1="36595" y1="8675" x2="14286" y2="57590"/>
                        <a14:foregroundMark x1="14286" y1="57590" x2="64579" y2="58072"/>
                        <a14:foregroundMark x1="64579" y1="58072" x2="33659" y2="20000"/>
                        <a14:foregroundMark x1="33659" y1="20000" x2="28767" y2="82892"/>
                        <a14:foregroundMark x1="28767" y1="82892" x2="51076" y2="93976"/>
                        <a14:foregroundMark x1="77886" y1="83133" x2="65166" y2="50602"/>
                        <a14:foregroundMark x1="65166" y1="50602" x2="27984" y2="5060"/>
                        <a14:foregroundMark x1="27984" y1="5060" x2="3718" y2="1446"/>
                        <a14:foregroundMark x1="3718" y1="1446" x2="11155" y2="49639"/>
                        <a14:foregroundMark x1="11155" y1="49639" x2="51663" y2="84578"/>
                        <a14:foregroundMark x1="51663" y1="84578" x2="72798" y2="85542"/>
                        <a14:foregroundMark x1="72798" y1="85542" x2="77495" y2="75181"/>
                        <a14:foregroundMark x1="80626" y1="79277" x2="33464" y2="15904"/>
                        <a14:foregroundMark x1="33464" y1="15904" x2="12329" y2="33976"/>
                        <a14:foregroundMark x1="12329" y1="33976" x2="37182" y2="87952"/>
                        <a14:foregroundMark x1="37182" y1="87952" x2="68493" y2="90120"/>
                        <a14:foregroundMark x1="68493" y1="90120" x2="79452" y2="80241"/>
                        <a14:foregroundMark x1="36204" y1="21205" x2="63014" y2="77831"/>
                        <a14:foregroundMark x1="63014" y1="77831" x2="60861" y2="42892"/>
                        <a14:foregroundMark x1="60861" y1="42892" x2="36595" y2="26506"/>
                        <a14:foregroundMark x1="36595" y1="26506" x2="34638" y2="26506"/>
                        <a14:foregroundMark x1="35421" y1="23133" x2="33659" y2="51325"/>
                        <a14:foregroundMark x1="33659" y1="51325" x2="31703" y2="20964"/>
                        <a14:foregroundMark x1="31703" y1="20964" x2="30137" y2="23133"/>
                        <a14:foregroundMark x1="33072" y1="24578" x2="35421" y2="57590"/>
                        <a14:foregroundMark x1="35421" y1="57590" x2="21722" y2="47711"/>
                        <a14:foregroundMark x1="40509" y1="41687" x2="57730" y2="53976"/>
                        <a14:foregroundMark x1="57730" y1="53976" x2="72994" y2="78072"/>
                        <a14:foregroundMark x1="72994" y1="78072" x2="50881" y2="87952"/>
                        <a14:foregroundMark x1="50881" y1="87952" x2="26419" y2="64337"/>
                        <a14:foregroundMark x1="26419" y1="64337" x2="28180" y2="70361"/>
                        <a14:foregroundMark x1="34247" y1="68434" x2="50294" y2="41205"/>
                        <a14:foregroundMark x1="50294" y1="41205" x2="45793" y2="53012"/>
                        <a14:foregroundMark x1="52642" y1="56627" x2="35421" y2="83373"/>
                        <a14:foregroundMark x1="35421" y1="83373" x2="33268" y2="49880"/>
                        <a14:foregroundMark x1="33268" y1="49880" x2="51272" y2="62410"/>
                        <a14:foregroundMark x1="51272" y1="62410" x2="45401" y2="33976"/>
                        <a14:foregroundMark x1="35029" y1="26024" x2="36595" y2="77349"/>
                        <a14:foregroundMark x1="55773" y1="57108" x2="58317" y2="81687"/>
                        <a14:foregroundMark x1="58317" y1="81687" x2="33464" y2="75181"/>
                        <a14:foregroundMark x1="33464" y1="75181" x2="32290" y2="86024"/>
                        <a14:foregroundMark x1="61448" y1="64819" x2="53816" y2="90843"/>
                        <a14:foregroundMark x1="53816" y1="90843" x2="72211" y2="78795"/>
                        <a14:foregroundMark x1="45793" y1="60000" x2="56556" y2="81205"/>
                        <a14:foregroundMark x1="56556" y1="81205" x2="37378" y2="66988"/>
                        <a14:foregroundMark x1="36595" y1="70843" x2="43053" y2="92530"/>
                        <a14:foregroundMark x1="62231" y1="61446" x2="47162" y2="77349"/>
                        <a14:foregroundMark x1="47162" y1="77349" x2="68689" y2="74699"/>
                        <a14:foregroundMark x1="68689" y1="74699" x2="33072" y2="70843"/>
                        <a14:foregroundMark x1="33072" y1="70843" x2="33072" y2="75663"/>
                        <a14:foregroundMark x1="63014" y1="73253" x2="70254" y2="73253"/>
                        <a14:foregroundMark x1="69863" y1="73253" x2="89237" y2="84337"/>
                        <a14:foregroundMark x1="89237" y1="84337" x2="81018" y2="90120"/>
                        <a14:foregroundMark x1="94912" y1="93012" x2="65753" y2="94940"/>
                        <a14:foregroundMark x1="65753" y1="94940" x2="88650" y2="86024"/>
                        <a14:foregroundMark x1="88650" y1="86024" x2="55773" y2="91807"/>
                        <a14:foregroundMark x1="55773" y1="91807" x2="62622" y2="93976"/>
                        <a14:foregroundMark x1="56947" y1="84578" x2="34051" y2="81205"/>
                        <a14:foregroundMark x1="34051" y1="81205" x2="7241" y2="54699"/>
                        <a14:foregroundMark x1="7241" y1="54699" x2="27202" y2="73735"/>
                        <a14:foregroundMark x1="27202" y1="73735" x2="7241" y2="81687"/>
                        <a14:foregroundMark x1="7241" y1="81687" x2="35029" y2="97831"/>
                        <a14:foregroundMark x1="13307" y1="46265" x2="20939" y2="90843"/>
                        <a14:foregroundMark x1="20939" y1="90843" x2="20157" y2="97349"/>
                        <a14:foregroundMark x1="18200" y1="92048" x2="19765" y2="95422"/>
                        <a14:foregroundMark x1="11155" y1="90120" x2="6458" y2="90361"/>
                        <a14:foregroundMark x1="7632" y1="91807" x2="14873" y2="90843"/>
                        <a14:foregroundMark x1="9785" y1="90120" x2="2935" y2="57831"/>
                        <a14:foregroundMark x1="2935" y1="57831" x2="783" y2="63373"/>
                        <a14:foregroundMark x1="13307" y1="92289" x2="13307" y2="92289"/>
                        <a14:foregroundMark x1="11155" y1="91807" x2="14286" y2="97349"/>
                        <a14:foregroundMark x1="17613" y1="97831" x2="13307" y2="97831"/>
                        <a14:foregroundMark x1="12916" y1="98795" x2="15460" y2="99277"/>
                        <a14:foregroundMark x1="10176" y1="90120" x2="12916" y2="92289"/>
                        <a14:foregroundMark x1="44423" y1="94699" x2="49511" y2="94699"/>
                        <a14:foregroundMark x1="85910" y1="93494" x2="30724" y2="95904"/>
                        <a14:foregroundMark x1="30724" y1="95904" x2="88845" y2="91084"/>
                        <a14:foregroundMark x1="88845" y1="91084" x2="63014" y2="90361"/>
                        <a14:foregroundMark x1="63014" y1="90361" x2="91194" y2="87952"/>
                        <a14:foregroundMark x1="91194" y1="87952" x2="83170" y2="85783"/>
                        <a14:foregroundMark x1="89824" y1="86506" x2="66732" y2="97349"/>
                        <a14:foregroundMark x1="66732" y1="97349" x2="92368" y2="83614"/>
                        <a14:foregroundMark x1="92368" y1="83614" x2="92172" y2="94699"/>
                        <a14:foregroundMark x1="95890" y1="93976" x2="92955" y2="82410"/>
                        <a14:foregroundMark x1="94129" y1="84578" x2="74560" y2="98313"/>
                        <a14:foregroundMark x1="74560" y1="98313" x2="95108" y2="82410"/>
                        <a14:foregroundMark x1="95108" y1="82410" x2="98434" y2="84819"/>
                        <a14:foregroundMark x1="95303" y1="94699" x2="77886" y2="94940"/>
                        <a14:foregroundMark x1="9393" y1="91807" x2="8023" y2="96627"/>
                        <a14:foregroundMark x1="9980" y1="92530" x2="8415" y2="96867"/>
                        <a14:foregroundMark x1="13699" y1="96386" x2="8219" y2="96145"/>
                        <a14:foregroundMark x1="15851" y1="95663" x2="6262" y2="94940"/>
                        <a14:foregroundMark x1="75538" y1="72289" x2="72994" y2="67229"/>
                        <a14:foregroundMark x1="75538" y1="73735" x2="67515" y2="62892"/>
                        <a14:foregroundMark x1="60470" y1="14699" x2="59687" y2="12048"/>
                        <a14:foregroundMark x1="59687" y1="12048" x2="59100" y2="13735"/>
                        <a14:foregroundMark x1="58904" y1="12048" x2="57730" y2="8193"/>
                        <a14:foregroundMark x1="61057" y1="9880" x2="57339" y2="6506"/>
                        <a14:foregroundMark x1="14677" y1="69398" x2="12329" y2="67229"/>
                        <a14:foregroundMark x1="14677" y1="70120" x2="14677" y2="70120"/>
                        <a14:foregroundMark x1="14286" y1="68434" x2="18200" y2="71566"/>
                      </a14:backgroundRemoval>
                    </a14:imgEffect>
                  </a14:imgLayer>
                </a14:imgProps>
              </a:ext>
            </a:extLst>
          </a:blip>
          <a:stretch>
            <a:fillRect/>
          </a:stretch>
        </p:blipFill>
        <p:spPr>
          <a:xfrm>
            <a:off x="432506" y="5444837"/>
            <a:ext cx="1426685" cy="1158658"/>
          </a:xfrm>
          <a:prstGeom prst="rect">
            <a:avLst/>
          </a:prstGeom>
        </p:spPr>
      </p:pic>
      <p:pic>
        <p:nvPicPr>
          <p:cNvPr id="6" name="Picture 5">
            <a:extLst>
              <a:ext uri="{FF2B5EF4-FFF2-40B4-BE49-F238E27FC236}">
                <a16:creationId xmlns:a16="http://schemas.microsoft.com/office/drawing/2014/main" id="{0BCB95EB-9159-5220-4475-BCD2511A7ED5}"/>
              </a:ext>
            </a:extLst>
          </p:cNvPr>
          <p:cNvPicPr>
            <a:picLocks noChangeAspect="1"/>
          </p:cNvPicPr>
          <p:nvPr/>
        </p:nvPicPr>
        <p:blipFill>
          <a:blip r:embed="rId6">
            <a:extLst>
              <a:ext uri="{28A0092B-C50C-407E-A947-70E740481C1C}">
                <a14:useLocalDpi xmlns:a14="http://schemas.microsoft.com/office/drawing/2010/main" val="0"/>
              </a:ext>
            </a:extLst>
          </a:blip>
          <a:srcRect l="1976"/>
          <a:stretch/>
        </p:blipFill>
        <p:spPr>
          <a:xfrm>
            <a:off x="6027420" y="1340377"/>
            <a:ext cx="3137164" cy="2400300"/>
          </a:xfrm>
          <a:prstGeom prst="rect">
            <a:avLst/>
          </a:prstGeom>
        </p:spPr>
      </p:pic>
      <p:pic>
        <p:nvPicPr>
          <p:cNvPr id="7" name="Picture 6">
            <a:extLst>
              <a:ext uri="{FF2B5EF4-FFF2-40B4-BE49-F238E27FC236}">
                <a16:creationId xmlns:a16="http://schemas.microsoft.com/office/drawing/2014/main" id="{AE8FEFAB-F23D-3F66-3BA8-3A70536CD2DC}"/>
              </a:ext>
            </a:extLst>
          </p:cNvPr>
          <p:cNvPicPr>
            <a:picLocks noChangeAspect="1"/>
          </p:cNvPicPr>
          <p:nvPr/>
        </p:nvPicPr>
        <p:blipFill>
          <a:blip r:embed="rId7">
            <a:extLst>
              <a:ext uri="{28A0092B-C50C-407E-A947-70E740481C1C}">
                <a14:useLocalDpi xmlns:a14="http://schemas.microsoft.com/office/drawing/2010/main" val="0"/>
              </a:ext>
            </a:extLst>
          </a:blip>
          <a:srcRect l="4119"/>
          <a:stretch/>
        </p:blipFill>
        <p:spPr>
          <a:xfrm>
            <a:off x="6096000" y="3756856"/>
            <a:ext cx="3068584" cy="2400300"/>
          </a:xfrm>
          <a:prstGeom prst="rect">
            <a:avLst/>
          </a:prstGeom>
        </p:spPr>
      </p:pic>
      <p:pic>
        <p:nvPicPr>
          <p:cNvPr id="8" name="Picture 7">
            <a:extLst>
              <a:ext uri="{FF2B5EF4-FFF2-40B4-BE49-F238E27FC236}">
                <a16:creationId xmlns:a16="http://schemas.microsoft.com/office/drawing/2014/main" id="{59F192CC-DF77-3AE8-79D6-C14837BE58B3}"/>
              </a:ext>
            </a:extLst>
          </p:cNvPr>
          <p:cNvPicPr>
            <a:picLocks noChangeAspect="1"/>
          </p:cNvPicPr>
          <p:nvPr/>
        </p:nvPicPr>
        <p:blipFill>
          <a:blip r:embed="rId8">
            <a:extLst>
              <a:ext uri="{28A0092B-C50C-407E-A947-70E740481C1C}">
                <a14:useLocalDpi xmlns:a14="http://schemas.microsoft.com/office/drawing/2010/main" val="0"/>
              </a:ext>
            </a:extLst>
          </a:blip>
          <a:srcRect l="3117" r="6250"/>
          <a:stretch/>
        </p:blipFill>
        <p:spPr>
          <a:xfrm>
            <a:off x="9066070" y="1335805"/>
            <a:ext cx="2906134" cy="2404872"/>
          </a:xfrm>
          <a:prstGeom prst="rect">
            <a:avLst/>
          </a:prstGeom>
        </p:spPr>
      </p:pic>
      <p:sp>
        <p:nvSpPr>
          <p:cNvPr id="9" name="TextBox 8">
            <a:extLst>
              <a:ext uri="{FF2B5EF4-FFF2-40B4-BE49-F238E27FC236}">
                <a16:creationId xmlns:a16="http://schemas.microsoft.com/office/drawing/2014/main" id="{0270BCDC-7C12-187C-AD93-B847DA596311}"/>
              </a:ext>
            </a:extLst>
          </p:cNvPr>
          <p:cNvSpPr txBox="1"/>
          <p:nvPr/>
        </p:nvSpPr>
        <p:spPr>
          <a:xfrm>
            <a:off x="6450085" y="2269106"/>
            <a:ext cx="2291831" cy="646331"/>
          </a:xfrm>
          <a:prstGeom prst="rect">
            <a:avLst/>
          </a:prstGeom>
          <a:noFill/>
        </p:spPr>
        <p:txBody>
          <a:bodyPr wrap="square" rtlCol="0">
            <a:spAutoFit/>
          </a:bodyPr>
          <a:lstStyle/>
          <a:p>
            <a:pPr algn="ctr"/>
            <a:r>
              <a:rPr lang="en-US" dirty="0">
                <a:solidFill>
                  <a:srgbClr val="003399"/>
                </a:solidFill>
              </a:rPr>
              <a:t>Transmission &amp; Storage</a:t>
            </a:r>
          </a:p>
        </p:txBody>
      </p:sp>
      <p:sp>
        <p:nvSpPr>
          <p:cNvPr id="10" name="TextBox 9">
            <a:extLst>
              <a:ext uri="{FF2B5EF4-FFF2-40B4-BE49-F238E27FC236}">
                <a16:creationId xmlns:a16="http://schemas.microsoft.com/office/drawing/2014/main" id="{3ED97E3F-95D2-E3CB-5458-0B295C3A4E02}"/>
              </a:ext>
            </a:extLst>
          </p:cNvPr>
          <p:cNvSpPr txBox="1"/>
          <p:nvPr/>
        </p:nvSpPr>
        <p:spPr>
          <a:xfrm>
            <a:off x="6450085" y="4760620"/>
            <a:ext cx="2291831" cy="646331"/>
          </a:xfrm>
          <a:prstGeom prst="rect">
            <a:avLst/>
          </a:prstGeom>
          <a:noFill/>
        </p:spPr>
        <p:txBody>
          <a:bodyPr wrap="square" rtlCol="0">
            <a:spAutoFit/>
          </a:bodyPr>
          <a:lstStyle/>
          <a:p>
            <a:pPr algn="ctr"/>
            <a:r>
              <a:rPr lang="en-US" dirty="0">
                <a:solidFill>
                  <a:srgbClr val="003399"/>
                </a:solidFill>
              </a:rPr>
              <a:t>Wind &amp;</a:t>
            </a:r>
            <a:br>
              <a:rPr lang="en-US" dirty="0">
                <a:solidFill>
                  <a:srgbClr val="003399"/>
                </a:solidFill>
              </a:rPr>
            </a:br>
            <a:r>
              <a:rPr lang="en-US" dirty="0">
                <a:solidFill>
                  <a:srgbClr val="003399"/>
                </a:solidFill>
              </a:rPr>
              <a:t>Solar</a:t>
            </a:r>
          </a:p>
        </p:txBody>
      </p:sp>
      <p:sp>
        <p:nvSpPr>
          <p:cNvPr id="11" name="TextBox 10">
            <a:extLst>
              <a:ext uri="{FF2B5EF4-FFF2-40B4-BE49-F238E27FC236}">
                <a16:creationId xmlns:a16="http://schemas.microsoft.com/office/drawing/2014/main" id="{05F7947C-615A-8D6D-0006-AD65F1115103}"/>
              </a:ext>
            </a:extLst>
          </p:cNvPr>
          <p:cNvSpPr txBox="1"/>
          <p:nvPr/>
        </p:nvSpPr>
        <p:spPr>
          <a:xfrm>
            <a:off x="9442610" y="2269106"/>
            <a:ext cx="2291831" cy="369332"/>
          </a:xfrm>
          <a:prstGeom prst="rect">
            <a:avLst/>
          </a:prstGeom>
          <a:noFill/>
        </p:spPr>
        <p:txBody>
          <a:bodyPr wrap="square" rtlCol="0">
            <a:spAutoFit/>
          </a:bodyPr>
          <a:lstStyle/>
          <a:p>
            <a:pPr algn="ctr"/>
            <a:r>
              <a:rPr lang="en-US" dirty="0">
                <a:solidFill>
                  <a:srgbClr val="003399"/>
                </a:solidFill>
              </a:rPr>
              <a:t>Data Center Loads</a:t>
            </a:r>
          </a:p>
        </p:txBody>
      </p:sp>
      <p:pic>
        <p:nvPicPr>
          <p:cNvPr id="12" name="Picture 11">
            <a:extLst>
              <a:ext uri="{FF2B5EF4-FFF2-40B4-BE49-F238E27FC236}">
                <a16:creationId xmlns:a16="http://schemas.microsoft.com/office/drawing/2014/main" id="{CFC83140-2365-79F5-CEF9-F40B2C874C16}"/>
              </a:ext>
            </a:extLst>
          </p:cNvPr>
          <p:cNvPicPr>
            <a:picLocks noChangeAspect="1"/>
          </p:cNvPicPr>
          <p:nvPr/>
        </p:nvPicPr>
        <p:blipFill>
          <a:blip r:embed="rId9">
            <a:extLst>
              <a:ext uri="{28A0092B-C50C-407E-A947-70E740481C1C}">
                <a14:useLocalDpi xmlns:a14="http://schemas.microsoft.com/office/drawing/2010/main" val="0"/>
              </a:ext>
            </a:extLst>
          </a:blip>
          <a:srcRect t="9351" r="8181"/>
          <a:stretch/>
        </p:blipFill>
        <p:spPr>
          <a:xfrm>
            <a:off x="8971407" y="3984050"/>
            <a:ext cx="2934852" cy="2173106"/>
          </a:xfrm>
          <a:prstGeom prst="rect">
            <a:avLst/>
          </a:prstGeom>
        </p:spPr>
      </p:pic>
      <p:sp>
        <p:nvSpPr>
          <p:cNvPr id="13" name="TextBox 12">
            <a:extLst>
              <a:ext uri="{FF2B5EF4-FFF2-40B4-BE49-F238E27FC236}">
                <a16:creationId xmlns:a16="http://schemas.microsoft.com/office/drawing/2014/main" id="{281DB5CB-F20D-FE26-8733-2CA4C0764E54}"/>
              </a:ext>
            </a:extLst>
          </p:cNvPr>
          <p:cNvSpPr txBox="1"/>
          <p:nvPr/>
        </p:nvSpPr>
        <p:spPr>
          <a:xfrm>
            <a:off x="9518669" y="4073427"/>
            <a:ext cx="1643281" cy="646331"/>
          </a:xfrm>
          <a:prstGeom prst="rect">
            <a:avLst/>
          </a:prstGeom>
          <a:noFill/>
        </p:spPr>
        <p:txBody>
          <a:bodyPr wrap="square" rtlCol="0">
            <a:spAutoFit/>
          </a:bodyPr>
          <a:lstStyle/>
          <a:p>
            <a:pPr algn="ctr"/>
            <a:r>
              <a:rPr lang="en-US" dirty="0">
                <a:solidFill>
                  <a:srgbClr val="003399"/>
                </a:solidFill>
              </a:rPr>
              <a:t>Convergence to Optimality</a:t>
            </a:r>
          </a:p>
        </p:txBody>
      </p:sp>
      <p:sp>
        <p:nvSpPr>
          <p:cNvPr id="4" name="TextBox 3">
            <a:extLst>
              <a:ext uri="{FF2B5EF4-FFF2-40B4-BE49-F238E27FC236}">
                <a16:creationId xmlns:a16="http://schemas.microsoft.com/office/drawing/2014/main" id="{E20A8E06-783E-9F9C-D50C-3231D360818A}"/>
              </a:ext>
            </a:extLst>
          </p:cNvPr>
          <p:cNvSpPr txBox="1"/>
          <p:nvPr/>
        </p:nvSpPr>
        <p:spPr>
          <a:xfrm>
            <a:off x="9957014" y="6344940"/>
            <a:ext cx="1207382" cy="492443"/>
          </a:xfrm>
          <a:prstGeom prst="rect">
            <a:avLst/>
          </a:prstGeom>
          <a:noFill/>
        </p:spPr>
        <p:txBody>
          <a:bodyPr wrap="none" rtlCol="0">
            <a:spAutoFit/>
          </a:bodyPr>
          <a:lstStyle/>
          <a:p>
            <a:pPr algn="ctr"/>
            <a:r>
              <a:rPr lang="en-US" sz="1300" dirty="0"/>
              <a:t>Thomas Lee</a:t>
            </a:r>
          </a:p>
          <a:p>
            <a:pPr algn="ctr"/>
            <a:r>
              <a:rPr lang="en-US" sz="1300" dirty="0"/>
              <a:t>t_lee@mit.edu</a:t>
            </a:r>
          </a:p>
        </p:txBody>
      </p:sp>
    </p:spTree>
    <p:extLst>
      <p:ext uri="{BB962C8B-B14F-4D97-AF65-F5344CB8AC3E}">
        <p14:creationId xmlns:p14="http://schemas.microsoft.com/office/powerpoint/2010/main" val="3219048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B04F8A-BF71-5BA4-84F6-D5BE116CC44A}"/>
              </a:ext>
            </a:extLst>
          </p:cNvPr>
          <p:cNvPicPr>
            <a:picLocks noChangeAspect="1"/>
          </p:cNvPicPr>
          <p:nvPr/>
        </p:nvPicPr>
        <p:blipFill>
          <a:blip r:embed="rId2"/>
          <a:stretch>
            <a:fillRect/>
          </a:stretch>
        </p:blipFill>
        <p:spPr>
          <a:xfrm>
            <a:off x="368681" y="1463083"/>
            <a:ext cx="6304225" cy="35052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6FB24ADE-71C0-5655-4B0B-03CB9AAB4F88}"/>
              </a:ext>
            </a:extLst>
          </p:cNvPr>
          <p:cNvPicPr>
            <a:picLocks noChangeAspect="1"/>
          </p:cNvPicPr>
          <p:nvPr/>
        </p:nvPicPr>
        <p:blipFill>
          <a:blip r:embed="rId3"/>
          <a:stretch>
            <a:fillRect/>
          </a:stretch>
        </p:blipFill>
        <p:spPr>
          <a:xfrm>
            <a:off x="7009517" y="1357601"/>
            <a:ext cx="4548828" cy="1950720"/>
          </a:xfrm>
          <a:prstGeom prst="rect">
            <a:avLst/>
          </a:prstGeom>
        </p:spPr>
      </p:pic>
      <p:pic>
        <p:nvPicPr>
          <p:cNvPr id="8" name="Picture 7">
            <a:extLst>
              <a:ext uri="{FF2B5EF4-FFF2-40B4-BE49-F238E27FC236}">
                <a16:creationId xmlns:a16="http://schemas.microsoft.com/office/drawing/2014/main" id="{1C71A3AF-87C1-490C-1D1C-76ED213DD301}"/>
              </a:ext>
            </a:extLst>
          </p:cNvPr>
          <p:cNvPicPr>
            <a:picLocks noChangeAspect="1"/>
          </p:cNvPicPr>
          <p:nvPr/>
        </p:nvPicPr>
        <p:blipFill>
          <a:blip r:embed="rId4"/>
          <a:stretch>
            <a:fillRect/>
          </a:stretch>
        </p:blipFill>
        <p:spPr>
          <a:xfrm>
            <a:off x="875936" y="5133751"/>
            <a:ext cx="5249074" cy="1091905"/>
          </a:xfrm>
          <a:prstGeom prst="rect">
            <a:avLst/>
          </a:prstGeom>
        </p:spPr>
      </p:pic>
      <p:pic>
        <p:nvPicPr>
          <p:cNvPr id="10" name="Picture 9">
            <a:extLst>
              <a:ext uri="{FF2B5EF4-FFF2-40B4-BE49-F238E27FC236}">
                <a16:creationId xmlns:a16="http://schemas.microsoft.com/office/drawing/2014/main" id="{DB73BF9F-EFD5-8D00-FB8C-7BEF3FB1125D}"/>
              </a:ext>
            </a:extLst>
          </p:cNvPr>
          <p:cNvPicPr>
            <a:picLocks noChangeAspect="1"/>
          </p:cNvPicPr>
          <p:nvPr/>
        </p:nvPicPr>
        <p:blipFill>
          <a:blip r:embed="rId5"/>
          <a:stretch>
            <a:fillRect/>
          </a:stretch>
        </p:blipFill>
        <p:spPr>
          <a:xfrm>
            <a:off x="7009516" y="4125247"/>
            <a:ext cx="4753549" cy="2088086"/>
          </a:xfrm>
          <a:prstGeom prst="rect">
            <a:avLst/>
          </a:prstGeom>
        </p:spPr>
      </p:pic>
      <p:sp>
        <p:nvSpPr>
          <p:cNvPr id="2" name="Rectangle 1">
            <a:extLst>
              <a:ext uri="{FF2B5EF4-FFF2-40B4-BE49-F238E27FC236}">
                <a16:creationId xmlns:a16="http://schemas.microsoft.com/office/drawing/2014/main" id="{DAFC5EBA-748B-3367-F788-F9807DB3DBC7}"/>
              </a:ext>
            </a:extLst>
          </p:cNvPr>
          <p:cNvSpPr/>
          <p:nvPr/>
        </p:nvSpPr>
        <p:spPr>
          <a:xfrm>
            <a:off x="422982" y="174467"/>
            <a:ext cx="10915669" cy="646331"/>
          </a:xfrm>
          <a:prstGeom prst="rect">
            <a:avLst/>
          </a:prstGeom>
        </p:spPr>
        <p:txBody>
          <a:bodyPr wrap="square" lIns="0">
            <a:spAutoFit/>
          </a:bodyPr>
          <a:lstStyle/>
          <a:p>
            <a:r>
              <a:rPr lang="en-US" sz="3600" dirty="0"/>
              <a:t>Numerical results: </a:t>
            </a:r>
            <a:r>
              <a:rPr lang="en-US" sz="2500" dirty="0">
                <a:solidFill>
                  <a:srgbClr val="FF0000"/>
                </a:solidFill>
              </a:rPr>
              <a:t>Heuristic methods have 130%~1,300% higher costs</a:t>
            </a:r>
          </a:p>
        </p:txBody>
      </p:sp>
      <p:sp>
        <p:nvSpPr>
          <p:cNvPr id="5" name="Rectangle 4">
            <a:extLst>
              <a:ext uri="{FF2B5EF4-FFF2-40B4-BE49-F238E27FC236}">
                <a16:creationId xmlns:a16="http://schemas.microsoft.com/office/drawing/2014/main" id="{DD40442B-B334-2D76-B0FE-24F22EA1A74E}"/>
              </a:ext>
            </a:extLst>
          </p:cNvPr>
          <p:cNvSpPr/>
          <p:nvPr/>
        </p:nvSpPr>
        <p:spPr>
          <a:xfrm>
            <a:off x="3173984" y="3779520"/>
            <a:ext cx="3435097" cy="261750"/>
          </a:xfrm>
          <a:prstGeom prst="rect">
            <a:avLst/>
          </a:prstGeom>
          <a:solidFill>
            <a:srgbClr val="FF9933">
              <a:alpha val="20000"/>
            </a:srgbClr>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2DAA617-8562-D469-4A04-6AA1BD68B962}"/>
              </a:ext>
            </a:extLst>
          </p:cNvPr>
          <p:cNvSpPr/>
          <p:nvPr/>
        </p:nvSpPr>
        <p:spPr>
          <a:xfrm>
            <a:off x="3173984" y="4041269"/>
            <a:ext cx="2576576" cy="900598"/>
          </a:xfrm>
          <a:prstGeom prst="rect">
            <a:avLst/>
          </a:prstGeom>
          <a:solidFill>
            <a:srgbClr val="FF9933">
              <a:alpha val="20000"/>
            </a:srgbClr>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FEADE18-B29C-6D69-AD54-9ED65C1B568E}"/>
              </a:ext>
            </a:extLst>
          </p:cNvPr>
          <p:cNvSpPr txBox="1"/>
          <p:nvPr/>
        </p:nvSpPr>
        <p:spPr>
          <a:xfrm>
            <a:off x="328039" y="820798"/>
            <a:ext cx="6681477" cy="523220"/>
          </a:xfrm>
          <a:prstGeom prst="rect">
            <a:avLst/>
          </a:prstGeom>
          <a:noFill/>
        </p:spPr>
        <p:txBody>
          <a:bodyPr wrap="square" rtlCol="0">
            <a:spAutoFit/>
          </a:bodyPr>
          <a:lstStyle/>
          <a:p>
            <a:r>
              <a:rPr lang="en-US" sz="1400" dirty="0">
                <a:solidFill>
                  <a:schemeClr val="accent1">
                    <a:lumMod val="75000"/>
                  </a:schemeClr>
                </a:solidFill>
              </a:rPr>
              <a:t>Heuristic methods lead to transmission underinvestment and suboptimal siting, causing load shedding and branch violations when evaluated on “out-of-sample” SC-DCOPF.</a:t>
            </a:r>
          </a:p>
        </p:txBody>
      </p:sp>
      <p:sp>
        <p:nvSpPr>
          <p:cNvPr id="13" name="TextBox 12">
            <a:extLst>
              <a:ext uri="{FF2B5EF4-FFF2-40B4-BE49-F238E27FC236}">
                <a16:creationId xmlns:a16="http://schemas.microsoft.com/office/drawing/2014/main" id="{3C35220B-FDCC-75A8-8629-042D6A80EC42}"/>
              </a:ext>
            </a:extLst>
          </p:cNvPr>
          <p:cNvSpPr txBox="1"/>
          <p:nvPr/>
        </p:nvSpPr>
        <p:spPr>
          <a:xfrm>
            <a:off x="7363105" y="820798"/>
            <a:ext cx="4290415" cy="523220"/>
          </a:xfrm>
          <a:prstGeom prst="rect">
            <a:avLst/>
          </a:prstGeom>
          <a:noFill/>
        </p:spPr>
        <p:txBody>
          <a:bodyPr wrap="square" rtlCol="0">
            <a:spAutoFit/>
          </a:bodyPr>
          <a:lstStyle/>
          <a:p>
            <a:r>
              <a:rPr lang="en-US" sz="1400" b="1" dirty="0">
                <a:solidFill>
                  <a:schemeClr val="accent1">
                    <a:lumMod val="75000"/>
                  </a:schemeClr>
                </a:solidFill>
              </a:rPr>
              <a:t>Q</a:t>
            </a:r>
            <a:r>
              <a:rPr lang="en-US" sz="1400" dirty="0">
                <a:solidFill>
                  <a:schemeClr val="accent1">
                    <a:lumMod val="75000"/>
                  </a:schemeClr>
                </a:solidFill>
              </a:rPr>
              <a:t>: What if there’s a chance to “correct” the transmission investments (but keeping the other investments fixed)?</a:t>
            </a:r>
          </a:p>
        </p:txBody>
      </p:sp>
      <p:sp>
        <p:nvSpPr>
          <p:cNvPr id="14" name="TextBox 13">
            <a:extLst>
              <a:ext uri="{FF2B5EF4-FFF2-40B4-BE49-F238E27FC236}">
                <a16:creationId xmlns:a16="http://schemas.microsoft.com/office/drawing/2014/main" id="{FE072F17-5A52-9A6B-4AA6-C835073E479F}"/>
              </a:ext>
            </a:extLst>
          </p:cNvPr>
          <p:cNvSpPr txBox="1"/>
          <p:nvPr/>
        </p:nvSpPr>
        <p:spPr>
          <a:xfrm>
            <a:off x="7363105" y="3774004"/>
            <a:ext cx="4230207" cy="307777"/>
          </a:xfrm>
          <a:prstGeom prst="rect">
            <a:avLst/>
          </a:prstGeom>
          <a:noFill/>
        </p:spPr>
        <p:txBody>
          <a:bodyPr wrap="square" rtlCol="0">
            <a:spAutoFit/>
          </a:bodyPr>
          <a:lstStyle/>
          <a:p>
            <a:pPr algn="ctr"/>
            <a:r>
              <a:rPr lang="en-US" sz="1400" b="1" dirty="0">
                <a:solidFill>
                  <a:schemeClr val="accent1">
                    <a:lumMod val="75000"/>
                  </a:schemeClr>
                </a:solidFill>
              </a:rPr>
              <a:t>Q</a:t>
            </a:r>
            <a:r>
              <a:rPr lang="en-US" sz="1400" dirty="0">
                <a:solidFill>
                  <a:schemeClr val="accent1">
                    <a:lumMod val="75000"/>
                  </a:schemeClr>
                </a:solidFill>
              </a:rPr>
              <a:t>: What if we used something other than 70%?</a:t>
            </a:r>
          </a:p>
        </p:txBody>
      </p:sp>
      <p:sp>
        <p:nvSpPr>
          <p:cNvPr id="15" name="TextBox 14">
            <a:extLst>
              <a:ext uri="{FF2B5EF4-FFF2-40B4-BE49-F238E27FC236}">
                <a16:creationId xmlns:a16="http://schemas.microsoft.com/office/drawing/2014/main" id="{437288C4-DE11-0142-3230-C4694D1BDF6B}"/>
              </a:ext>
            </a:extLst>
          </p:cNvPr>
          <p:cNvSpPr txBox="1"/>
          <p:nvPr/>
        </p:nvSpPr>
        <p:spPr>
          <a:xfrm>
            <a:off x="7600243" y="5015401"/>
            <a:ext cx="4230207" cy="307777"/>
          </a:xfrm>
          <a:prstGeom prst="rect">
            <a:avLst/>
          </a:prstGeom>
          <a:noFill/>
        </p:spPr>
        <p:txBody>
          <a:bodyPr wrap="square" rtlCol="0">
            <a:spAutoFit/>
          </a:bodyPr>
          <a:lstStyle/>
          <a:p>
            <a:pPr algn="ctr"/>
            <a:r>
              <a:rPr lang="en-US" sz="1400" dirty="0">
                <a:solidFill>
                  <a:schemeClr val="accent1">
                    <a:lumMod val="75000"/>
                  </a:schemeClr>
                </a:solidFill>
              </a:rPr>
              <a:t>The gap does not close.</a:t>
            </a:r>
          </a:p>
        </p:txBody>
      </p:sp>
      <p:sp>
        <p:nvSpPr>
          <p:cNvPr id="9" name="TextBox 8">
            <a:extLst>
              <a:ext uri="{FF2B5EF4-FFF2-40B4-BE49-F238E27FC236}">
                <a16:creationId xmlns:a16="http://schemas.microsoft.com/office/drawing/2014/main" id="{4ED97774-A109-E1FF-965D-AB43844B8010}"/>
              </a:ext>
            </a:extLst>
          </p:cNvPr>
          <p:cNvSpPr txBox="1"/>
          <p:nvPr/>
        </p:nvSpPr>
        <p:spPr>
          <a:xfrm>
            <a:off x="9957014" y="6344940"/>
            <a:ext cx="1207382" cy="492443"/>
          </a:xfrm>
          <a:prstGeom prst="rect">
            <a:avLst/>
          </a:prstGeom>
          <a:noFill/>
        </p:spPr>
        <p:txBody>
          <a:bodyPr wrap="none" rtlCol="0">
            <a:spAutoFit/>
          </a:bodyPr>
          <a:lstStyle/>
          <a:p>
            <a:pPr algn="ctr"/>
            <a:r>
              <a:rPr lang="en-US" sz="1300" dirty="0">
                <a:solidFill>
                  <a:schemeClr val="bg1"/>
                </a:solidFill>
              </a:rPr>
              <a:t>Thomas Lee</a:t>
            </a:r>
          </a:p>
          <a:p>
            <a:pPr algn="ctr"/>
            <a:r>
              <a:rPr lang="en-US" sz="1300" dirty="0">
                <a:solidFill>
                  <a:schemeClr val="bg1"/>
                </a:solidFill>
              </a:rPr>
              <a:t>t_lee@mit.edu</a:t>
            </a:r>
          </a:p>
        </p:txBody>
      </p:sp>
      <p:sp>
        <p:nvSpPr>
          <p:cNvPr id="11" name="TextBox 10">
            <a:extLst>
              <a:ext uri="{FF2B5EF4-FFF2-40B4-BE49-F238E27FC236}">
                <a16:creationId xmlns:a16="http://schemas.microsoft.com/office/drawing/2014/main" id="{C23C2349-AFDF-EC6F-023D-119E94CC48E8}"/>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224619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975560-3487-87DD-6325-4D216082E75B}"/>
              </a:ext>
            </a:extLst>
          </p:cNvPr>
          <p:cNvSpPr/>
          <p:nvPr/>
        </p:nvSpPr>
        <p:spPr>
          <a:xfrm>
            <a:off x="422982" y="174467"/>
            <a:ext cx="10915669" cy="646331"/>
          </a:xfrm>
          <a:prstGeom prst="rect">
            <a:avLst/>
          </a:prstGeom>
        </p:spPr>
        <p:txBody>
          <a:bodyPr wrap="square" lIns="0">
            <a:spAutoFit/>
          </a:bodyPr>
          <a:lstStyle/>
          <a:p>
            <a:r>
              <a:rPr lang="en-US" sz="3600" dirty="0"/>
              <a:t>Conclusion</a:t>
            </a:r>
          </a:p>
        </p:txBody>
      </p:sp>
      <p:sp>
        <p:nvSpPr>
          <p:cNvPr id="8" name="Content Placeholder 2">
            <a:extLst>
              <a:ext uri="{FF2B5EF4-FFF2-40B4-BE49-F238E27FC236}">
                <a16:creationId xmlns:a16="http://schemas.microsoft.com/office/drawing/2014/main" id="{7BA3BFB5-EB31-CD74-7AC7-5E1AC092F327}"/>
              </a:ext>
            </a:extLst>
          </p:cNvPr>
          <p:cNvSpPr txBox="1">
            <a:spLocks/>
          </p:cNvSpPr>
          <p:nvPr/>
        </p:nvSpPr>
        <p:spPr>
          <a:xfrm>
            <a:off x="422982" y="810638"/>
            <a:ext cx="11346036" cy="17954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Transmission contingencies (security constraints) are </a:t>
            </a:r>
            <a:r>
              <a:rPr lang="en-US" sz="1800" b="1" dirty="0">
                <a:solidFill>
                  <a:schemeClr val="accent1"/>
                </a:solidFill>
              </a:rPr>
              <a:t>empirically important (~90% of transmission constraints)</a:t>
            </a:r>
            <a:r>
              <a:rPr lang="en-US" sz="1800" dirty="0"/>
              <a:t> and underpin a variety of grid phenomena (interconnection delays, congestion, renewables curtailment).</a:t>
            </a:r>
          </a:p>
          <a:p>
            <a:pPr lvl="1"/>
            <a:r>
              <a:rPr lang="en-US" sz="1600" dirty="0"/>
              <a:t>If your capacity expansion model includes nodal power flows – I encourage you to look into transmission contingencies.</a:t>
            </a:r>
          </a:p>
          <a:p>
            <a:pPr lvl="1"/>
            <a:r>
              <a:rPr lang="en-US" sz="1600" dirty="0"/>
              <a:t>CANOPI begins to solve capacity expansion on large-scale grid networks with </a:t>
            </a:r>
            <a:r>
              <a:rPr lang="en-US" sz="1600" b="1" i="1" dirty="0">
                <a:solidFill>
                  <a:schemeClr val="accent1"/>
                </a:solidFill>
              </a:rPr>
              <a:t>endogenous</a:t>
            </a:r>
            <a:r>
              <a:rPr lang="en-US" sz="1600" b="1" dirty="0">
                <a:solidFill>
                  <a:schemeClr val="accent1"/>
                </a:solidFill>
              </a:rPr>
              <a:t> </a:t>
            </a:r>
            <a:r>
              <a:rPr lang="en-US" sz="1600" b="1" i="1" dirty="0">
                <a:solidFill>
                  <a:schemeClr val="accent1"/>
                </a:solidFill>
              </a:rPr>
              <a:t>security-constrained DC power flow</a:t>
            </a:r>
            <a:r>
              <a:rPr lang="en-US" sz="1600" i="1" dirty="0"/>
              <a:t>, </a:t>
            </a:r>
            <a:r>
              <a:rPr lang="en-US" sz="1600" dirty="0"/>
              <a:t>along with high temporal resolution.</a:t>
            </a:r>
          </a:p>
        </p:txBody>
      </p:sp>
      <p:pic>
        <p:nvPicPr>
          <p:cNvPr id="4" name="Picture 2" descr="QR Code Image">
            <a:extLst>
              <a:ext uri="{FF2B5EF4-FFF2-40B4-BE49-F238E27FC236}">
                <a16:creationId xmlns:a16="http://schemas.microsoft.com/office/drawing/2014/main" id="{D9CA136C-A8EE-2A9E-497B-54935B8CF6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559" y="2656772"/>
            <a:ext cx="1279784" cy="12797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E1B35B5-83C6-F2B8-2AF3-D16A3E059CC2}"/>
              </a:ext>
            </a:extLst>
          </p:cNvPr>
          <p:cNvSpPr txBox="1"/>
          <p:nvPr/>
        </p:nvSpPr>
        <p:spPr>
          <a:xfrm>
            <a:off x="1066114" y="5575084"/>
            <a:ext cx="3877742" cy="523220"/>
          </a:xfrm>
          <a:prstGeom prst="rect">
            <a:avLst/>
          </a:prstGeom>
          <a:noFill/>
        </p:spPr>
        <p:txBody>
          <a:bodyPr wrap="square" rtlCol="0">
            <a:spAutoFit/>
          </a:bodyPr>
          <a:lstStyle/>
          <a:p>
            <a:r>
              <a:rPr lang="en-US" sz="1400" dirty="0"/>
              <a:t>Another source of uncertainty for transmission:</a:t>
            </a:r>
            <a:br>
              <a:rPr lang="en-US" sz="1400" dirty="0"/>
            </a:br>
            <a:r>
              <a:rPr lang="en-US" sz="1400" dirty="0"/>
              <a:t>Dynamic line ratings</a:t>
            </a:r>
          </a:p>
        </p:txBody>
      </p:sp>
      <p:sp>
        <p:nvSpPr>
          <p:cNvPr id="9" name="TextBox 8">
            <a:extLst>
              <a:ext uri="{FF2B5EF4-FFF2-40B4-BE49-F238E27FC236}">
                <a16:creationId xmlns:a16="http://schemas.microsoft.com/office/drawing/2014/main" id="{1BF2F4D4-39FB-A84E-1E7A-F522ACBA65EB}"/>
              </a:ext>
            </a:extLst>
          </p:cNvPr>
          <p:cNvSpPr txBox="1"/>
          <p:nvPr/>
        </p:nvSpPr>
        <p:spPr>
          <a:xfrm>
            <a:off x="9742982" y="2951074"/>
            <a:ext cx="1598515" cy="646331"/>
          </a:xfrm>
          <a:prstGeom prst="rect">
            <a:avLst/>
          </a:prstGeom>
          <a:noFill/>
        </p:spPr>
        <p:txBody>
          <a:bodyPr wrap="none" rtlCol="0">
            <a:spAutoFit/>
          </a:bodyPr>
          <a:lstStyle/>
          <a:p>
            <a:pPr algn="ctr"/>
            <a:r>
              <a:rPr lang="en-US" dirty="0"/>
              <a:t>t_lee@mit.edu</a:t>
            </a:r>
          </a:p>
          <a:p>
            <a:pPr algn="ctr"/>
            <a:r>
              <a:rPr lang="en-US" dirty="0"/>
              <a:t>sunx@mit.edu</a:t>
            </a:r>
          </a:p>
        </p:txBody>
      </p:sp>
      <p:sp>
        <p:nvSpPr>
          <p:cNvPr id="12" name="TextBox 11">
            <a:extLst>
              <a:ext uri="{FF2B5EF4-FFF2-40B4-BE49-F238E27FC236}">
                <a16:creationId xmlns:a16="http://schemas.microsoft.com/office/drawing/2014/main" id="{25ECA4A0-ACC7-0D17-CF8F-8DAC475E8D0D}"/>
              </a:ext>
            </a:extLst>
          </p:cNvPr>
          <p:cNvSpPr txBox="1"/>
          <p:nvPr/>
        </p:nvSpPr>
        <p:spPr>
          <a:xfrm>
            <a:off x="1066114" y="4655175"/>
            <a:ext cx="3877742" cy="307777"/>
          </a:xfrm>
          <a:prstGeom prst="rect">
            <a:avLst/>
          </a:prstGeom>
          <a:noFill/>
        </p:spPr>
        <p:txBody>
          <a:bodyPr wrap="square" rtlCol="0">
            <a:spAutoFit/>
          </a:bodyPr>
          <a:lstStyle/>
          <a:p>
            <a:r>
              <a:rPr lang="en-US" sz="1400" dirty="0"/>
              <a:t>Multi-period ACOPF + transmission contingencies</a:t>
            </a:r>
          </a:p>
        </p:txBody>
      </p:sp>
      <p:pic>
        <p:nvPicPr>
          <p:cNvPr id="14" name="Picture 13">
            <a:extLst>
              <a:ext uri="{FF2B5EF4-FFF2-40B4-BE49-F238E27FC236}">
                <a16:creationId xmlns:a16="http://schemas.microsoft.com/office/drawing/2014/main" id="{B2341701-2C50-DAFC-2B36-3AFD0F989345}"/>
              </a:ext>
            </a:extLst>
          </p:cNvPr>
          <p:cNvPicPr>
            <a:picLocks noChangeAspect="1"/>
          </p:cNvPicPr>
          <p:nvPr/>
        </p:nvPicPr>
        <p:blipFill>
          <a:blip r:embed="rId3"/>
          <a:stretch>
            <a:fillRect/>
          </a:stretch>
        </p:blipFill>
        <p:spPr>
          <a:xfrm>
            <a:off x="4863789" y="4390820"/>
            <a:ext cx="3772212" cy="794459"/>
          </a:xfrm>
          <a:prstGeom prst="rect">
            <a:avLst/>
          </a:prstGeom>
          <a:ln>
            <a:solidFill>
              <a:schemeClr val="bg1">
                <a:lumMod val="50000"/>
              </a:schemeClr>
            </a:solidFill>
          </a:ln>
        </p:spPr>
      </p:pic>
      <p:pic>
        <p:nvPicPr>
          <p:cNvPr id="16" name="Picture 15">
            <a:extLst>
              <a:ext uri="{FF2B5EF4-FFF2-40B4-BE49-F238E27FC236}">
                <a16:creationId xmlns:a16="http://schemas.microsoft.com/office/drawing/2014/main" id="{E3AC5131-2D99-0254-5F7D-0B3CDF69741B}"/>
              </a:ext>
            </a:extLst>
          </p:cNvPr>
          <p:cNvPicPr>
            <a:picLocks noChangeAspect="1"/>
          </p:cNvPicPr>
          <p:nvPr/>
        </p:nvPicPr>
        <p:blipFill>
          <a:blip r:embed="rId4"/>
          <a:srcRect r="14322"/>
          <a:stretch>
            <a:fillRect/>
          </a:stretch>
        </p:blipFill>
        <p:spPr>
          <a:xfrm>
            <a:off x="4863789" y="2708458"/>
            <a:ext cx="4725580" cy="117641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7" name="TextBox 16">
            <a:extLst>
              <a:ext uri="{FF2B5EF4-FFF2-40B4-BE49-F238E27FC236}">
                <a16:creationId xmlns:a16="http://schemas.microsoft.com/office/drawing/2014/main" id="{D5310B61-4602-7357-E313-BA5C64D82BB4}"/>
              </a:ext>
            </a:extLst>
          </p:cNvPr>
          <p:cNvSpPr txBox="1"/>
          <p:nvPr/>
        </p:nvSpPr>
        <p:spPr>
          <a:xfrm>
            <a:off x="1066114" y="4411741"/>
            <a:ext cx="3877742" cy="307777"/>
          </a:xfrm>
          <a:prstGeom prst="rect">
            <a:avLst/>
          </a:prstGeom>
          <a:noFill/>
        </p:spPr>
        <p:txBody>
          <a:bodyPr wrap="square" rtlCol="0">
            <a:spAutoFit/>
          </a:bodyPr>
          <a:lstStyle/>
          <a:p>
            <a:r>
              <a:rPr lang="en-US" sz="1400" b="1" dirty="0"/>
              <a:t>Other related works:</a:t>
            </a:r>
          </a:p>
        </p:txBody>
      </p:sp>
      <p:pic>
        <p:nvPicPr>
          <p:cNvPr id="19" name="Picture 18">
            <a:extLst>
              <a:ext uri="{FF2B5EF4-FFF2-40B4-BE49-F238E27FC236}">
                <a16:creationId xmlns:a16="http://schemas.microsoft.com/office/drawing/2014/main" id="{4531502B-31DB-F4B4-E826-EF10D2AF03C3}"/>
              </a:ext>
            </a:extLst>
          </p:cNvPr>
          <p:cNvPicPr>
            <a:picLocks noChangeAspect="1"/>
          </p:cNvPicPr>
          <p:nvPr/>
        </p:nvPicPr>
        <p:blipFill>
          <a:blip r:embed="rId5"/>
          <a:stretch>
            <a:fillRect/>
          </a:stretch>
        </p:blipFill>
        <p:spPr>
          <a:xfrm>
            <a:off x="4863790" y="5336974"/>
            <a:ext cx="3772212" cy="957652"/>
          </a:xfrm>
          <a:prstGeom prst="rect">
            <a:avLst/>
          </a:prstGeom>
          <a:ln>
            <a:solidFill>
              <a:schemeClr val="bg1">
                <a:lumMod val="50000"/>
              </a:schemeClr>
            </a:solidFill>
          </a:ln>
        </p:spPr>
      </p:pic>
      <p:pic>
        <p:nvPicPr>
          <p:cNvPr id="1026" name="Picture 2" descr="QR Code Image">
            <a:extLst>
              <a:ext uri="{FF2B5EF4-FFF2-40B4-BE49-F238E27FC236}">
                <a16:creationId xmlns:a16="http://schemas.microsoft.com/office/drawing/2014/main" id="{63FA65C0-E69C-9A8F-BFBC-C7C43BED07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41531" y="4355052"/>
            <a:ext cx="847838" cy="8478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R Code Image">
            <a:extLst>
              <a:ext uri="{FF2B5EF4-FFF2-40B4-BE49-F238E27FC236}">
                <a16:creationId xmlns:a16="http://schemas.microsoft.com/office/drawing/2014/main" id="{0005BDA5-DDC2-F7C1-C200-88993805B3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38977" y="5370428"/>
            <a:ext cx="850392" cy="85039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45DA893-1B67-96EA-AEC8-3DA4A2FFCA15}"/>
              </a:ext>
            </a:extLst>
          </p:cNvPr>
          <p:cNvSpPr txBox="1"/>
          <p:nvPr/>
        </p:nvSpPr>
        <p:spPr>
          <a:xfrm>
            <a:off x="1008972" y="6463032"/>
            <a:ext cx="6509667" cy="292388"/>
          </a:xfrm>
          <a:prstGeom prst="rect">
            <a:avLst/>
          </a:prstGeom>
          <a:noFill/>
        </p:spPr>
        <p:txBody>
          <a:bodyPr wrap="none" rtlCol="0">
            <a:spAutoFit/>
          </a:bodyPr>
          <a:lstStyle/>
          <a:p>
            <a:pPr algn="ctr"/>
            <a:r>
              <a:rPr lang="en-US" sz="1300" dirty="0">
                <a:solidFill>
                  <a:schemeClr val="bg1"/>
                </a:solidFill>
                <a:latin typeface="Arial" panose="020B0604020202020204" pitchFamily="34" charset="0"/>
                <a:cs typeface="Arial" panose="020B0604020202020204" pitchFamily="34" charset="0"/>
              </a:rPr>
              <a:t>Contingency-Aware Nodal Optimal Power Investments with High Temporal Resolution</a:t>
            </a:r>
          </a:p>
        </p:txBody>
      </p:sp>
    </p:spTree>
    <p:extLst>
      <p:ext uri="{BB962C8B-B14F-4D97-AF65-F5344CB8AC3E}">
        <p14:creationId xmlns:p14="http://schemas.microsoft.com/office/powerpoint/2010/main" val="1979686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82212</TotalTime>
  <Words>1494</Words>
  <Application>Microsoft Office PowerPoint</Application>
  <PresentationFormat>Widescreen</PresentationFormat>
  <Paragraphs>237</Paragraphs>
  <Slides>12</Slides>
  <Notes>7</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1" baseType="lpstr">
      <vt:lpstr>Arial</vt:lpstr>
      <vt:lpstr>Calibri</vt:lpstr>
      <vt:lpstr>Calibri Light</vt:lpstr>
      <vt:lpstr>Cambria Math</vt:lpstr>
      <vt:lpstr>Verdana</vt:lpstr>
      <vt:lpstr>Wingdings</vt:lpstr>
      <vt:lpstr>1_Office Theme</vt:lpstr>
      <vt:lpstr>2_Office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 Energy Initiative</dc:title>
  <dc:subject/>
  <dc:creator>MIT Energy Initiative</dc:creator>
  <cp:keywords/>
  <dc:description>Designed by Zayd Media, info@zaydmedia.com</dc:description>
  <cp:lastModifiedBy>Thomas Lee</cp:lastModifiedBy>
  <cp:revision>1548</cp:revision>
  <dcterms:created xsi:type="dcterms:W3CDTF">2021-12-15T17:32:45Z</dcterms:created>
  <dcterms:modified xsi:type="dcterms:W3CDTF">2026-09-11T05:41:03Z</dcterms:modified>
  <cp:category/>
</cp:coreProperties>
</file>