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0" r:id="rId4"/>
    <p:sldId id="257" r:id="rId5"/>
    <p:sldId id="258" r:id="rId6"/>
    <p:sldId id="264" r:id="rId7"/>
    <p:sldId id="268" r:id="rId8"/>
    <p:sldId id="266" r:id="rId9"/>
    <p:sldId id="261" r:id="rId10"/>
    <p:sldId id="263" r:id="rId11"/>
    <p:sldId id="262" r:id="rId12"/>
    <p:sldId id="267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76"/>
  </p:normalViewPr>
  <p:slideViewPr>
    <p:cSldViewPr snapToGrid="0">
      <p:cViewPr>
        <p:scale>
          <a:sx n="132" d="100"/>
          <a:sy n="132" d="100"/>
        </p:scale>
        <p:origin x="76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A6B3E-BA3C-9849-A1AF-B38A718F616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B3990-0C1C-DC4A-BBC5-E528D4DA8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200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B3990-0C1C-DC4A-BBC5-E528D4DA87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223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B3990-0C1C-DC4A-BBC5-E528D4DA87F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820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B3990-0C1C-DC4A-BBC5-E528D4DA87F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33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B3990-0C1C-DC4A-BBC5-E528D4DA87F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64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2F3AF-6137-7C9A-2A47-DC1F4CBF0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B11A2-7617-8E80-5867-FFE6B83B8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2AA57-3830-F481-F1F6-EBB9E7946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E67F-FD82-DA43-88D2-ACF6482FEF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D08B7-EACD-DE27-2047-43D103F5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130D3-A7DE-30AA-B336-F8D5393C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9A86-3FC1-7B40-B8DF-4303A979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90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2388C-A684-3B79-5634-C3C94772C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087EF-018F-8EE4-40BC-A86F49D71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C5080-678C-2EF8-57E4-6F086D116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E67F-FD82-DA43-88D2-ACF6482FEF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DF063-B578-538E-BCA1-BBEB27308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A8B7C-790B-41AD-5971-EDF23BD6B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9A86-3FC1-7B40-B8DF-4303A979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3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0226-2A97-A02A-ED57-C95906B7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A27AA-E84D-0821-6B56-45F7AB4A3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65017-DF3A-6309-E8A5-883BAD800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E67F-FD82-DA43-88D2-ACF6482FEF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39CB7-48FC-ECD5-2715-F13D16041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6BC37-C186-0663-0C2E-C471BD37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9A86-3FC1-7B40-B8DF-4303A979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48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C8D90-49BC-703E-7F79-FC7A8901B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A79C7-05FF-83A9-B2CE-59F68BB69D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F92FD-23AE-CAA8-6D70-76C5D454B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FDEE3-3A45-E3B7-FC6B-B44C0AC46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E67F-FD82-DA43-88D2-ACF6482FEF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A6E2A-B62D-66EF-11E2-B73C03CE0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13493-1CF1-20AA-E7F5-49B62A17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9A86-3FC1-7B40-B8DF-4303A979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7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38E5-B5E2-41D0-3DE2-71B9A7BDA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2253C-5B3B-3148-0C09-F3DC1618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7F2D3-5FD1-99DD-4BDC-C1097798C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5DBD63-6C9D-4D0B-B9FF-627377913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BA7F76-738F-E643-F47F-3EDE5940B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F47FA-889B-6761-B4FE-8731ADAA6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E67F-FD82-DA43-88D2-ACF6482FEF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4D36B6-D1A1-096E-B6DB-D913968B6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76A878-CBC2-28D2-7481-8E26FB208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9A86-3FC1-7B40-B8DF-4303A979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3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EDA9F-7393-69A2-84B2-53BB7E47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9442AF-B1D4-64AE-9EFE-AAEF5E7DF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E67F-FD82-DA43-88D2-ACF6482FEF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75CFB-86AB-F5CC-715F-EDAC52E51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B5D620-7B8A-37D8-701C-3D1FF8BA4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9A86-3FC1-7B40-B8DF-4303A979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6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E23479-FFF6-058E-0438-4C16BF756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E67F-FD82-DA43-88D2-ACF6482FEF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C16651-6F01-634D-4DAE-361914EB6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086AF-756A-C8E4-1C91-F91B352D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9A86-3FC1-7B40-B8DF-4303A979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77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49BA1-5547-8957-786D-8F1BB3327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6EAA1-67E3-7ADC-618D-6309355DE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B37C2-6149-EBCE-F881-4B9D12F22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3EE19D-4A5E-203C-928C-7F1A60249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E67F-FD82-DA43-88D2-ACF6482FEF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F7DB8-5C54-5A3A-4953-1FD9AEA7E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C97D5-0604-D718-9669-64EF3E5FE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9A86-3FC1-7B40-B8DF-4303A979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67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E1990-513E-DFC6-A447-A988E14E0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56CE99-08E7-D392-F070-89E1DA81AA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1A952-4739-00A8-F336-BD1521FC0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DE57F-ECD7-6281-E8F4-8336E1F2F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E67F-FD82-DA43-88D2-ACF6482FEF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9AFDE-2831-98C4-8E9E-F37029605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FDD92-CB8D-A4E0-7679-61E049BEE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9A86-3FC1-7B40-B8DF-4303A979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96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25EC-895A-EE02-FBC8-48F428700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D7298-E1B2-9515-C076-5EE94FD05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0DD75-4E09-7A82-3F6B-78D558698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E67F-FD82-DA43-88D2-ACF6482FEF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BA1BB-3C34-5ABE-443B-7BEB240A4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22763-C102-3B21-E3D7-5523E489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9A86-3FC1-7B40-B8DF-4303A979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30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BE612-CCB1-4BEA-7121-9237389D4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D481B-DABC-4A1A-63CE-EC872E363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305D7-B229-E85D-0AE0-9DBA364C5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E67F-FD82-DA43-88D2-ACF6482FEF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C386A-79E8-157B-9E92-558D9803A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382FA-77D4-8DE0-C9D9-6C49A3B0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9A86-3FC1-7B40-B8DF-4303A979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36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BCC51C-C292-AFEC-EC25-14BFAB5B7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5AD00-D236-DD25-358B-D884BDA66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260B1-0EBA-5D73-BCB3-6C00C5D90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6E67F-FD82-DA43-88D2-ACF6482FEF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114AE-480B-12F7-5E02-BDCD2DE74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6A941-EAB3-7E36-00DA-CC897733E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C9A86-3FC1-7B40-B8DF-4303A979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2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CD25-2013-1918-29F7-579C99DB99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Adaptive Scenario Generation for Planning under Uncertainty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EBD09-1AA6-6D03-4BBB-51949E2BAD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or why you should care about deep generative learning</a:t>
            </a:r>
          </a:p>
          <a:p>
            <a:endParaRPr lang="en-US" dirty="0"/>
          </a:p>
          <a:p>
            <a:r>
              <a:rPr lang="en-US" b="1" dirty="0"/>
              <a:t>Aron Brenner</a:t>
            </a:r>
          </a:p>
          <a:p>
            <a:r>
              <a:rPr lang="en-US" sz="2000" dirty="0"/>
              <a:t>MIT Laboratory for Information and Decision Systems</a:t>
            </a:r>
          </a:p>
        </p:txBody>
      </p:sp>
    </p:spTree>
    <p:extLst>
      <p:ext uri="{BB962C8B-B14F-4D97-AF65-F5344CB8AC3E}">
        <p14:creationId xmlns:p14="http://schemas.microsoft.com/office/powerpoint/2010/main" val="199687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B9ADB-2701-97CC-EC77-DAF508EB0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generative models*?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B8FC30-1CAE-7D87-C7EF-A78CA8707F8B}"/>
              </a:ext>
            </a:extLst>
          </p:cNvPr>
          <p:cNvSpPr txBox="1"/>
          <p:nvPr/>
        </p:nvSpPr>
        <p:spPr>
          <a:xfrm>
            <a:off x="9409892" y="6550223"/>
            <a:ext cx="2782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*for continuous random variables</a:t>
            </a:r>
          </a:p>
        </p:txBody>
      </p:sp>
    </p:spTree>
    <p:extLst>
      <p:ext uri="{BB962C8B-B14F-4D97-AF65-F5344CB8AC3E}">
        <p14:creationId xmlns:p14="http://schemas.microsoft.com/office/powerpoint/2010/main" val="1181604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D050F-703E-0E38-8CDB-13E9B7F22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Disclaimer: </a:t>
            </a:r>
            <a:r>
              <a:rPr lang="en-US" dirty="0"/>
              <a:t>NOT talking about LLMs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 descr="Generative AI: From technology to implementation | CORE">
            <a:extLst>
              <a:ext uri="{FF2B5EF4-FFF2-40B4-BE49-F238E27FC236}">
                <a16:creationId xmlns:a16="http://schemas.microsoft.com/office/drawing/2014/main" id="{478CEC0E-0164-3BDB-8D28-BBFAEB334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63043"/>
            <a:ext cx="7772400" cy="290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13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F5336-DE54-F5EE-1B75-7D61AC781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Deep generative models learn maps (neural networks) from </a:t>
            </a:r>
            <a:r>
              <a:rPr lang="en-US" sz="3200" b="1" dirty="0"/>
              <a:t>tractable base distributions</a:t>
            </a:r>
            <a:r>
              <a:rPr lang="en-US" sz="3200" dirty="0"/>
              <a:t> to </a:t>
            </a:r>
            <a:r>
              <a:rPr lang="en-US" sz="3200" b="1" dirty="0"/>
              <a:t>complex data distributions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21A169-8A0B-0E1A-DD8E-8AC8FC0C6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86" y="2500773"/>
            <a:ext cx="10401228" cy="25938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368565-3D76-A431-23A5-ACD9A9D6B619}"/>
                  </a:ext>
                </a:extLst>
              </p:cNvPr>
              <p:cNvSpPr txBox="1"/>
              <p:nvPr/>
            </p:nvSpPr>
            <p:spPr>
              <a:xfrm>
                <a:off x="1441663" y="5094595"/>
                <a:ext cx="27683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/>
                  <a:t>Base distribution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𝓝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368565-3D76-A431-23A5-ACD9A9D6B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663" y="5094595"/>
                <a:ext cx="2768387" cy="369332"/>
              </a:xfrm>
              <a:prstGeom prst="rect">
                <a:avLst/>
              </a:prstGeom>
              <a:blipFill>
                <a:blip r:embed="rId3"/>
                <a:stretch>
                  <a:fillRect l="-1370" t="-10000" r="-45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845ACAE-3701-8B0D-0C8C-07315169CC14}"/>
              </a:ext>
            </a:extLst>
          </p:cNvPr>
          <p:cNvSpPr txBox="1"/>
          <p:nvPr/>
        </p:nvSpPr>
        <p:spPr>
          <a:xfrm>
            <a:off x="8367967" y="5094595"/>
            <a:ext cx="199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Data distribution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27829-7FD2-4500-91D6-111F1C1FD27C}"/>
              </a:ext>
            </a:extLst>
          </p:cNvPr>
          <p:cNvSpPr txBox="1"/>
          <p:nvPr/>
        </p:nvSpPr>
        <p:spPr>
          <a:xfrm>
            <a:off x="5509942" y="2378112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1873E7-DB96-54E9-BE45-3F48EE45A74A}"/>
                  </a:ext>
                </a:extLst>
              </p:cNvPr>
              <p:cNvSpPr txBox="1"/>
              <p:nvPr/>
            </p:nvSpPr>
            <p:spPr>
              <a:xfrm>
                <a:off x="4881604" y="4909929"/>
                <a:ext cx="242880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/>
                  <a:t>Likelihood evaluation</a:t>
                </a:r>
              </a:p>
              <a:p>
                <a:pPr algn="ctr"/>
                <a:r>
                  <a:rPr lang="en-US" b="1" dirty="0"/>
                  <a:t>(if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𝑵𝑵</m:t>
                        </m:r>
                      </m:sub>
                    </m:sSub>
                  </m:oMath>
                </a14:m>
                <a:r>
                  <a:rPr lang="en-US" b="1" dirty="0"/>
                  <a:t> invertible)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1873E7-DB96-54E9-BE45-3F48EE45A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604" y="4909929"/>
                <a:ext cx="2428805" cy="646331"/>
              </a:xfrm>
              <a:prstGeom prst="rect">
                <a:avLst/>
              </a:prstGeom>
              <a:blipFill>
                <a:blip r:embed="rId4"/>
                <a:stretch>
                  <a:fillRect l="-1563" t="-3846" r="-1563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3EA741-9B96-F956-C82F-B322137CEA08}"/>
                  </a:ext>
                </a:extLst>
              </p:cNvPr>
              <p:cNvSpPr txBox="1"/>
              <p:nvPr/>
            </p:nvSpPr>
            <p:spPr>
              <a:xfrm>
                <a:off x="6682058" y="4355931"/>
                <a:ext cx="6270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𝑵𝑵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3EA741-9B96-F956-C82F-B322137CE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058" y="4355931"/>
                <a:ext cx="627031" cy="369332"/>
              </a:xfrm>
              <a:prstGeom prst="rect">
                <a:avLst/>
              </a:prstGeom>
              <a:blipFill>
                <a:blip r:embed="rId5"/>
                <a:stretch>
                  <a:fillRect l="-4000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7969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BCC6E8E-0A61-E872-2E73-E35F2EC1B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dirty="0"/>
              <a:t>Deep generative models learn maps (neural networks) from </a:t>
            </a:r>
            <a:r>
              <a:rPr lang="en-US" sz="3200" b="1" dirty="0"/>
              <a:t>tractable base distributions</a:t>
            </a:r>
            <a:r>
              <a:rPr lang="en-US" sz="3200" dirty="0"/>
              <a:t> to </a:t>
            </a:r>
            <a:r>
              <a:rPr lang="en-US" sz="3200" b="1" dirty="0"/>
              <a:t>complex data distributions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12E1F4-6069-F95A-146B-66B6FF9DBB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714" b="36531"/>
          <a:stretch>
            <a:fillRect/>
          </a:stretch>
        </p:blipFill>
        <p:spPr>
          <a:xfrm flipH="1">
            <a:off x="304811" y="2684469"/>
            <a:ext cx="11582377" cy="14416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B10459-1763-A9B2-DFF6-150911E3C683}"/>
              </a:ext>
            </a:extLst>
          </p:cNvPr>
          <p:cNvSpPr txBox="1"/>
          <p:nvPr/>
        </p:nvSpPr>
        <p:spPr>
          <a:xfrm>
            <a:off x="1891643" y="4808420"/>
            <a:ext cx="8408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Score-Based Generative Modeling through Stochastic Differential Equations (Song et al. 2021)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4CCF4A-6ED7-168E-4F97-F8BCA600F23A}"/>
                  </a:ext>
                </a:extLst>
              </p:cNvPr>
              <p:cNvSpPr txBox="1"/>
              <p:nvPr/>
            </p:nvSpPr>
            <p:spPr>
              <a:xfrm>
                <a:off x="304811" y="4126087"/>
                <a:ext cx="276838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Base distribution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𝓝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𝑰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4CCF4A-6ED7-168E-4F97-F8BCA600F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11" y="4126087"/>
                <a:ext cx="2768387" cy="338554"/>
              </a:xfrm>
              <a:prstGeom prst="rect">
                <a:avLst/>
              </a:prstGeom>
              <a:blipFill>
                <a:blip r:embed="rId3"/>
                <a:stretch>
                  <a:fillRect t="-357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4705193-CEB5-EFE5-2B3B-637FCBF00A84}"/>
              </a:ext>
            </a:extLst>
          </p:cNvPr>
          <p:cNvSpPr txBox="1"/>
          <p:nvPr/>
        </p:nvSpPr>
        <p:spPr>
          <a:xfrm>
            <a:off x="9751658" y="4126087"/>
            <a:ext cx="1756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Data distribution</a:t>
            </a:r>
          </a:p>
        </p:txBody>
      </p:sp>
    </p:spTree>
    <p:extLst>
      <p:ext uri="{BB962C8B-B14F-4D97-AF65-F5344CB8AC3E}">
        <p14:creationId xmlns:p14="http://schemas.microsoft.com/office/powerpoint/2010/main" val="150774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7E2F6-7512-A36F-4DE9-4329F0F04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15BE2BE-AB03-D98F-DDA4-04575EC5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dirty="0"/>
              <a:t>Generative models can perform </a:t>
            </a:r>
            <a:r>
              <a:rPr lang="en-US" sz="3200" i="1" dirty="0"/>
              <a:t>realistic extrapolations</a:t>
            </a:r>
            <a:endParaRPr lang="en-US" sz="3200" b="1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0636A9-5EDE-CE6F-665A-D58B2D437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26" y="1346284"/>
            <a:ext cx="9145348" cy="51085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E0C16E-0EC6-8C0A-25EA-5C1294BB1B54}"/>
              </a:ext>
            </a:extLst>
          </p:cNvPr>
          <p:cNvSpPr txBox="1"/>
          <p:nvPr/>
        </p:nvSpPr>
        <p:spPr>
          <a:xfrm>
            <a:off x="3075173" y="6489543"/>
            <a:ext cx="6041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“Generate an image of CU Boulder's SEEC building exterior”</a:t>
            </a:r>
          </a:p>
        </p:txBody>
      </p:sp>
    </p:spTree>
    <p:extLst>
      <p:ext uri="{BB962C8B-B14F-4D97-AF65-F5344CB8AC3E}">
        <p14:creationId xmlns:p14="http://schemas.microsoft.com/office/powerpoint/2010/main" val="1234176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00C0F-021C-D8C0-45C7-7D77FB7A1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F93A99-E281-2F5A-974A-04C116D13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dirty="0"/>
              <a:t>Generative models can perform </a:t>
            </a:r>
            <a:r>
              <a:rPr lang="en-US" sz="3200" i="1" dirty="0"/>
              <a:t>realistic extrapolations</a:t>
            </a:r>
            <a:endParaRPr lang="en-US" sz="3200" b="1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59F94D-105C-7308-A971-C78F6CBE2B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3326" y="1346284"/>
            <a:ext cx="9145347" cy="51085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6CA8B5-13DD-3F9C-47A3-A73DA2AE9664}"/>
              </a:ext>
            </a:extLst>
          </p:cNvPr>
          <p:cNvSpPr txBox="1"/>
          <p:nvPr/>
        </p:nvSpPr>
        <p:spPr>
          <a:xfrm>
            <a:off x="1890616" y="6489543"/>
            <a:ext cx="841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“Generate an image of CU Boulder's SEEC building exterior </a:t>
            </a:r>
            <a:r>
              <a:rPr lang="en-US" b="1" i="1" dirty="0"/>
              <a:t>with dogs riding bikes</a:t>
            </a:r>
            <a:r>
              <a:rPr lang="en-US" i="1" dirty="0"/>
              <a:t>”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093416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214C2-8368-45AC-2501-9FA7AAE9D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1EEEAEA-76B9-1671-46FC-F6DBB7801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dirty="0"/>
              <a:t>Generative models can perform </a:t>
            </a:r>
            <a:r>
              <a:rPr lang="en-US" sz="3200" i="1" dirty="0"/>
              <a:t>realistic extrapolations </a:t>
            </a:r>
            <a:r>
              <a:rPr lang="en-US" sz="3200" dirty="0"/>
              <a:t>in power systems-relevant settings</a:t>
            </a:r>
            <a:endParaRPr lang="en-US" sz="3200" b="1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C823F1-8FBE-25C6-8DEA-BCD991D59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82010"/>
            <a:ext cx="5616851" cy="33614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AC0D2A-706A-2528-A8C6-5795397D65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484" r="32543"/>
          <a:stretch>
            <a:fillRect/>
          </a:stretch>
        </p:blipFill>
        <p:spPr>
          <a:xfrm>
            <a:off x="838200" y="2070083"/>
            <a:ext cx="4661032" cy="25853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300027-073A-BB37-032B-F0ABDD7883CA}"/>
                  </a:ext>
                </a:extLst>
              </p:cNvPr>
              <p:cNvSpPr txBox="1"/>
              <p:nvPr/>
            </p:nvSpPr>
            <p:spPr>
              <a:xfrm>
                <a:off x="3386797" y="5101054"/>
                <a:ext cx="541840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Extreme Event Aware (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1600" dirty="0"/>
                  <a:t>-) Learning (Chang and </a:t>
                </a:r>
                <a:r>
                  <a:rPr lang="en-US" sz="1600" dirty="0" err="1"/>
                  <a:t>Sapsis</a:t>
                </a:r>
                <a:r>
                  <a:rPr lang="en-US" sz="1600" dirty="0"/>
                  <a:t> 2026)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300027-073A-BB37-032B-F0ABDD788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797" y="5101054"/>
                <a:ext cx="5418406" cy="338554"/>
              </a:xfrm>
              <a:prstGeom prst="rect">
                <a:avLst/>
              </a:prstGeom>
              <a:blipFill>
                <a:blip r:embed="rId4"/>
                <a:stretch>
                  <a:fillRect t="-3571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F4DA10E-B9CE-CE72-612B-CA3D24240884}"/>
              </a:ext>
            </a:extLst>
          </p:cNvPr>
          <p:cNvSpPr txBox="1"/>
          <p:nvPr/>
        </p:nvSpPr>
        <p:spPr>
          <a:xfrm>
            <a:off x="2200259" y="5879376"/>
            <a:ext cx="7791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Generative learning for precipitation downscaling recovers 25-year tail statistics with 6-months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3266101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64F08-7DEB-1F1D-4E6B-C2A53DA64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 understand deep generative modeling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A297A-0823-1BC5-2B08-64366ECCA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 to power systems</a:t>
            </a:r>
          </a:p>
        </p:txBody>
      </p:sp>
    </p:spTree>
    <p:extLst>
      <p:ext uri="{BB962C8B-B14F-4D97-AF65-F5344CB8AC3E}">
        <p14:creationId xmlns:p14="http://schemas.microsoft.com/office/powerpoint/2010/main" val="376902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679A-9440-F8F1-8E6E-C60BEFF14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Extreme events dominate system planning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79AF3-80D0-5940-018E-B21A0FA6C69A}"/>
              </a:ext>
            </a:extLst>
          </p:cNvPr>
          <p:cNvSpPr txBox="1"/>
          <p:nvPr/>
        </p:nvSpPr>
        <p:spPr>
          <a:xfrm>
            <a:off x="1726278" y="5712643"/>
            <a:ext cx="8739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ERCOT: 1% of hours carry 10%-75% of annual energy cost (depending on year)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CBEDDB-70E5-6062-3D36-FDB41E2D1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393" y="1954167"/>
            <a:ext cx="9007213" cy="328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04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A90A-5BA2-B943-6F46-E8CBDBE24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Stochastic and robust formulations exploit historical record to hedge with </a:t>
            </a:r>
            <a:r>
              <a:rPr lang="en-US" sz="3200" i="1" dirty="0"/>
              <a:t>plausibility</a:t>
            </a: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5C67C5-01EF-5ABA-F761-4025D7E8C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78" y="1797047"/>
            <a:ext cx="3575640" cy="2900089"/>
          </a:xfrm>
          <a:prstGeom prst="rect">
            <a:avLst/>
          </a:prstGeom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F23AAF-DEF5-B48E-A091-74A0EDC0D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555" y="1797047"/>
            <a:ext cx="3575639" cy="2900089"/>
          </a:xfrm>
          <a:prstGeom prst="rect">
            <a:avLst/>
          </a:prstGeom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CCF19E-AC5F-53DF-43B9-442DC13B5D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8531" y="1797047"/>
            <a:ext cx="3575639" cy="2900089"/>
          </a:xfrm>
          <a:prstGeom prst="rect">
            <a:avLst/>
          </a:prstGeom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BC19ED-4146-F684-212E-3C6751E199AF}"/>
              </a:ext>
            </a:extLst>
          </p:cNvPr>
          <p:cNvSpPr txBox="1"/>
          <p:nvPr/>
        </p:nvSpPr>
        <p:spPr>
          <a:xfrm>
            <a:off x="1164767" y="4799228"/>
            <a:ext cx="18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Historical record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A43137-E23B-2440-440B-8B6A3D37165A}"/>
              </a:ext>
            </a:extLst>
          </p:cNvPr>
          <p:cNvSpPr txBox="1"/>
          <p:nvPr/>
        </p:nvSpPr>
        <p:spPr>
          <a:xfrm>
            <a:off x="4391818" y="4799228"/>
            <a:ext cx="3389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Selecting extreme periods for SP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D5163C-6498-E7BE-E4F2-957CF4771C63}"/>
              </a:ext>
            </a:extLst>
          </p:cNvPr>
          <p:cNvSpPr txBox="1"/>
          <p:nvPr/>
        </p:nvSpPr>
        <p:spPr>
          <a:xfrm>
            <a:off x="8900900" y="4799228"/>
            <a:ext cx="2370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Uncertainty set for RO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E9A27D-1D10-B54C-0225-AB18F6E31497}"/>
              </a:ext>
            </a:extLst>
          </p:cNvPr>
          <p:cNvSpPr txBox="1"/>
          <p:nvPr/>
        </p:nvSpPr>
        <p:spPr>
          <a:xfrm>
            <a:off x="1247878" y="5351646"/>
            <a:ext cx="9696244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In both cases, hedge comes from imposing </a:t>
            </a:r>
            <a:r>
              <a:rPr lang="en-US" sz="2400" b="1" dirty="0"/>
              <a:t>distributional assumptions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Extreme periods: “extremeness is one-dimensional”</a:t>
            </a:r>
          </a:p>
          <a:p>
            <a:r>
              <a:rPr lang="en-US" sz="2000" dirty="0"/>
              <a:t>Uncertainty set: “wind and load are independent”</a:t>
            </a:r>
          </a:p>
        </p:txBody>
      </p:sp>
    </p:spTree>
    <p:extLst>
      <p:ext uri="{BB962C8B-B14F-4D97-AF65-F5344CB8AC3E}">
        <p14:creationId xmlns:p14="http://schemas.microsoft.com/office/powerpoint/2010/main" val="236429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30FE4-3EA9-3B44-9AB3-5656EFE3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Towards minimal-assumption, physically consistent uncertainty sets with generative modeling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45A3DE-A76A-8F9B-7608-C72B24D5D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05" y="1927160"/>
            <a:ext cx="3995607" cy="32407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692A1D-2C79-823F-60D5-925632FF9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112" y="1927159"/>
            <a:ext cx="3995608" cy="32407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3D8A11-6E94-4C11-DAD8-E94FBF98F33B}"/>
              </a:ext>
            </a:extLst>
          </p:cNvPr>
          <p:cNvSpPr txBox="1"/>
          <p:nvPr/>
        </p:nvSpPr>
        <p:spPr>
          <a:xfrm>
            <a:off x="213427" y="5167872"/>
            <a:ext cx="39117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L1/budget uncertainty set</a:t>
            </a:r>
          </a:p>
          <a:p>
            <a:pPr algn="ctr"/>
            <a:r>
              <a:rPr lang="en-US" i="1" dirty="0"/>
              <a:t>“Simultaneous extremes are unlikely”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352CCA-DBDF-FD69-29F9-FDD89DB44A46}"/>
              </a:ext>
            </a:extLst>
          </p:cNvPr>
          <p:cNvSpPr txBox="1"/>
          <p:nvPr/>
        </p:nvSpPr>
        <p:spPr>
          <a:xfrm>
            <a:off x="4534438" y="5167872"/>
            <a:ext cx="3260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L2/ellipsoid uncertainty set</a:t>
            </a:r>
          </a:p>
          <a:p>
            <a:pPr algn="ctr"/>
            <a:r>
              <a:rPr lang="en-US" i="1" dirty="0"/>
              <a:t>“Wind and load are correlated”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8B6785-7D3E-05FD-480F-B5F1B6208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839" y="1927158"/>
            <a:ext cx="3995610" cy="32407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DBDFD6-33FB-85FA-0E90-F8F9FCDEEE67}"/>
              </a:ext>
            </a:extLst>
          </p:cNvPr>
          <p:cNvSpPr txBox="1"/>
          <p:nvPr/>
        </p:nvSpPr>
        <p:spPr>
          <a:xfrm>
            <a:off x="8059915" y="5167872"/>
            <a:ext cx="3968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Generative (KDE) uncertainty set</a:t>
            </a:r>
          </a:p>
          <a:p>
            <a:pPr algn="ctr"/>
            <a:r>
              <a:rPr lang="en-US" i="1" dirty="0"/>
              <a:t>“The data determines the uncertainty”</a:t>
            </a:r>
            <a:endParaRPr lang="en-US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E7CE02-0BA5-78A2-3C6D-E2D9681EA91F}"/>
              </a:ext>
            </a:extLst>
          </p:cNvPr>
          <p:cNvSpPr txBox="1"/>
          <p:nvPr/>
        </p:nvSpPr>
        <p:spPr>
          <a:xfrm>
            <a:off x="1248198" y="6131631"/>
            <a:ext cx="9695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Generative models extrapolate from data. How to integrate into planning pipeline?</a:t>
            </a:r>
          </a:p>
        </p:txBody>
      </p:sp>
    </p:spTree>
    <p:extLst>
      <p:ext uri="{BB962C8B-B14F-4D97-AF65-F5344CB8AC3E}">
        <p14:creationId xmlns:p14="http://schemas.microsoft.com/office/powerpoint/2010/main" val="2021440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B9F3B-A191-0EAD-BB57-666D0891A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/>
              <a:t>AGRO: Adversarial Generation for (Adaptive) RO</a:t>
            </a:r>
            <a:br>
              <a:rPr lang="en-US" sz="2800" dirty="0"/>
            </a:br>
            <a:r>
              <a:rPr lang="en-US" sz="2000" dirty="0"/>
              <a:t>A Deep Generative Learning Approach for Two-Stage Adaptive Robust Optimization (ICLR 2025)</a:t>
            </a:r>
            <a:br>
              <a:rPr lang="en-US" sz="2000" dirty="0"/>
            </a:br>
            <a:r>
              <a:rPr lang="en-US" sz="1800" dirty="0"/>
              <a:t>Aron Brenner, Rahman Khorramfar, Jennifer Sun, Saurabh Amin</a:t>
            </a:r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5B8F5-D529-5C90-E044-9BA12D788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544" y="2416552"/>
            <a:ext cx="10352907" cy="40031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2C90CD-20FD-8ED2-21E4-F65460ABD012}"/>
              </a:ext>
            </a:extLst>
          </p:cNvPr>
          <p:cNvSpPr txBox="1"/>
          <p:nvPr/>
        </p:nvSpPr>
        <p:spPr>
          <a:xfrm>
            <a:off x="1403784" y="6308209"/>
            <a:ext cx="93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AGRO planning solutions cut out-of-sample costs by 8% over budget-box uncertainty set.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8FAAEF-B322-1D3D-9402-F55C8EB748A4}"/>
              </a:ext>
            </a:extLst>
          </p:cNvPr>
          <p:cNvSpPr txBox="1"/>
          <p:nvPr/>
        </p:nvSpPr>
        <p:spPr>
          <a:xfrm>
            <a:off x="1403784" y="1974021"/>
            <a:ext cx="9385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Optimize portfolio → Generate realistic worst-case to stress incumbent portfolio → Repeat</a:t>
            </a:r>
          </a:p>
        </p:txBody>
      </p:sp>
    </p:spTree>
    <p:extLst>
      <p:ext uri="{BB962C8B-B14F-4D97-AF65-F5344CB8AC3E}">
        <p14:creationId xmlns:p14="http://schemas.microsoft.com/office/powerpoint/2010/main" val="335231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EDFE4-0CE2-2CBA-8B6B-746C76821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CB7B-A30E-E761-32E1-6B202E5B2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/>
              <a:t>AGRO: Adversarial Generation for (Adaptive) RO</a:t>
            </a:r>
            <a:br>
              <a:rPr lang="en-US" sz="2800" dirty="0"/>
            </a:br>
            <a:r>
              <a:rPr lang="en-US" sz="2000" dirty="0"/>
              <a:t>A Deep Generative Learning Approach for Two-Stage Adaptive Robust Optimization (ICLR 2025)</a:t>
            </a:r>
            <a:br>
              <a:rPr lang="en-US" sz="2000" dirty="0"/>
            </a:br>
            <a:r>
              <a:rPr lang="en-US" sz="1800" dirty="0"/>
              <a:t>Aron Brenner, Rahman Khorramfar, Jennifer Sun, Saurabh Amin</a:t>
            </a:r>
            <a:endParaRPr lang="en-US" sz="2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5497B4-C6E3-E7E1-B554-2B1A77EFA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579" y="1873956"/>
            <a:ext cx="8128841" cy="41444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2E369D-C706-8FE1-19C6-AB0A06094A28}"/>
              </a:ext>
            </a:extLst>
          </p:cNvPr>
          <p:cNvSpPr txBox="1"/>
          <p:nvPr/>
        </p:nvSpPr>
        <p:spPr>
          <a:xfrm>
            <a:off x="2776099" y="6201701"/>
            <a:ext cx="66398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AGRO discovers and hedges against </a:t>
            </a:r>
            <a:r>
              <a:rPr lang="en-US" sz="2000" b="1" i="1" dirty="0"/>
              <a:t>plausible </a:t>
            </a:r>
            <a:r>
              <a:rPr lang="en-US" sz="2000" b="1" dirty="0"/>
              <a:t>extremes</a:t>
            </a:r>
          </a:p>
        </p:txBody>
      </p:sp>
    </p:spTree>
    <p:extLst>
      <p:ext uri="{BB962C8B-B14F-4D97-AF65-F5344CB8AC3E}">
        <p14:creationId xmlns:p14="http://schemas.microsoft.com/office/powerpoint/2010/main" val="757315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7113-1CCD-D5B0-EBEF-A09DCDFC3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Ongoing work after AGRO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EB926C-89A7-C200-C9FD-AB76DAE3A6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99557"/>
                <a:ext cx="5932251" cy="323275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1" dirty="0"/>
                  <a:t>ARO → DRO/SP. </a:t>
                </a:r>
                <a:r>
                  <a:rPr lang="en-US" sz="2000" dirty="0"/>
                  <a:t>Extending to scenario-based stochastic programming.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1" dirty="0"/>
                  <a:t>Formal guarantees. </a:t>
                </a:r>
                <a:r>
                  <a:rPr lang="en-US" sz="2000" dirty="0"/>
                  <a:t>Adaptive scenario generation with consistency (valid importance weights).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000" b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1" dirty="0"/>
                  <a:t>Scaling up. </a:t>
                </a:r>
                <a:r>
                  <a:rPr lang="en-US" sz="2000" dirty="0"/>
                  <a:t>Planning for 214-county ERCOT model (15k-dimensional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en-US" sz="2000"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EB926C-89A7-C200-C9FD-AB76DAE3A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99557"/>
                <a:ext cx="5932251" cy="3232758"/>
              </a:xfrm>
              <a:blipFill>
                <a:blip r:embed="rId2"/>
                <a:stretch>
                  <a:fillRect l="-1282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1660EF1-E691-F89C-7E77-D891F2E0A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407" y="1690688"/>
            <a:ext cx="4461393" cy="405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8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A9240-255C-9D55-0178-CC5C997B0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B3EBC-676F-F4D4-A8C3-5F4C15704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416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Planning is a tail problem. </a:t>
            </a:r>
            <a:r>
              <a:rPr lang="en-US" sz="2000" dirty="0"/>
              <a:t>A few hours can carry annual costs.</a:t>
            </a:r>
          </a:p>
          <a:p>
            <a:pPr marL="0" indent="0">
              <a:buNone/>
            </a:pPr>
            <a:r>
              <a:rPr lang="en-US" sz="2000" b="1" dirty="0"/>
              <a:t>Uncertainty is hedged with hard-coded assumptions. </a:t>
            </a:r>
            <a:r>
              <a:rPr lang="en-US" sz="2000" dirty="0"/>
              <a:t>Boxes, budgets, ellipsoids, reserve margins.</a:t>
            </a:r>
          </a:p>
          <a:p>
            <a:pPr marL="0" indent="0">
              <a:buNone/>
            </a:pPr>
            <a:r>
              <a:rPr lang="en-US" sz="2000" b="1" dirty="0"/>
              <a:t>Generative models for realistic stress-testing with minimal assumptions. </a:t>
            </a:r>
            <a:r>
              <a:rPr lang="en-US" sz="2000" dirty="0"/>
              <a:t>AGRO yields 8% lower out-of-sample cost than budget-box.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Always new developments from ML community</a:t>
            </a:r>
          </a:p>
          <a:p>
            <a:pPr marL="457200" lvl="1" indent="0">
              <a:buNone/>
            </a:pPr>
            <a:r>
              <a:rPr lang="en-US" sz="1800" dirty="0"/>
              <a:t>Diffusion tilting → steer generation towards decision-critical scenarios</a:t>
            </a:r>
          </a:p>
          <a:p>
            <a:pPr marL="457200" lvl="1" indent="0">
              <a:buNone/>
            </a:pPr>
            <a:r>
              <a:rPr lang="en-US" sz="1800" dirty="0"/>
              <a:t>Extreme-event modeling → extrapolate deep into tails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 algn="ctr">
              <a:buNone/>
            </a:pPr>
            <a:r>
              <a:rPr lang="en-US" b="1" dirty="0"/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38D0F9-5AF0-E825-90E7-B481CF579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443" y="2351987"/>
            <a:ext cx="2154025" cy="2154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F44680-E8A9-422D-1BB8-10F7F6A18BAF}"/>
              </a:ext>
            </a:extLst>
          </p:cNvPr>
          <p:cNvSpPr txBox="1"/>
          <p:nvPr/>
        </p:nvSpPr>
        <p:spPr>
          <a:xfrm>
            <a:off x="8927109" y="4529514"/>
            <a:ext cx="2426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Read the AGRO paper</a:t>
            </a:r>
          </a:p>
        </p:txBody>
      </p:sp>
    </p:spTree>
    <p:extLst>
      <p:ext uri="{BB962C8B-B14F-4D97-AF65-F5344CB8AC3E}">
        <p14:creationId xmlns:p14="http://schemas.microsoft.com/office/powerpoint/2010/main" val="316047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565</Words>
  <Application>Microsoft Office PowerPoint</Application>
  <PresentationFormat>Widescreen</PresentationFormat>
  <Paragraphs>71</Paragraphs>
  <Slides>16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Adaptive Scenario Generation for Planning under Uncertainty</vt:lpstr>
      <vt:lpstr>What are generative models*?</vt:lpstr>
      <vt:lpstr>Disclaimer: NOT talking about LLMs</vt:lpstr>
      <vt:lpstr>Deep generative models learn maps (neural networks) from tractable base distributions to complex data distributions</vt:lpstr>
      <vt:lpstr>Deep generative models learn maps (neural networks) from tractable base distributions to complex data distributions</vt:lpstr>
      <vt:lpstr>Generative models can perform realistic extrapolations</vt:lpstr>
      <vt:lpstr>Generative models can perform realistic extrapolations</vt:lpstr>
      <vt:lpstr>Generative models can perform realistic extrapolations in power systems-relevant settings</vt:lpstr>
      <vt:lpstr>Now you understand deep generative modeling</vt:lpstr>
      <vt:lpstr>Extreme events dominate system planning</vt:lpstr>
      <vt:lpstr>Stochastic and robust formulations exploit historical record to hedge with plausibility</vt:lpstr>
      <vt:lpstr>Towards minimal-assumption, physically consistent uncertainty sets with generative modeling</vt:lpstr>
      <vt:lpstr>AGRO: Adversarial Generation for (Adaptive) RO A Deep Generative Learning Approach for Two-Stage Adaptive Robust Optimization (ICLR 2025) Aron Brenner, Rahman Khorramfar, Jennifer Sun, Saurabh Amin</vt:lpstr>
      <vt:lpstr>AGRO: Adversarial Generation for (Adaptive) RO A Deep Generative Learning Approach for Two-Stage Adaptive Robust Optimization (ICLR 2025) Aron Brenner, Rahman Khorramfar, Jennifer Sun, Saurabh Amin</vt:lpstr>
      <vt:lpstr>Ongoing work after AGRO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Aron Brenner</dc:creator>
  <cp:lastModifiedBy>Aron Brenner</cp:lastModifiedBy>
  <cp:revision>315</cp:revision>
  <dcterms:created xsi:type="dcterms:W3CDTF">2026-09-11T00:07:37Z</dcterms:created>
  <dcterms:modified xsi:type="dcterms:W3CDTF">2026-09-11T13:26:38Z</dcterms:modified>
</cp:coreProperties>
</file>